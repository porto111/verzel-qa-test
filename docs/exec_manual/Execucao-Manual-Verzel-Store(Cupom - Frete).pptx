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5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24F1E0-0326-4F28-B0DB-2A3EBEFDE3D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4500EC-0C3D-41DA-8F13-CCFE40D4E1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C02AF5-A20E-42E4-AA6E-86E7FCB0EC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D89E51-679C-4432-A886-607C77A9F7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E81230-3593-4683-AAD2-AC2C9B7D64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DA1C1A-C25E-4DCB-8EE1-23901C8FCC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E5BC55-0D8A-4169-9898-EDAD533756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50ACFA-266F-4829-8029-C67EB8E746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0ECA3D-A2F6-435B-AE63-07218D9E6A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6A60AD-C60F-4DBC-9235-BCE36A81C0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A0DA59-22F8-4D6A-BF89-8F6E9871D8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B049D2-67BC-4214-8BA6-0F67EB7AED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891302-DB41-4A44-9671-8442AF05AA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7ECA07-D63A-42C8-B416-CF23DA3617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A8B015-B7E3-4796-8A83-80F4F20F4E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F708B3-F15A-4A88-83FF-21AC51D464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7E6CA-A88F-4532-AE96-AAC529E90C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EBD15-96A9-4960-BEA8-3FF27F05FC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E4C49B-C5A3-41F2-812F-A40ABFBD12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C677BC-DE5D-4E0D-A5DD-478318F67C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60887D-8F3C-45C9-B723-2E02EA4DD2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153927-5366-47D0-9970-3F0982E51F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E96B5C-B8B6-4B63-9C10-3780500A53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97E39A-6ED6-492A-9673-E7BE7BD718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65C036-2C56-4801-8B93-C6887B5CC5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6B5874-165F-4531-A317-86E6876DA2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17FA2F-157A-4171-85BA-1F3A61FA82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16517D-F17E-499C-815D-1E8B35986B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ED31D9-2A0A-4D92-B74B-5CCDFEFA15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5C7318-1307-47D6-80D3-EAAA88C575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97E52C-7CD8-42DA-B087-1E92D52CA2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DB34C4-8EC7-4B41-A62F-36EF5CDB6B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B6E588-60A0-40B9-AA2F-C95386F68E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18FBB5-D884-4093-83A3-7B644E753F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96DC9D-90C4-4BAB-9DEE-7F1CD1B047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675498-F164-4E70-9663-BA357FD884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0F54E6-04C2-4604-B841-8ABA133F50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0C9066-3FE0-4706-AB0A-3A95820370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61C2AC-1CDA-4348-A902-4F35ED6FE8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3DD243-E3B8-4E6D-A553-7461C9A8E8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256C0B-F192-4851-A734-4449C91D83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9C4EB5-EAEE-4B03-855A-5A4210617A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7B1CA2-C462-4C87-B69F-011E4435DF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012ECF-064A-4251-8868-5ADABD6FB9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69B390-551D-4F63-95F1-3D2DD54E3B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E38D75-0BE2-4E3A-8D13-2CFB522EE6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581EAA-F1A7-40D4-855A-033A728073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31F27C-07C6-4A66-8321-6E41406B2E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DED6C4-19D3-4D04-9523-C9667F8EA7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6FBB55-FEA7-4E4C-8C02-957FAF9B03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B51761-18ED-4D30-B5BD-FC5D961BBB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39304D-18A3-46FD-9A13-15281FA40D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14CC50-4BF8-4771-B153-BA768A41DD7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B9F9A4-270D-445D-A887-4BBFB52F50B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ARI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8EFE8-33EC-4FF8-8EA5-C831ABB0399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Clique para editar o formato de </a:t>
            </a: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texto dos tópicos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457200" y="6446520"/>
            <a:ext cx="8227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  <a:ea typeface="DejaVu Sans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ECB93B-2E2C-424A-BF1A-DFB1824D159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457200" y="6446520"/>
            <a:ext cx="8227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  <a:ea typeface="DejaVu Sans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sldNum" idx="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D0508B-A86F-4E35-BC11-BFA2836DB60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6446520"/>
            <a:ext cx="8227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  <a:ea typeface="DejaVu Sans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2D4149-61A8-4BC4-B031-12E5655FC2C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6764760" cy="191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Execução manual: cenários exploratórios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0080" y="3611880"/>
            <a:ext cx="63990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Verzel Store · VZS-142 v2.3.0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Gherkin · 1 cartão por evidência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Chip ROTEIRO + EVIDÊNCIAS"/>
          <p:cNvSpPr/>
          <p:nvPr/>
        </p:nvSpPr>
        <p:spPr>
          <a:xfrm>
            <a:off x="640080" y="731520"/>
            <a:ext cx="2832840" cy="455400"/>
          </a:xfrm>
          <a:prstGeom prst="roundRect">
            <a:avLst>
              <a:gd name="adj" fmla="val 20000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3"/>
                </a:solidFill>
                <a:latin typeface="Calibri"/>
                <a:ea typeface="DejaVu Sans"/>
              </a:rPr>
              <a:t>ROTEIRO + EVIDÊNCIAS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532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Como usar este roteiro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asso 1"/>
          <p:cNvSpPr/>
          <p:nvPr/>
        </p:nvSpPr>
        <p:spPr>
          <a:xfrm>
            <a:off x="457200" y="1600200"/>
            <a:ext cx="2649960" cy="232992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Chip 1"/>
          <p:cNvSpPr/>
          <p:nvPr/>
        </p:nvSpPr>
        <p:spPr>
          <a:xfrm>
            <a:off x="640080" y="1783080"/>
            <a:ext cx="546840" cy="54684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  <a:ea typeface="DejaVu Sans"/>
              </a:rPr>
              <a:t>1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640080" y="2450520"/>
            <a:ext cx="228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  <a:ea typeface="DejaVu Sans"/>
              </a:rPr>
              <a:t>Prepare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640080" y="2853000"/>
            <a:ext cx="2284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UI: loja em aba nova, zoom 100%. API: Bruno com a pasta bruno/ e o environment "Verzel Store".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asso 2"/>
          <p:cNvSpPr/>
          <p:nvPr/>
        </p:nvSpPr>
        <p:spPr>
          <a:xfrm>
            <a:off x="3291840" y="1600200"/>
            <a:ext cx="2649960" cy="232992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Chip 2"/>
          <p:cNvSpPr/>
          <p:nvPr/>
        </p:nvSpPr>
        <p:spPr>
          <a:xfrm>
            <a:off x="3474720" y="1783080"/>
            <a:ext cx="546840" cy="54684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  <a:ea typeface="DejaVu Sans"/>
              </a:rPr>
              <a:t>2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474720" y="2450520"/>
            <a:ext cx="228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  <a:ea typeface="DejaVu Sans"/>
              </a:rPr>
              <a:t>Execute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3474720" y="2853000"/>
            <a:ext cx="2284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Siga o Gherkin do cartão. Cada cartão é uma evidência (um exemplo do esquema).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asso 3"/>
          <p:cNvSpPr/>
          <p:nvPr/>
        </p:nvSpPr>
        <p:spPr>
          <a:xfrm>
            <a:off x="6126480" y="1600200"/>
            <a:ext cx="2649960" cy="232992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Chip 3"/>
          <p:cNvSpPr/>
          <p:nvPr/>
        </p:nvSpPr>
        <p:spPr>
          <a:xfrm>
            <a:off x="6309360" y="1783080"/>
            <a:ext cx="546840" cy="54684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  <a:ea typeface="DejaVu Sans"/>
              </a:rPr>
              <a:t>3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309360" y="2450520"/>
            <a:ext cx="228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  <a:ea typeface="DejaVu Sans"/>
              </a:rPr>
              <a:t>Evidencie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6309360" y="2853000"/>
            <a:ext cx="2284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Print com URL/valores legíveis. Cole no quadro tracejado e salve com o nome do cartão.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asso 4"/>
          <p:cNvSpPr/>
          <p:nvPr/>
        </p:nvSpPr>
        <p:spPr>
          <a:xfrm>
            <a:off x="8961120" y="1600200"/>
            <a:ext cx="2649960" cy="2329920"/>
          </a:xfrm>
          <a:prstGeom prst="roundRect">
            <a:avLst>
              <a:gd name="adj" fmla="val 3137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Chip 4"/>
          <p:cNvSpPr/>
          <p:nvPr/>
        </p:nvSpPr>
        <p:spPr>
          <a:xfrm>
            <a:off x="9144000" y="1783080"/>
            <a:ext cx="546840" cy="54684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  <a:ea typeface="DejaVu Sans"/>
              </a:rPr>
              <a:t>4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9144000" y="2450520"/>
            <a:ext cx="228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  <a:ea typeface="DejaVu Sans"/>
              </a:rPr>
              <a:t>Registre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9144000" y="2853000"/>
            <a:ext cx="2284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Marque o resultado, anote na planilha (aba Exploratórias) e abra bug em docs/BUGS.md se divergir.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Legenda UI"/>
          <p:cNvSpPr/>
          <p:nvPr/>
        </p:nvSpPr>
        <p:spPr>
          <a:xfrm>
            <a:off x="457200" y="4114800"/>
            <a:ext cx="5530320" cy="638280"/>
          </a:xfrm>
          <a:prstGeom prst="roundRect">
            <a:avLst>
              <a:gd name="adj" fmla="val 1142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Chip UI"/>
          <p:cNvSpPr/>
          <p:nvPr/>
        </p:nvSpPr>
        <p:spPr>
          <a:xfrm>
            <a:off x="594360" y="4206240"/>
            <a:ext cx="821160" cy="4554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1600200" y="4160520"/>
            <a:ext cx="4204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  <a:ea typeface="DejaVu Sans"/>
              </a:rPr>
              <a:t>Navegador (loja)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Legenda API"/>
          <p:cNvSpPr/>
          <p:nvPr/>
        </p:nvSpPr>
        <p:spPr>
          <a:xfrm>
            <a:off x="6172200" y="4114800"/>
            <a:ext cx="5530320" cy="638280"/>
          </a:xfrm>
          <a:prstGeom prst="roundRect">
            <a:avLst>
              <a:gd name="adj" fmla="val 1142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Chip API"/>
          <p:cNvSpPr/>
          <p:nvPr/>
        </p:nvSpPr>
        <p:spPr>
          <a:xfrm>
            <a:off x="6309360" y="4206240"/>
            <a:ext cx="821160" cy="4554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API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7315200" y="4160520"/>
            <a:ext cx="4204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  <a:ea typeface="DejaVu Sans"/>
              </a:rPr>
              <a:t>Bruno (collection bruno/)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Aviso: não é bug"/>
          <p:cNvSpPr/>
          <p:nvPr/>
        </p:nvSpPr>
        <p:spPr>
          <a:xfrm>
            <a:off x="457200" y="4937760"/>
            <a:ext cx="11245320" cy="1324080"/>
          </a:xfrm>
          <a:prstGeom prst="roundRect">
            <a:avLst>
              <a:gd name="adj" fmla="val 6897"/>
            </a:avLst>
          </a:prstGeom>
          <a:solidFill>
            <a:schemeClr val="dk2"/>
          </a:solidFill>
          <a:ln w="12600">
            <a:solidFill>
              <a:srgbClr val="02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731520" y="502920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86" strike="noStrike">
                <a:solidFill>
                  <a:schemeClr val="accent3"/>
                </a:solidFill>
                <a:latin typeface="Calibri"/>
                <a:ea typeface="DejaVu Sans"/>
              </a:rPr>
              <a:t>NÃO REPORTE COMO BUG (seção "Sobre este ambiente")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5"/>
          <p:cNvSpPr/>
          <p:nvPr/>
        </p:nvSpPr>
        <p:spPr>
          <a:xfrm>
            <a:off x="731520" y="5349240"/>
            <a:ext cx="1069668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Carrinho só na aba do navegador; pedidos não persistem e nenhum e-mail ou cobrança é feito.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Produtos, preços e cupons são fixos, sem estoque; a API não guarda estado.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7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17437C-3E77-4583-A896-C805525E876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532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Dados de teste e regras-chave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Tabela de produtos"/>
          <p:cNvGraphicFramePr/>
          <p:nvPr/>
        </p:nvGraphicFramePr>
        <p:xfrm>
          <a:off x="457200" y="1554480"/>
          <a:ext cx="5760360" cy="411480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  <a:gridCol w="1554480"/>
              </a:tblGrid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Id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Produto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Preço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P001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Camiseta Essencial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P002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Calça Jeans Slim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R$ 139,90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P003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Tênis Casual Urbano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R$ 189,90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P004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Boné Aba Curva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R$ 49,90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P005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Mochila Urbana 20L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R$ 100,00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P006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Kit 3 Pares de Meias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P007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Jaqueta Corta-Vento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P008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Garrafa Térmica 750ml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7" name="Regra Cupons"/>
          <p:cNvSpPr/>
          <p:nvPr/>
        </p:nvSpPr>
        <p:spPr>
          <a:xfrm>
            <a:off x="6675120" y="1554480"/>
            <a:ext cx="5027400" cy="95832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Text 2"/>
          <p:cNvSpPr/>
          <p:nvPr/>
        </p:nvSpPr>
        <p:spPr>
          <a:xfrm>
            <a:off x="6858000" y="1600200"/>
            <a:ext cx="109548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  <a:ea typeface="DejaVu Sans"/>
              </a:rPr>
              <a:t>Cupons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955280" y="1600200"/>
            <a:ext cx="365580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BEMVINDO10 = 10% sobre o subtotal (válido)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VERAO2026 = 15% (expirado em 31/03/2026)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gra Frete"/>
          <p:cNvSpPr/>
          <p:nvPr/>
        </p:nvSpPr>
        <p:spPr>
          <a:xfrm>
            <a:off x="6675120" y="2633400"/>
            <a:ext cx="5027400" cy="95832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858000" y="2679120"/>
            <a:ext cx="109548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  <a:ea typeface="DejaVu Sans"/>
              </a:rPr>
              <a:t>Frete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7955280" y="2679120"/>
            <a:ext cx="365580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Grátis a partir de R$ 200,00 (inclusive)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Abaixo disso: R$ 19,90 fixo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gra Cálculo"/>
          <p:cNvSpPr/>
          <p:nvPr/>
        </p:nvSpPr>
        <p:spPr>
          <a:xfrm>
            <a:off x="6675120" y="3712320"/>
            <a:ext cx="5027400" cy="95832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Text 8"/>
          <p:cNvSpPr/>
          <p:nvPr/>
        </p:nvSpPr>
        <p:spPr>
          <a:xfrm>
            <a:off x="6858000" y="3758040"/>
            <a:ext cx="109548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  <a:ea typeface="DejaVu Sans"/>
              </a:rPr>
              <a:t>Cálculo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7955280" y="3758040"/>
            <a:ext cx="365580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Total = subtotal − desconto +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O desconto não incide sobre o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gra Limite"/>
          <p:cNvSpPr/>
          <p:nvPr/>
        </p:nvSpPr>
        <p:spPr>
          <a:xfrm>
            <a:off x="6675120" y="4791600"/>
            <a:ext cx="5027400" cy="95832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6858000" y="4837320"/>
            <a:ext cx="109548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  <a:ea typeface="DejaVu Sans"/>
              </a:rPr>
              <a:t>Limite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7955280" y="4837320"/>
            <a:ext cx="365580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  <a:ea typeface="DejaVu Sans"/>
              </a:rPr>
              <a:t>No máximo 5 unidades por produto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8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829AE6-88B6-4516-96C8-234E291FDE89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532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Mapa dos exploratórios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Cabeçalho UI"/>
          <p:cNvSpPr/>
          <p:nvPr/>
        </p:nvSpPr>
        <p:spPr>
          <a:xfrm>
            <a:off x="3154680" y="1620000"/>
            <a:ext cx="5484600" cy="5011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UI · NAVEGADOR  ·  33 evidências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Linha U1"/>
          <p:cNvSpPr/>
          <p:nvPr/>
        </p:nvSpPr>
        <p:spPr>
          <a:xfrm>
            <a:off x="3154680" y="221436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Text 3"/>
          <p:cNvSpPr/>
          <p:nvPr/>
        </p:nvSpPr>
        <p:spPr>
          <a:xfrm>
            <a:off x="3291840" y="221436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3886200" y="221436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Variações do código do cupom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7863840" y="221436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Linha U2"/>
          <p:cNvSpPr/>
          <p:nvPr/>
        </p:nvSpPr>
        <p:spPr>
          <a:xfrm>
            <a:off x="3154680" y="279972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Text 7"/>
          <p:cNvSpPr/>
          <p:nvPr/>
        </p:nvSpPr>
        <p:spPr>
          <a:xfrm>
            <a:off x="3291840" y="279972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3886200" y="279972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Interações com o limite de 5 unidades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7863840" y="279972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Linha U3"/>
          <p:cNvSpPr/>
          <p:nvPr/>
        </p:nvSpPr>
        <p:spPr>
          <a:xfrm>
            <a:off x="3154680" y="338472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3291840" y="338472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3886200" y="338472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Estado do carrinho ao navegar e recarregar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7863840" y="338472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Linha U4"/>
          <p:cNvSpPr/>
          <p:nvPr/>
        </p:nvSpPr>
        <p:spPr>
          <a:xfrm>
            <a:off x="3154680" y="397008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3291840" y="397008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3886200" y="397008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Fronteira do frete grátis (R$ 200,00)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7863840" y="397008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Linha U5"/>
          <p:cNvSpPr/>
          <p:nvPr/>
        </p:nvSpPr>
        <p:spPr>
          <a:xfrm>
            <a:off x="3154680" y="455508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3291840" y="455508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3886200" y="455508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Dados do cliente no checkout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7863840" y="455508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Linha U6"/>
          <p:cNvSpPr/>
          <p:nvPr/>
        </p:nvSpPr>
        <p:spPr>
          <a:xfrm>
            <a:off x="3154680" y="514044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3291840" y="514044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3886200" y="514044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Responsividade e zoom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7863840" y="514044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Linha U7"/>
          <p:cNvSpPr/>
          <p:nvPr/>
        </p:nvSpPr>
        <p:spPr>
          <a:xfrm>
            <a:off x="3154680" y="5725800"/>
            <a:ext cx="5484600" cy="51012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3291840" y="5725800"/>
            <a:ext cx="546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U7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3886200" y="5725800"/>
            <a:ext cx="393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Interação com o campo do cupom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7863840" y="5725800"/>
            <a:ext cx="638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  <a:ea typeface="DejaVu Sans"/>
              </a:rPr>
              <a:t>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9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7FC75B-02EA-430C-ABC3-129EF2E5186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amada UI 1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Chip EX-U1- 1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Cartão Gherkin 1"/>
          <p:cNvSpPr/>
          <p:nvPr/>
        </p:nvSpPr>
        <p:spPr>
          <a:xfrm>
            <a:off x="2428200" y="144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24282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2428200" y="194724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herkin 1"/>
          <p:cNvSpPr/>
          <p:nvPr/>
        </p:nvSpPr>
        <p:spPr>
          <a:xfrm>
            <a:off x="2428200" y="22582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Exemplo desta evidência 1"/>
          <p:cNvSpPr/>
          <p:nvPr/>
        </p:nvSpPr>
        <p:spPr>
          <a:xfrm>
            <a:off x="2613960" y="42944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2700000" y="429444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1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arâmetros do exemplo 1"/>
          <p:cNvSpPr/>
          <p:nvPr/>
        </p:nvSpPr>
        <p:spPr>
          <a:xfrm>
            <a:off x="2700000" y="46800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BEM VINDO10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sem desconto ("Cupom inválido.")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10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77EBD2-D44A-478B-87F4-70981C5E85D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79160" y="644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hip EX-U1-01"/>
          <p:cNvSpPr/>
          <p:nvPr/>
        </p:nvSpPr>
        <p:spPr>
          <a:xfrm>
            <a:off x="457200" y="3517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207880" y="21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6858000" y="4498920"/>
            <a:ext cx="46616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ONDE EXECUTAR (NAVEGADOR)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1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14BD67-F6A1-47DA-AECB-44A2E9D42C1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1128240" y="1040400"/>
            <a:ext cx="9670320" cy="518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35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amada UI 2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Chip EX-U1- 2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artão Gherkin 2"/>
          <p:cNvSpPr/>
          <p:nvPr/>
        </p:nvSpPr>
        <p:spPr>
          <a:xfrm>
            <a:off x="2428200" y="144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Text 43"/>
          <p:cNvSpPr/>
          <p:nvPr/>
        </p:nvSpPr>
        <p:spPr>
          <a:xfrm>
            <a:off x="24282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7"/>
          <p:cNvSpPr/>
          <p:nvPr/>
        </p:nvSpPr>
        <p:spPr>
          <a:xfrm>
            <a:off x="2428200" y="194724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herkin 2"/>
          <p:cNvSpPr/>
          <p:nvPr/>
        </p:nvSpPr>
        <p:spPr>
          <a:xfrm>
            <a:off x="2428200" y="22582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Exemplo desta evidência 2"/>
          <p:cNvSpPr/>
          <p:nvPr/>
        </p:nvSpPr>
        <p:spPr>
          <a:xfrm>
            <a:off x="2613960" y="42944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Text 48"/>
          <p:cNvSpPr/>
          <p:nvPr/>
        </p:nvSpPr>
        <p:spPr>
          <a:xfrm>
            <a:off x="2700000" y="429444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2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arâmetros do exemplo 2"/>
          <p:cNvSpPr/>
          <p:nvPr/>
        </p:nvSpPr>
        <p:spPr>
          <a:xfrm>
            <a:off x="2700000" y="46800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(vazio)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registrar o comportamento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1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0C659B-E04A-4F59-AA97-F7E57D5C483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644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2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hip EX-U1-02"/>
          <p:cNvSpPr/>
          <p:nvPr/>
        </p:nvSpPr>
        <p:spPr>
          <a:xfrm>
            <a:off x="380160" y="3200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160000" y="2602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1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39BB1E-2105-4E66-AD1B-C578BD698F2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234440" y="1080000"/>
            <a:ext cx="9744120" cy="524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49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amada UI 3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Chip EX-U1- 3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artão Gherkin 3"/>
          <p:cNvSpPr/>
          <p:nvPr/>
        </p:nvSpPr>
        <p:spPr>
          <a:xfrm>
            <a:off x="2428200" y="144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Text 51"/>
          <p:cNvSpPr/>
          <p:nvPr/>
        </p:nvSpPr>
        <p:spPr>
          <a:xfrm>
            <a:off x="24282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2"/>
          <p:cNvSpPr/>
          <p:nvPr/>
        </p:nvSpPr>
        <p:spPr>
          <a:xfrm>
            <a:off x="2428200" y="194724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herkin 3"/>
          <p:cNvSpPr/>
          <p:nvPr/>
        </p:nvSpPr>
        <p:spPr>
          <a:xfrm>
            <a:off x="2428200" y="22582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Exemplo desta evidência 3"/>
          <p:cNvSpPr/>
          <p:nvPr/>
        </p:nvSpPr>
        <p:spPr>
          <a:xfrm>
            <a:off x="2613960" y="42944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" name="Text 53"/>
          <p:cNvSpPr/>
          <p:nvPr/>
        </p:nvSpPr>
        <p:spPr>
          <a:xfrm>
            <a:off x="2700000" y="429444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3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arâmetros do exemplo 3"/>
          <p:cNvSpPr/>
          <p:nvPr/>
        </p:nvSpPr>
        <p:spPr>
          <a:xfrm>
            <a:off x="2700000" y="46800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(3 espaços)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registrar o comportamento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14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1B4237-8B18-498B-8A9C-A69FA53B4FA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70520" y="18000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3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Chip EX-U1-03"/>
          <p:cNvSpPr/>
          <p:nvPr/>
        </p:nvSpPr>
        <p:spPr>
          <a:xfrm>
            <a:off x="470520" y="57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207880" y="50004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15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FD08CE-CCBB-43CB-9669-4284765DBAF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1980000" y="1260000"/>
            <a:ext cx="8989560" cy="48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4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Chip EX-U1-04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Cartão Gherkin"/>
          <p:cNvSpPr/>
          <p:nvPr/>
        </p:nvSpPr>
        <p:spPr>
          <a:xfrm>
            <a:off x="2608200" y="162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2836800" y="175716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2836800" y="203148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herkin"/>
          <p:cNvSpPr/>
          <p:nvPr/>
        </p:nvSpPr>
        <p:spPr>
          <a:xfrm>
            <a:off x="2836800" y="244296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    </a:t>
            </a: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Exemplo desta evidência"/>
          <p:cNvSpPr/>
          <p:nvPr/>
        </p:nvSpPr>
        <p:spPr>
          <a:xfrm>
            <a:off x="2791080" y="450036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2973960" y="459180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4 DE 6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arâmetros do exemplo"/>
          <p:cNvSpPr/>
          <p:nvPr/>
        </p:nvSpPr>
        <p:spPr>
          <a:xfrm>
            <a:off x="2973960" y="489348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BEMVINDO10!@#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sem desconto ("Cupom inválido.")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16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750AB1-7E0D-4C0D-A9C8-5B9A805FF48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54"/>
          <p:cNvSpPr/>
          <p:nvPr/>
        </p:nvSpPr>
        <p:spPr>
          <a:xfrm>
            <a:off x="47916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4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Camada UI 4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Chip EX-U1- 4"/>
          <p:cNvSpPr/>
          <p:nvPr/>
        </p:nvSpPr>
        <p:spPr>
          <a:xfrm>
            <a:off x="47916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194560" y="46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ldNum" idx="17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FC1628-F48F-40B8-8BB4-3DD1A437CD2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535760" y="1229760"/>
            <a:ext cx="9466560" cy="506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7916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5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Chip EX-U1-05"/>
          <p:cNvSpPr/>
          <p:nvPr/>
        </p:nvSpPr>
        <p:spPr>
          <a:xfrm>
            <a:off x="47916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194560" y="2556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artão Gherkin"/>
          <p:cNvSpPr/>
          <p:nvPr/>
        </p:nvSpPr>
        <p:spPr>
          <a:xfrm>
            <a:off x="2700000" y="145692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2928600" y="159408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2928600" y="186840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herkin"/>
          <p:cNvSpPr/>
          <p:nvPr/>
        </p:nvSpPr>
        <p:spPr>
          <a:xfrm>
            <a:off x="2928600" y="22798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Exemplo desta evidência"/>
          <p:cNvSpPr/>
          <p:nvPr/>
        </p:nvSpPr>
        <p:spPr>
          <a:xfrm>
            <a:off x="2882880" y="433728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3065760" y="442872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5 DE 6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arâmetros do exemplo"/>
          <p:cNvSpPr/>
          <p:nvPr/>
        </p:nvSpPr>
        <p:spPr>
          <a:xfrm>
            <a:off x="3065760" y="47304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(1000 × A)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sem desconto e sem quebrar o layout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18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4F5855-F704-4C6E-BB05-BDE59B812A2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58"/>
          <p:cNvSpPr/>
          <p:nvPr/>
        </p:nvSpPr>
        <p:spPr>
          <a:xfrm>
            <a:off x="47916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5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amada UI 5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Chip EX-U1- 5"/>
          <p:cNvSpPr/>
          <p:nvPr/>
        </p:nvSpPr>
        <p:spPr>
          <a:xfrm>
            <a:off x="47916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194560" y="2556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19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69B123-155B-46A0-8BF8-27818EE0562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/>
          <a:stretch/>
        </p:blipFill>
        <p:spPr>
          <a:xfrm>
            <a:off x="1080000" y="1080000"/>
            <a:ext cx="9898560" cy="530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6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Chip EX-U1-06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artão Gherkin"/>
          <p:cNvSpPr/>
          <p:nvPr/>
        </p:nvSpPr>
        <p:spPr>
          <a:xfrm>
            <a:off x="3148200" y="144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3376800" y="139716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3376800" y="167148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herkin"/>
          <p:cNvSpPr/>
          <p:nvPr/>
        </p:nvSpPr>
        <p:spPr>
          <a:xfrm>
            <a:off x="3376800" y="208296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digito o código "&lt;codigo&gt;" e clico em "Aplicar cupom"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resultado é "&lt;resultado&gt;"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a mensagem exibida e o resumo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Exemplo desta evidência"/>
          <p:cNvSpPr/>
          <p:nvPr/>
        </p:nvSpPr>
        <p:spPr>
          <a:xfrm>
            <a:off x="3331080" y="414036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3513960" y="423180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6 DE 6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arâmetros do exemplo"/>
          <p:cNvSpPr/>
          <p:nvPr/>
        </p:nvSpPr>
        <p:spPr>
          <a:xfrm>
            <a:off x="3513960" y="453348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&lt;codigo&gt;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BEMVÍNDO10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&lt;resultado&gt;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sem desconto ("Cupom inválido.")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20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3090FD-5FBB-4A90-884B-8EF4B3B55EE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56"/>
          <p:cNvSpPr/>
          <p:nvPr/>
        </p:nvSpPr>
        <p:spPr>
          <a:xfrm>
            <a:off x="36000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6 DE 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amada UI 6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Chip EX-U1- 6"/>
          <p:cNvSpPr/>
          <p:nvPr/>
        </p:nvSpPr>
        <p:spPr>
          <a:xfrm>
            <a:off x="36000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EX-U1-06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09736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Variações do código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ldNum" idx="2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0C9BD3-C7FB-4F63-B363-2C0C1323CDF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557720" y="1080000"/>
            <a:ext cx="9734040" cy="521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1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Chip EX-U2-01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artão Gherkin"/>
          <p:cNvSpPr/>
          <p:nvPr/>
        </p:nvSpPr>
        <p:spPr>
          <a:xfrm>
            <a:off x="2968200" y="148284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196800" y="162000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196800" y="189432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Quantidade e itens do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herkin"/>
          <p:cNvSpPr/>
          <p:nvPr/>
        </p:nvSpPr>
        <p:spPr>
          <a:xfrm>
            <a:off x="3196800" y="230580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"Boné Aba Curva"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 quantidade nunca passa de 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subtotal, frete e total ficam coerentes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Exemplo desta evidência"/>
          <p:cNvSpPr/>
          <p:nvPr/>
        </p:nvSpPr>
        <p:spPr>
          <a:xfrm>
            <a:off x="3151080" y="436320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3333960" y="445464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1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arâmetros do exemplo"/>
          <p:cNvSpPr/>
          <p:nvPr/>
        </p:nvSpPr>
        <p:spPr>
          <a:xfrm>
            <a:off x="3333960" y="475632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clico 10× rápido em "+" na linha do Boné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2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238CC1-75FB-44E9-95EF-99D294CC84F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60"/>
          <p:cNvSpPr/>
          <p:nvPr/>
        </p:nvSpPr>
        <p:spPr>
          <a:xfrm>
            <a:off x="457200" y="13860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1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amada UI 7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Chip EX-U2- 1"/>
          <p:cNvSpPr/>
          <p:nvPr/>
        </p:nvSpPr>
        <p:spPr>
          <a:xfrm>
            <a:off x="457200" y="5317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2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989033-9E15-4578-A290-D8A19CCA1C8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1531800" y="1260000"/>
            <a:ext cx="9446760" cy="502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2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Chip EX-U2-02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artão Gherkin"/>
          <p:cNvSpPr/>
          <p:nvPr/>
        </p:nvSpPr>
        <p:spPr>
          <a:xfrm>
            <a:off x="2968200" y="169164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3196800" y="182880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3196800" y="210312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Quantidade e itens do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herkin"/>
          <p:cNvSpPr/>
          <p:nvPr/>
        </p:nvSpPr>
        <p:spPr>
          <a:xfrm>
            <a:off x="3196800" y="251460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"Boné Aba Curva"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 quantidade nunca passa de 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subtotal, frete e total ficam coerentes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Exemplo desta evidência"/>
          <p:cNvSpPr/>
          <p:nvPr/>
        </p:nvSpPr>
        <p:spPr>
          <a:xfrm>
            <a:off x="3151080" y="457200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3333960" y="466344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2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arâmetros do exemplo"/>
          <p:cNvSpPr/>
          <p:nvPr/>
        </p:nvSpPr>
        <p:spPr>
          <a:xfrm>
            <a:off x="3333960" y="496512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clico 10× rápido em "Adicionar ao carrinho"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ldNum" idx="24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0DC945-10FA-4A8F-BDD2-67BA5854D6C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62"/>
          <p:cNvSpPr/>
          <p:nvPr/>
        </p:nvSpPr>
        <p:spPr>
          <a:xfrm>
            <a:off x="457200" y="13860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2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mada UI 8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Chip EX-U2- 2"/>
          <p:cNvSpPr/>
          <p:nvPr/>
        </p:nvSpPr>
        <p:spPr>
          <a:xfrm>
            <a:off x="457200" y="5317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207880" y="3600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25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3CB005-7ABD-4693-9CBA-2CC2E01E007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1128240" y="1232280"/>
            <a:ext cx="9490320" cy="50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64"/>
          <p:cNvSpPr/>
          <p:nvPr/>
        </p:nvSpPr>
        <p:spPr>
          <a:xfrm>
            <a:off x="457200" y="13860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2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amada UI 9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Chip EX-U2- 3"/>
          <p:cNvSpPr/>
          <p:nvPr/>
        </p:nvSpPr>
        <p:spPr>
          <a:xfrm>
            <a:off x="457200" y="5317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207880" y="3600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ldNum" idx="26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6CC0D9-8972-411A-B81F-651F55826D2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1488240" y="1283400"/>
            <a:ext cx="9310320" cy="501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3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Chip EX-U2-03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artão Gherkin"/>
          <p:cNvSpPr/>
          <p:nvPr/>
        </p:nvSpPr>
        <p:spPr>
          <a:xfrm>
            <a:off x="27882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30168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30168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Quantidade e itens do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herkin"/>
          <p:cNvSpPr/>
          <p:nvPr/>
        </p:nvSpPr>
        <p:spPr>
          <a:xfrm>
            <a:off x="30168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"Boné Aba Curva"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 quantidade nunca passa de 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subtotal, frete e total ficam coerentes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Exemplo desta evidência"/>
          <p:cNvSpPr/>
          <p:nvPr/>
        </p:nvSpPr>
        <p:spPr>
          <a:xfrm>
            <a:off x="29710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31539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3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arâmetros do exemplo"/>
          <p:cNvSpPr/>
          <p:nvPr/>
        </p:nvSpPr>
        <p:spPr>
          <a:xfrm>
            <a:off x="31539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recarrego a página com 5× Boné no carrinho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ldNum" idx="27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AA1CC4-C90A-4D2D-AEC8-053D8D5865A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66"/>
          <p:cNvSpPr/>
          <p:nvPr/>
        </p:nvSpPr>
        <p:spPr>
          <a:xfrm>
            <a:off x="45720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3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amada UI 10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Chip EX-U2- 4"/>
          <p:cNvSpPr/>
          <p:nvPr/>
        </p:nvSpPr>
        <p:spPr>
          <a:xfrm>
            <a:off x="45720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19456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28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AE4E48-0F9D-43A9-B935-13CE8567D23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1532160" y="1260360"/>
            <a:ext cx="9446760" cy="502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4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Chip EX-U2-04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artão Gherkin"/>
          <p:cNvSpPr/>
          <p:nvPr/>
        </p:nvSpPr>
        <p:spPr>
          <a:xfrm>
            <a:off x="31482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33768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33768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Quantidade e itens do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herkin"/>
          <p:cNvSpPr/>
          <p:nvPr/>
        </p:nvSpPr>
        <p:spPr>
          <a:xfrm>
            <a:off x="33768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4× "Boné Aba Curva"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 quantidade nunca passa de 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subtotal, frete e total ficam coerentes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Exemplo desta evidência"/>
          <p:cNvSpPr/>
          <p:nvPr/>
        </p:nvSpPr>
        <p:spPr>
          <a:xfrm>
            <a:off x="33310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35139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4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arâmetros do exemplo"/>
          <p:cNvSpPr/>
          <p:nvPr/>
        </p:nvSpPr>
        <p:spPr>
          <a:xfrm>
            <a:off x="35139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altero a quantidade após aplicar BEMVINDO10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ldNum" idx="29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AB9E24-0331-473B-BAF1-E16CAEFCBC3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70"/>
          <p:cNvSpPr/>
          <p:nvPr/>
        </p:nvSpPr>
        <p:spPr>
          <a:xfrm>
            <a:off x="45720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4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amada UI 12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Chip EX-U2- 6"/>
          <p:cNvSpPr/>
          <p:nvPr/>
        </p:nvSpPr>
        <p:spPr>
          <a:xfrm>
            <a:off x="45720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219456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ldNum" idx="30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AFA06E-041D-41F6-8FD7-FCEAEF84BC3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1376280" y="1110600"/>
            <a:ext cx="9761040" cy="518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68"/>
          <p:cNvSpPr/>
          <p:nvPr/>
        </p:nvSpPr>
        <p:spPr>
          <a:xfrm>
            <a:off x="45720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4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amada UI 11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Chip EX-U2- 5"/>
          <p:cNvSpPr/>
          <p:nvPr/>
        </p:nvSpPr>
        <p:spPr>
          <a:xfrm>
            <a:off x="45720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19456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ldNum" idx="3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0733D3-C445-4013-B54A-61C8387D1DA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1260000" y="1161000"/>
            <a:ext cx="9393480" cy="495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Chip EX-U2-05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artão Gherkin"/>
          <p:cNvSpPr/>
          <p:nvPr/>
        </p:nvSpPr>
        <p:spPr>
          <a:xfrm>
            <a:off x="33282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35568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35568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Quantidade e itens do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herkin"/>
          <p:cNvSpPr/>
          <p:nvPr/>
        </p:nvSpPr>
        <p:spPr>
          <a:xfrm>
            <a:off x="35568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4× "Boné Aba Curva"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subtotal, frete e total ficam coerentes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Exemplo desta evidência"/>
          <p:cNvSpPr/>
          <p:nvPr/>
        </p:nvSpPr>
        <p:spPr>
          <a:xfrm>
            <a:off x="35110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36939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5 DE 5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arâmetros do exemplo"/>
          <p:cNvSpPr/>
          <p:nvPr/>
        </p:nvSpPr>
        <p:spPr>
          <a:xfrm>
            <a:off x="36939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removo o Boné com BEMVINDO10 ativo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sldNum" idx="3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2EC25C-15DB-4725-BFF6-72EA178894F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72"/>
          <p:cNvSpPr/>
          <p:nvPr/>
        </p:nvSpPr>
        <p:spPr>
          <a:xfrm>
            <a:off x="458640" y="356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amada UI 13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Chip EX-U2- 7"/>
          <p:cNvSpPr/>
          <p:nvPr/>
        </p:nvSpPr>
        <p:spPr>
          <a:xfrm>
            <a:off x="458640" y="4287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2196000" y="3556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sldNum" idx="3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55BD6C-F17C-446B-9AAD-4587750AC97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1440000" y="1046880"/>
            <a:ext cx="9775440" cy="52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74"/>
          <p:cNvSpPr/>
          <p:nvPr/>
        </p:nvSpPr>
        <p:spPr>
          <a:xfrm>
            <a:off x="458640" y="356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QUANTIDADE · EXEMPLO 5 DE 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amada UI 14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Chip EX-U2- 8"/>
          <p:cNvSpPr/>
          <p:nvPr/>
        </p:nvSpPr>
        <p:spPr>
          <a:xfrm>
            <a:off x="458640" y="4287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EX-U2-05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2196000" y="3556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Interações com o limite de 5 unidades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sldNum" idx="34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EDB345-DE43-4FB3-874E-56EEE122AE8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1260000" y="1073160"/>
            <a:ext cx="9956880" cy="531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Chip EX-U3-01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artão Gherkin"/>
          <p:cNvSpPr/>
          <p:nvPr/>
        </p:nvSpPr>
        <p:spPr>
          <a:xfrm>
            <a:off x="2880000" y="132552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3288600" y="146268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3288600" y="173700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herkin"/>
          <p:cNvSpPr/>
          <p:nvPr/>
        </p:nvSpPr>
        <p:spPr>
          <a:xfrm>
            <a:off x="3288600" y="21484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2 produtos e o cupom "BEMVINDO10"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carrinho apresenta o texto “Seu carrinho está vazio”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botão “Ver produtos” é apresentado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Exemplo desta evidência"/>
          <p:cNvSpPr/>
          <p:nvPr/>
        </p:nvSpPr>
        <p:spPr>
          <a:xfrm>
            <a:off x="3242880" y="420588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3425760" y="429732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1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arâmetros do exemplo"/>
          <p:cNvSpPr/>
          <p:nvPr/>
        </p:nvSpPr>
        <p:spPr>
          <a:xfrm>
            <a:off x="3425760" y="45990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removo todos os itens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Num" idx="35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43485-3BA6-4481-8A19-DB4C3F95867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76"/>
          <p:cNvSpPr/>
          <p:nvPr/>
        </p:nvSpPr>
        <p:spPr>
          <a:xfrm>
            <a:off x="36000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amada UI 15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Chip EX-U3- 1"/>
          <p:cNvSpPr/>
          <p:nvPr/>
        </p:nvSpPr>
        <p:spPr>
          <a:xfrm>
            <a:off x="36000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097360" y="32004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ldNum" idx="36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F67BCD-0C7F-496A-8E2E-0C02C2D29BC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5" name="" descr=""/>
          <p:cNvPicPr/>
          <p:nvPr/>
        </p:nvPicPr>
        <p:blipFill>
          <a:blip r:embed="rId1"/>
          <a:stretch/>
        </p:blipFill>
        <p:spPr>
          <a:xfrm>
            <a:off x="1488240" y="1144080"/>
            <a:ext cx="9670320" cy="515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78"/>
          <p:cNvSpPr/>
          <p:nvPr/>
        </p:nvSpPr>
        <p:spPr>
          <a:xfrm>
            <a:off x="36000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amada UI 16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Chip EX-U3- 2"/>
          <p:cNvSpPr/>
          <p:nvPr/>
        </p:nvSpPr>
        <p:spPr>
          <a:xfrm>
            <a:off x="36000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097360" y="32004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ldNum" idx="37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7186E-3D94-437F-8F17-E4A86BE2171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1637640" y="1260000"/>
            <a:ext cx="9579960" cy="503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 0"/>
          <p:cNvSpPr/>
          <p:nvPr/>
        </p:nvSpPr>
        <p:spPr>
          <a:xfrm>
            <a:off x="45324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amada UI"/>
          <p:cNvSpPr/>
          <p:nvPr/>
        </p:nvSpPr>
        <p:spPr>
          <a:xfrm>
            <a:off x="10740240" y="2880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Chip EX-U3-02"/>
          <p:cNvSpPr/>
          <p:nvPr/>
        </p:nvSpPr>
        <p:spPr>
          <a:xfrm>
            <a:off x="45324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219060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artão Gherkin"/>
          <p:cNvSpPr/>
          <p:nvPr/>
        </p:nvSpPr>
        <p:spPr>
          <a:xfrm>
            <a:off x="2608200" y="145692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31086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31086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herkin"/>
          <p:cNvSpPr/>
          <p:nvPr/>
        </p:nvSpPr>
        <p:spPr>
          <a:xfrm>
            <a:off x="31086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2 produtos e o cupom "BEMVINDO10"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os itens, permanecem no carrinho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Exemplo desta evidência"/>
          <p:cNvSpPr/>
          <p:nvPr/>
        </p:nvSpPr>
        <p:spPr>
          <a:xfrm>
            <a:off x="30628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32457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2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arâmetros do exemplo"/>
          <p:cNvSpPr/>
          <p:nvPr/>
        </p:nvSpPr>
        <p:spPr>
          <a:xfrm>
            <a:off x="32457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recarrego a página (F5)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sldNum" idx="38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3046D4-B8F4-4669-B698-0A6224AE6AD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80"/>
          <p:cNvSpPr/>
          <p:nvPr/>
        </p:nvSpPr>
        <p:spPr>
          <a:xfrm>
            <a:off x="453240" y="10116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Camada UI 17"/>
          <p:cNvSpPr/>
          <p:nvPr/>
        </p:nvSpPr>
        <p:spPr>
          <a:xfrm>
            <a:off x="10740240" y="5544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Chip EX-U3- 3"/>
          <p:cNvSpPr/>
          <p:nvPr/>
        </p:nvSpPr>
        <p:spPr>
          <a:xfrm>
            <a:off x="453240" y="49428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2190600" y="4212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ldNum" idx="39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B2B3CD-A327-4A0E-A243-7E0560011C9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9" name="" descr=""/>
          <p:cNvPicPr/>
          <p:nvPr/>
        </p:nvPicPr>
        <p:blipFill>
          <a:blip r:embed="rId1"/>
          <a:stretch/>
        </p:blipFill>
        <p:spPr>
          <a:xfrm>
            <a:off x="1488240" y="1194120"/>
            <a:ext cx="9850320" cy="52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Chip EX-U3-03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Cartão Gherkin"/>
          <p:cNvSpPr/>
          <p:nvPr/>
        </p:nvSpPr>
        <p:spPr>
          <a:xfrm>
            <a:off x="33282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5" name="Text 5"/>
          <p:cNvSpPr/>
          <p:nvPr/>
        </p:nvSpPr>
        <p:spPr>
          <a:xfrm>
            <a:off x="35568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35568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herkin"/>
          <p:cNvSpPr/>
          <p:nvPr/>
        </p:nvSpPr>
        <p:spPr>
          <a:xfrm>
            <a:off x="35568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2 produtos e o cupom "BEMVINDO10"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os itens, permanecem no carrinho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os valores não são alterados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Exemplo desta evidência"/>
          <p:cNvSpPr/>
          <p:nvPr/>
        </p:nvSpPr>
        <p:spPr>
          <a:xfrm>
            <a:off x="35110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36939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3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arâmetros do exemplo"/>
          <p:cNvSpPr/>
          <p:nvPr/>
        </p:nvSpPr>
        <p:spPr>
          <a:xfrm>
            <a:off x="36939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uso Voltar e Avançar do navegador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sldNum" idx="40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BCE35C-C92C-438F-AEA9-5B0A44ECBC6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82"/>
          <p:cNvSpPr/>
          <p:nvPr/>
        </p:nvSpPr>
        <p:spPr>
          <a:xfrm>
            <a:off x="45720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Camada UI 18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Chip EX-U3- 4"/>
          <p:cNvSpPr/>
          <p:nvPr/>
        </p:nvSpPr>
        <p:spPr>
          <a:xfrm>
            <a:off x="45720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2194560" y="32004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sldNum" idx="4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A31A80-8DDC-49C2-839D-55D25916EB9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1"/>
          <a:stretch/>
        </p:blipFill>
        <p:spPr>
          <a:xfrm>
            <a:off x="1308240" y="1117800"/>
            <a:ext cx="9490320" cy="5000760"/>
          </a:xfrm>
          <a:prstGeom prst="rect">
            <a:avLst/>
          </a:prstGeom>
          <a:ln w="0">
            <a:noFill/>
          </a:ln>
        </p:spPr>
      </p:pic>
      <p:sp>
        <p:nvSpPr>
          <p:cNvPr id="378" name=""/>
          <p:cNvSpPr/>
          <p:nvPr/>
        </p:nvSpPr>
        <p:spPr>
          <a:xfrm>
            <a:off x="4140000" y="6120000"/>
            <a:ext cx="3238560" cy="3585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Pós click nobotão Voltar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84"/>
          <p:cNvSpPr/>
          <p:nvPr/>
        </p:nvSpPr>
        <p:spPr>
          <a:xfrm>
            <a:off x="457200" y="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amada UI 19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Chip EX-U3- 5"/>
          <p:cNvSpPr/>
          <p:nvPr/>
        </p:nvSpPr>
        <p:spPr>
          <a:xfrm>
            <a:off x="457200" y="39312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2194560" y="32004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sldNum" idx="4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F6FF07-8B65-4C27-9E21-6BDDA1F67AC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1"/>
          <a:stretch/>
        </p:blipFill>
        <p:spPr>
          <a:xfrm>
            <a:off x="1620000" y="954360"/>
            <a:ext cx="9670320" cy="5164200"/>
          </a:xfrm>
          <a:prstGeom prst="rect">
            <a:avLst/>
          </a:prstGeom>
          <a:ln w="0">
            <a:noFill/>
          </a:ln>
        </p:spPr>
      </p:pic>
      <p:sp>
        <p:nvSpPr>
          <p:cNvPr id="385" name=""/>
          <p:cNvSpPr/>
          <p:nvPr/>
        </p:nvSpPr>
        <p:spPr>
          <a:xfrm>
            <a:off x="4140000" y="6120000"/>
            <a:ext cx="3238560" cy="3585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Pós click nobotão Avançar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Chip EX-U3-04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artão Gherkin"/>
          <p:cNvSpPr/>
          <p:nvPr/>
        </p:nvSpPr>
        <p:spPr>
          <a:xfrm>
            <a:off x="24282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26568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26568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herkin"/>
          <p:cNvSpPr/>
          <p:nvPr/>
        </p:nvSpPr>
        <p:spPr>
          <a:xfrm>
            <a:off x="26568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2 produtos e o cupom "BEMVINDO10"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carrinho apresenta o texto “Seu carrinho está vazio”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botão “Ver produtos” é apresentado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Exemplo desta evidência"/>
          <p:cNvSpPr/>
          <p:nvPr/>
        </p:nvSpPr>
        <p:spPr>
          <a:xfrm>
            <a:off x="26110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5" name="Text 9"/>
          <p:cNvSpPr/>
          <p:nvPr/>
        </p:nvSpPr>
        <p:spPr>
          <a:xfrm>
            <a:off x="27939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4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arâmetros do exemplo"/>
          <p:cNvSpPr/>
          <p:nvPr/>
        </p:nvSpPr>
        <p:spPr>
          <a:xfrm>
            <a:off x="27939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abro /carrinho em outra aba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sldNum" idx="4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BE3D34-C168-4176-A69F-EA830FBD717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86"/>
          <p:cNvSpPr/>
          <p:nvPr/>
        </p:nvSpPr>
        <p:spPr>
          <a:xfrm>
            <a:off x="47052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CARRINHO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amada UI 20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Chip EX-U3- 6"/>
          <p:cNvSpPr/>
          <p:nvPr/>
        </p:nvSpPr>
        <p:spPr>
          <a:xfrm>
            <a:off x="47052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EX-U3-04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220788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Estado do carrinho ao navegar e recarregar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ldNum" idx="44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0D3508-8C68-47A3-A2C7-432D99CC14B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3" name="" descr=""/>
          <p:cNvPicPr/>
          <p:nvPr/>
        </p:nvPicPr>
        <p:blipFill>
          <a:blip r:embed="rId1"/>
          <a:stretch/>
        </p:blipFill>
        <p:spPr>
          <a:xfrm>
            <a:off x="1620000" y="1260000"/>
            <a:ext cx="9310320" cy="496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Chip EX-U4-01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artão Gherkin"/>
          <p:cNvSpPr/>
          <p:nvPr/>
        </p:nvSpPr>
        <p:spPr>
          <a:xfrm>
            <a:off x="2340000" y="145692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2568600" y="159408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6"/>
          <p:cNvSpPr/>
          <p:nvPr/>
        </p:nvSpPr>
        <p:spPr>
          <a:xfrm>
            <a:off x="2568600" y="186840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Frete grátis e resumo do pedido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herkin"/>
          <p:cNvSpPr/>
          <p:nvPr/>
        </p:nvSpPr>
        <p:spPr>
          <a:xfrm>
            <a:off x="2568600" y="22798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&lt;itens&gt;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aplico o cupom "&lt;cupom&gt;" (ou nenhum, se "-")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frete é &lt;frete&gt; e o total é &lt;total&gt;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Noto Sans CJK SC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Noto Sans CJK SC"/>
              </a:rPr>
              <a:t>  o aviso de faltante para frete grátis é apresentado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Exemplo desta evidência"/>
          <p:cNvSpPr/>
          <p:nvPr/>
        </p:nvSpPr>
        <p:spPr>
          <a:xfrm>
            <a:off x="2522880" y="433728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2705760" y="442872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1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arâmetros do exemplo"/>
          <p:cNvSpPr/>
          <p:nvPr/>
        </p:nvSpPr>
        <p:spPr>
          <a:xfrm>
            <a:off x="2705760" y="47304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&lt;itens&gt;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Camiseta + Calça (199,80)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&lt;cupom&gt;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-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&lt;frete&gt;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R$ 19,90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&lt;total&gt;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R$ 219,70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sldNum" idx="45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371912-548C-48BF-AC9B-E03CBF4BA6E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88"/>
          <p:cNvSpPr/>
          <p:nvPr/>
        </p:nvSpPr>
        <p:spPr>
          <a:xfrm>
            <a:off x="47052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Camada UI 21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Chip EX-U4- 1"/>
          <p:cNvSpPr/>
          <p:nvPr/>
        </p:nvSpPr>
        <p:spPr>
          <a:xfrm>
            <a:off x="47052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220788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Num" idx="46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35E2F9-3702-452E-8F30-CC6F7CF23F1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tretch/>
        </p:blipFill>
        <p:spPr>
          <a:xfrm>
            <a:off x="1488240" y="1200960"/>
            <a:ext cx="9268920" cy="491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Chip EX-U4-02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artão Gherkin"/>
          <p:cNvSpPr/>
          <p:nvPr/>
        </p:nvSpPr>
        <p:spPr>
          <a:xfrm>
            <a:off x="2160000" y="162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2388600" y="175716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2388600" y="203148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Frete grátis e resumo do pedido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herkin"/>
          <p:cNvSpPr/>
          <p:nvPr/>
        </p:nvSpPr>
        <p:spPr>
          <a:xfrm>
            <a:off x="2388600" y="244296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&lt;itens&gt;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aplico o cupom "&lt;cupom&gt;" (ou nenhum, se "-")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frete é &lt;frete&gt; e o total é &lt;total&gt;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aviso de faltante para frete grátis é apresentado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Exemplo desta evidência"/>
          <p:cNvSpPr/>
          <p:nvPr/>
        </p:nvSpPr>
        <p:spPr>
          <a:xfrm>
            <a:off x="2342880" y="450036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2525760" y="459180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2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arâmetros do exemplo"/>
          <p:cNvSpPr/>
          <p:nvPr/>
        </p:nvSpPr>
        <p:spPr>
          <a:xfrm>
            <a:off x="2525760" y="489348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&lt;itens&gt;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Boné+Garrafa+Mochila (199,90)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&lt;cupom&gt;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-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&lt;frete&gt;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R$ 19,90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&lt;total&gt;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R$ 219,80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sldNum" idx="47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986256-3E86-4FF2-8533-8423F99BF5E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90"/>
          <p:cNvSpPr/>
          <p:nvPr/>
        </p:nvSpPr>
        <p:spPr>
          <a:xfrm>
            <a:off x="45720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amada UI 22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Chip EX-U4- 2"/>
          <p:cNvSpPr/>
          <p:nvPr/>
        </p:nvSpPr>
        <p:spPr>
          <a:xfrm>
            <a:off x="45720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219456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ldNum" idx="48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28F259-FC3B-4FAC-A400-79C4F02D4A8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9" name="" descr=""/>
          <p:cNvPicPr/>
          <p:nvPr/>
        </p:nvPicPr>
        <p:blipFill>
          <a:blip r:embed="rId1"/>
          <a:stretch/>
        </p:blipFill>
        <p:spPr>
          <a:xfrm>
            <a:off x="1260000" y="1080000"/>
            <a:ext cx="9898560" cy="533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Chip EX-U4-03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Cartão Gherkin"/>
          <p:cNvSpPr/>
          <p:nvPr/>
        </p:nvSpPr>
        <p:spPr>
          <a:xfrm>
            <a:off x="2700000" y="155448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2928600" y="169164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2928600" y="196596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Frete grátis e resumo do pedido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herkin"/>
          <p:cNvSpPr/>
          <p:nvPr/>
        </p:nvSpPr>
        <p:spPr>
          <a:xfrm>
            <a:off x="2928600" y="237744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&lt;itens&gt;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não aplico o cupom "&lt;cupom&gt;"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frete é &lt;frete&gt; e o total é &lt;total&gt;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frete grátis é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Exemplo desta evidência"/>
          <p:cNvSpPr/>
          <p:nvPr/>
        </p:nvSpPr>
        <p:spPr>
          <a:xfrm>
            <a:off x="2882880" y="443484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9" name="Text 9"/>
          <p:cNvSpPr/>
          <p:nvPr/>
        </p:nvSpPr>
        <p:spPr>
          <a:xfrm>
            <a:off x="3065760" y="452628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3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arâmetros do exemplo"/>
          <p:cNvSpPr/>
          <p:nvPr/>
        </p:nvSpPr>
        <p:spPr>
          <a:xfrm>
            <a:off x="3065760" y="482796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&lt;itens&gt;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4× Garrafa Térmica (200,00)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&lt;cupom&gt;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&lt;frete&gt;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Grátis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&lt;total&gt;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R$ 200,00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sldNum" idx="49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4CE08D-27FF-42BC-A5CB-288699E563F9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 92"/>
          <p:cNvSpPr/>
          <p:nvPr/>
        </p:nvSpPr>
        <p:spPr>
          <a:xfrm>
            <a:off x="360000" y="10116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Camada UI 23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Chip EX-U4- 3"/>
          <p:cNvSpPr/>
          <p:nvPr/>
        </p:nvSpPr>
        <p:spPr>
          <a:xfrm>
            <a:off x="360000" y="49428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2097360" y="42120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sldNum" idx="50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A8B3B9-9F1E-4BFB-9E79-B620792A13C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57" name="EX-U4-03 - BUG" descr=""/>
          <p:cNvPicPr/>
          <p:nvPr/>
        </p:nvPicPr>
        <p:blipFill>
          <a:blip r:embed="rId1"/>
          <a:stretch/>
        </p:blipFill>
        <p:spPr>
          <a:xfrm>
            <a:off x="1128240" y="1136160"/>
            <a:ext cx="9670680" cy="5060160"/>
          </a:xfrm>
          <a:prstGeom prst="rect">
            <a:avLst/>
          </a:prstGeom>
          <a:ln w="0">
            <a:noFill/>
          </a:ln>
        </p:spPr>
      </p:pic>
      <p:sp>
        <p:nvSpPr>
          <p:cNvPr id="458" name="Cartão de resultado 1"/>
          <p:cNvSpPr/>
          <p:nvPr/>
        </p:nvSpPr>
        <p:spPr>
          <a:xfrm rot="21582000">
            <a:off x="4865040" y="6292440"/>
            <a:ext cx="4668120" cy="53712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9" name="Campos de resultado 1"/>
          <p:cNvSpPr/>
          <p:nvPr/>
        </p:nvSpPr>
        <p:spPr>
          <a:xfrm rot="4800">
            <a:off x="4871160" y="6172920"/>
            <a:ext cx="46616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  <a:ea typeface="DejaVu Sans"/>
              </a:rPr>
              <a:t>Observado: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  <a:ea typeface="DejaVu Sans"/>
              </a:rPr>
              <a:t>Bug encontrado     Bug: BUG-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artão de resultado 3"/>
          <p:cNvSpPr/>
          <p:nvPr/>
        </p:nvSpPr>
        <p:spPr>
          <a:xfrm rot="21582000">
            <a:off x="4865040" y="6292440"/>
            <a:ext cx="4668120" cy="53712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1" name="Campos de resultado 3"/>
          <p:cNvSpPr/>
          <p:nvPr/>
        </p:nvSpPr>
        <p:spPr>
          <a:xfrm rot="4800">
            <a:off x="4871160" y="6172920"/>
            <a:ext cx="46616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  <a:ea typeface="DejaVu Sans"/>
              </a:rPr>
              <a:t>Obs: Bug encontrado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chemeClr val="dk2"/>
                </a:solidFill>
                <a:latin typeface="Calibri"/>
                <a:ea typeface="DejaVu Sans"/>
              </a:rPr>
              <a:t>Bug: BUG-01 UI/API – Desconto não concedido sem cupom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 0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amada UI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Chip EX-U4-04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Cartão Gherkin"/>
          <p:cNvSpPr/>
          <p:nvPr/>
        </p:nvSpPr>
        <p:spPr>
          <a:xfrm>
            <a:off x="2880000" y="145692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3108600" y="159408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6"/>
          <p:cNvSpPr/>
          <p:nvPr/>
        </p:nvSpPr>
        <p:spPr>
          <a:xfrm>
            <a:off x="3108600" y="186840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Frete grátis e resumo do pedido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herkin"/>
          <p:cNvSpPr/>
          <p:nvPr/>
        </p:nvSpPr>
        <p:spPr>
          <a:xfrm>
            <a:off x="3108600" y="227988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&lt;itens&gt;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aplico o cupom "&lt;cupom&gt;"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total &lt;total&gt; é apresentado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 frete grátis é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Exemplo desta evidência"/>
          <p:cNvSpPr/>
          <p:nvPr/>
        </p:nvSpPr>
        <p:spPr>
          <a:xfrm>
            <a:off x="3062880" y="433728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1" name="Text 9"/>
          <p:cNvSpPr/>
          <p:nvPr/>
        </p:nvSpPr>
        <p:spPr>
          <a:xfrm>
            <a:off x="3245760" y="442872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4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arâmetros do exemplo"/>
          <p:cNvSpPr/>
          <p:nvPr/>
        </p:nvSpPr>
        <p:spPr>
          <a:xfrm>
            <a:off x="3245760" y="473040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&lt;itens&gt;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4 Garrafas (200,00)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&lt;cupom&gt;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BEMVINDO10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&lt;frete&gt;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Grátis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&lt;total&gt;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R$ 180,00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sldNum" idx="51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CE38DA-52E4-48EA-914C-04E2622D568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 96"/>
          <p:cNvSpPr/>
          <p:nvPr/>
        </p:nvSpPr>
        <p:spPr>
          <a:xfrm>
            <a:off x="470520" y="745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FRETE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amada UI 25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Chip EX-U4- 5"/>
          <p:cNvSpPr/>
          <p:nvPr/>
        </p:nvSpPr>
        <p:spPr>
          <a:xfrm>
            <a:off x="470520" y="4676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EX-U4-04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2207880" y="3945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Fronteira do frete grátis (R$ 200,00)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sldNum" idx="52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09C5AB-301E-4062-8164-A91893FEBD3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1"/>
          <a:stretch/>
        </p:blipFill>
        <p:spPr>
          <a:xfrm>
            <a:off x="1308240" y="1080000"/>
            <a:ext cx="9490680" cy="5054760"/>
          </a:xfrm>
          <a:prstGeom prst="rect">
            <a:avLst/>
          </a:prstGeom>
          <a:ln w="0">
            <a:noFill/>
          </a:ln>
        </p:spPr>
      </p:pic>
      <p:sp>
        <p:nvSpPr>
          <p:cNvPr id="480" name="Cartão de resultado 2"/>
          <p:cNvSpPr/>
          <p:nvPr/>
        </p:nvSpPr>
        <p:spPr>
          <a:xfrm rot="21582000">
            <a:off x="4864680" y="6289560"/>
            <a:ext cx="4668120" cy="53712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1" name="Campos de resultado 2"/>
          <p:cNvSpPr/>
          <p:nvPr/>
        </p:nvSpPr>
        <p:spPr>
          <a:xfrm rot="4800">
            <a:off x="4870800" y="6170040"/>
            <a:ext cx="46616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  <a:ea typeface="DejaVu Sans"/>
              </a:rPr>
              <a:t>Obs: Bug encontrado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chemeClr val="dk2"/>
                </a:solidFill>
                <a:latin typeface="Calibri"/>
                <a:ea typeface="DejaVu Sans"/>
              </a:rPr>
              <a:t>Bug: BUG-01 UI/API – Desconto não concedido cupom aplicaco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143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Camada UI 24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Chip EX-U7- 2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EX-U7-01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Interação com o campo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Cartão Gherkin 4"/>
          <p:cNvSpPr/>
          <p:nvPr/>
        </p:nvSpPr>
        <p:spPr>
          <a:xfrm>
            <a:off x="3060000" y="162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7" name="Text 10"/>
          <p:cNvSpPr/>
          <p:nvPr/>
        </p:nvSpPr>
        <p:spPr>
          <a:xfrm>
            <a:off x="3288600" y="175716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4"/>
          <p:cNvSpPr/>
          <p:nvPr/>
        </p:nvSpPr>
        <p:spPr>
          <a:xfrm>
            <a:off x="3288600" y="203148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herkin 4"/>
          <p:cNvSpPr/>
          <p:nvPr/>
        </p:nvSpPr>
        <p:spPr>
          <a:xfrm>
            <a:off x="3288600" y="244296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2× "Jaqueta Corta-Vento"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cupom não é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visualizo a mensagem “Cupom expirado”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Exemplo desta evidência 4"/>
          <p:cNvSpPr/>
          <p:nvPr/>
        </p:nvSpPr>
        <p:spPr>
          <a:xfrm>
            <a:off x="3242880" y="450036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1" name="Text 18"/>
          <p:cNvSpPr/>
          <p:nvPr/>
        </p:nvSpPr>
        <p:spPr>
          <a:xfrm>
            <a:off x="3425760" y="459180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1 DE 2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arâmetros do exemplo 4"/>
          <p:cNvSpPr/>
          <p:nvPr/>
        </p:nvSpPr>
        <p:spPr>
          <a:xfrm>
            <a:off x="3425760" y="489348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digito VERAO2016 e pressiono Enter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sldNum" idx="53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EFA11F-9B18-4EC8-AB07-2B4A0F477E5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39"/>
          <p:cNvSpPr/>
          <p:nvPr/>
        </p:nvSpPr>
        <p:spPr>
          <a:xfrm>
            <a:off x="470880" y="7488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1 DE 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Camada UI 26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Chip EX-U7- 1"/>
          <p:cNvSpPr/>
          <p:nvPr/>
        </p:nvSpPr>
        <p:spPr>
          <a:xfrm>
            <a:off x="470880" y="46800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EX-U7-01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Interação com o campo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sldNum" idx="54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5EF3FF-27A1-492A-AEA1-60EA3433DB0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99" name="" descr=""/>
          <p:cNvPicPr/>
          <p:nvPr/>
        </p:nvPicPr>
        <p:blipFill>
          <a:blip r:embed="rId1"/>
          <a:stretch/>
        </p:blipFill>
        <p:spPr>
          <a:xfrm>
            <a:off x="1560960" y="1080000"/>
            <a:ext cx="9369720" cy="503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 149"/>
          <p:cNvSpPr/>
          <p:nvPr/>
        </p:nvSpPr>
        <p:spPr>
          <a:xfrm>
            <a:off x="457200" y="32004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2 DE 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amada UI 27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Chip EX-U7- 4"/>
          <p:cNvSpPr/>
          <p:nvPr/>
        </p:nvSpPr>
        <p:spPr>
          <a:xfrm>
            <a:off x="457200" y="71316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EX-U7-02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Interação com o campo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Cartão Gherkin 5"/>
          <p:cNvSpPr/>
          <p:nvPr/>
        </p:nvSpPr>
        <p:spPr>
          <a:xfrm>
            <a:off x="3148560" y="1440000"/>
            <a:ext cx="5850360" cy="4661640"/>
          </a:xfrm>
          <a:prstGeom prst="roundRect">
            <a:avLst>
              <a:gd name="adj" fmla="val 1569"/>
            </a:avLst>
          </a:prstGeom>
          <a:solidFill>
            <a:schemeClr val="lt2"/>
          </a:solidFill>
          <a:ln w="126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5" name="Text 50"/>
          <p:cNvSpPr/>
          <p:nvPr/>
        </p:nvSpPr>
        <p:spPr>
          <a:xfrm>
            <a:off x="3377160" y="1577160"/>
            <a:ext cx="53931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55"/>
          <p:cNvSpPr/>
          <p:nvPr/>
        </p:nvSpPr>
        <p:spPr>
          <a:xfrm>
            <a:off x="3377160" y="1851480"/>
            <a:ext cx="5393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  <a:ea typeface="DejaVu Sans"/>
              </a:rPr>
              <a:t>Cupom de desconto no carrinho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Gherkin 5"/>
          <p:cNvSpPr/>
          <p:nvPr/>
        </p:nvSpPr>
        <p:spPr>
          <a:xfrm>
            <a:off x="3377160" y="2262960"/>
            <a:ext cx="5393160" cy="19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que o carrinho tem 1× "Mochila Urbana 20L"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eu &lt;acao&gt;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registro se o cupom é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  <a:ea typeface="DejaVu Sans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DejaVu Sans"/>
              </a:rPr>
              <a:t> o desconto é - R$ 10,00 quando aplicado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Exemplo desta evidência 5"/>
          <p:cNvSpPr/>
          <p:nvPr/>
        </p:nvSpPr>
        <p:spPr>
          <a:xfrm>
            <a:off x="3331440" y="4320360"/>
            <a:ext cx="5484600" cy="1644120"/>
          </a:xfrm>
          <a:prstGeom prst="roundRect">
            <a:avLst>
              <a:gd name="adj" fmla="val 4444"/>
            </a:avLst>
          </a:prstGeom>
          <a:solidFill>
            <a:schemeClr val="lt1"/>
          </a:solidFill>
          <a:ln w="15840">
            <a:solidFill>
              <a:srgbClr val="5b4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9" name="Text 57"/>
          <p:cNvSpPr/>
          <p:nvPr/>
        </p:nvSpPr>
        <p:spPr>
          <a:xfrm>
            <a:off x="3514320" y="4411800"/>
            <a:ext cx="5118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EXEMPLOS · LINHA 2 DE 2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arâmetros do exemplo 5"/>
          <p:cNvSpPr/>
          <p:nvPr/>
        </p:nvSpPr>
        <p:spPr>
          <a:xfrm>
            <a:off x="3514320" y="4713480"/>
            <a:ext cx="511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  <a:ea typeface="DejaVu Sans"/>
              </a:rPr>
              <a:t>&lt;acao&gt;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  =  colo BEMVINDO10 (Ctrl+V) e clico em Aplicar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ldNum" idx="55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0D36EF-C88F-483F-80A4-9592B68E3CE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65"/>
          <p:cNvSpPr/>
          <p:nvPr/>
        </p:nvSpPr>
        <p:spPr>
          <a:xfrm>
            <a:off x="540000" y="115920"/>
            <a:ext cx="9599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86" strike="noStrike">
                <a:solidFill>
                  <a:schemeClr val="accent1"/>
                </a:solidFill>
                <a:latin typeface="Calibri"/>
                <a:ea typeface="DejaVu Sans"/>
              </a:rPr>
              <a:t>UI · EXPLORATÓRIO · CUPOM · EXEMPLO 2 DE 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Camada UI 28"/>
          <p:cNvSpPr/>
          <p:nvPr/>
        </p:nvSpPr>
        <p:spPr>
          <a:xfrm>
            <a:off x="10744200" y="274320"/>
            <a:ext cx="958320" cy="382320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UI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Chip EX-U7- 3"/>
          <p:cNvSpPr/>
          <p:nvPr/>
        </p:nvSpPr>
        <p:spPr>
          <a:xfrm>
            <a:off x="540000" y="509040"/>
            <a:ext cx="1598400" cy="546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  <a:ea typeface="DejaVu Sans"/>
              </a:rPr>
              <a:t>EX-U7-02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2277360" y="435960"/>
            <a:ext cx="841068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Interação com o campo do cupom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sldNum" idx="56"/>
          </p:nvPr>
        </p:nvSpPr>
        <p:spPr>
          <a:xfrm>
            <a:off x="11137320" y="6446520"/>
            <a:ext cx="5925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E3184E-0F6E-41B7-8D31-B35090CFBC79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17" name="" descr=""/>
          <p:cNvPicPr/>
          <p:nvPr/>
        </p:nvPicPr>
        <p:blipFill>
          <a:blip r:embed="rId1"/>
          <a:stretch/>
        </p:blipFill>
        <p:spPr>
          <a:xfrm>
            <a:off x="1307880" y="1080000"/>
            <a:ext cx="9851040" cy="532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2026-10-08T22:16:19Z</dcterms:created>
  <dc:creator>PptxGenJS</dc:creator>
  <dc:description/>
  <dc:language>pt-BR</dc:language>
  <cp:lastModifiedBy/>
  <dcterms:modified xsi:type="dcterms:W3CDTF">2026-10-09T14:55:53Z</dcterms:modified>
  <cp:revision>14</cp:revision>
  <dc:subject>PptxGenJS Presentation</dc:subject>
  <dc:title>Verzel Store – Execução manual: exploratórios (VZS-142)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61</vt:r8>
  </property>
  <property fmtid="{D5CDD505-2E9C-101B-9397-08002B2CF9AE}" pid="3" name="PresentationFormat">
    <vt:lpwstr>On-screen Show (16:9)</vt:lpwstr>
  </property>
  <property fmtid="{D5CDD505-2E9C-101B-9397-08002B2CF9AE}" pid="4" name="Slides">
    <vt:r8>61</vt:r8>
  </property>
</Properties>
</file>