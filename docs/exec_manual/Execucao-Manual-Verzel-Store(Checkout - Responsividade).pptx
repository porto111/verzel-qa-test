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_rels/notesSlide2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1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iq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er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sli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E3F5CC9-289D-42FE-A741-08F9631B17F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DD58B8-5C26-4796-948B-9CE5B68964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1BB424-77D1-4F59-BF33-DC2537D617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0E32E9-941E-4613-A323-09F8C242E4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59D6E2-4A65-49AD-9A86-EA15E228D4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83F366-2767-4DEB-A4A2-CA4125333C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9FDDBE-D3BA-4F06-9966-CD90C037FA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26E19B-A6D3-475E-A610-18B9CB8C97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3B009B-961B-4262-9E2B-4E072C7B6F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361083-D162-4B56-8F38-768C3EAE7E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84C006-C42B-4E22-9382-DFBE283650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734080-C00C-44A8-9BE7-76A9C585E0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0AD618-E22F-4124-8634-72B0961201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2C121D-68DE-474A-8B44-767F812E4F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23DEC0-29B9-4FF9-AFAE-3F66EAE023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83724F-53C9-4E59-A624-6C1DB4EA6F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505C4B-7349-42DB-B0C9-469D184A74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5FD7BE-52A0-405E-8A70-D1595E9A88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109934-422F-4BED-8A31-5399BF5EE1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7B0AF1-70B1-4BA6-BCA6-35771C565A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658549-09B3-4E94-A285-67E6597767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C84957-39FF-4259-86EE-52B394290F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30DC78-F2F2-466A-8AE0-C36EFCACCA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5635D5-0B21-4785-94D2-D2FCE85F2B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F34D82-3474-4D08-9291-F8861BA896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8F73A9-6D39-4419-B351-1EF9D49830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06C453-EAFB-4751-8D17-96422F7601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D4D4C2-BCAE-423E-86C9-0AEEE12EA6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588557-3DE3-43A8-A837-F933E4288B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13B111-FA9A-45D4-A728-575BD38F93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F0B120-CC24-45E2-ADB0-05B0855477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E6E5D9-10AE-45B2-8656-9443E6BBC7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62357F-92BB-414F-A5D5-D76E110341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506DEA-1F82-4189-8FA2-3AB283B3E96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A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0B6DB1-B9D0-4C3D-B564-5C484B640A2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Clique para editar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o formato do texto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do título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Clique para editar o formato de </a:t>
            </a: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texto dos tópicos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0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B2049A-C2E5-4225-90B0-39157FBF74D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iq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ta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tít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ul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0B9A9E-8DDA-437E-89F5-F3438A02D05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6765840" cy="191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x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c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u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ç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ã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o 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m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a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n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u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al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: 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c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n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á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ri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o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s 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x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pl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o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r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a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t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ó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ri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o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s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40080" y="3611880"/>
            <a:ext cx="6400080" cy="10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2"/>
                </a:solidFill>
                <a:latin typeface="Calibri"/>
              </a:rPr>
              <a:t>Verzel Store · VZS-142 v2.3.0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2"/>
                </a:solidFill>
                <a:latin typeface="Calibri"/>
              </a:rPr>
              <a:t>Gherkin · 1 cartão por evidência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Chip ROTEIRO + EVIDÊNCIAS"/>
          <p:cNvSpPr/>
          <p:nvPr/>
        </p:nvSpPr>
        <p:spPr>
          <a:xfrm>
            <a:off x="640080" y="731520"/>
            <a:ext cx="2833920" cy="456480"/>
          </a:xfrm>
          <a:prstGeom prst="roundRect">
            <a:avLst>
              <a:gd name="adj" fmla="val 20000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3"/>
                </a:solidFill>
                <a:latin typeface="Calibri"/>
              </a:rPr>
              <a:t>ROTEIRO + EVIDÊNCIAS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4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Co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m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o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us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ar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est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rot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eir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asso 1"/>
          <p:cNvSpPr/>
          <p:nvPr/>
        </p:nvSpPr>
        <p:spPr>
          <a:xfrm>
            <a:off x="457200" y="1600200"/>
            <a:ext cx="2651040" cy="233100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Chip 1"/>
          <p:cNvSpPr/>
          <p:nvPr/>
        </p:nvSpPr>
        <p:spPr>
          <a:xfrm>
            <a:off x="640080" y="1783080"/>
            <a:ext cx="547920" cy="54792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1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640080" y="2450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Prepare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640080" y="2853000"/>
            <a:ext cx="2285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UI: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loja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em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aba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nova,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zoom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100%.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API: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Bruno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 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pasta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bruno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/ e 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enviro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nmen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"Verze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l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Store"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asso 2"/>
          <p:cNvSpPr/>
          <p:nvPr/>
        </p:nvSpPr>
        <p:spPr>
          <a:xfrm>
            <a:off x="3291840" y="1600200"/>
            <a:ext cx="2651040" cy="233100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Chip 2"/>
          <p:cNvSpPr/>
          <p:nvPr/>
        </p:nvSpPr>
        <p:spPr>
          <a:xfrm>
            <a:off x="3474720" y="1783080"/>
            <a:ext cx="547920" cy="54792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2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3474720" y="2450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Exe</a:t>
            </a: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cut</a:t>
            </a: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3474720" y="2853000"/>
            <a:ext cx="2285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Siga 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Gherki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 do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cartão.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Cada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cartão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é uma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evidên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cia (um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exempl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 do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esque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ma).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asso 3"/>
          <p:cNvSpPr/>
          <p:nvPr/>
        </p:nvSpPr>
        <p:spPr>
          <a:xfrm>
            <a:off x="6126480" y="1600200"/>
            <a:ext cx="2651040" cy="233100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Chip 3"/>
          <p:cNvSpPr/>
          <p:nvPr/>
        </p:nvSpPr>
        <p:spPr>
          <a:xfrm>
            <a:off x="6309360" y="1783080"/>
            <a:ext cx="547920" cy="54792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3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309360" y="2450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Evid</a:t>
            </a: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enci</a:t>
            </a: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309360" y="2853000"/>
            <a:ext cx="2285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Print com URL/valores legíveis. Cole no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quadro tracejado e salve com o nome do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cartão.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asso 4"/>
          <p:cNvSpPr/>
          <p:nvPr/>
        </p:nvSpPr>
        <p:spPr>
          <a:xfrm>
            <a:off x="8961120" y="1600200"/>
            <a:ext cx="2651040" cy="233100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Chip 4"/>
          <p:cNvSpPr/>
          <p:nvPr/>
        </p:nvSpPr>
        <p:spPr>
          <a:xfrm>
            <a:off x="9144000" y="1783080"/>
            <a:ext cx="547920" cy="54792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4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9144000" y="2450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Registre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9144000" y="2853000"/>
            <a:ext cx="2285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Marq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ue o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result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ado,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anote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planil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ha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(aba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Explor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atória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s) e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abra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bug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em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docs/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BUGS.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md se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diverg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Legenda UI"/>
          <p:cNvSpPr/>
          <p:nvPr/>
        </p:nvSpPr>
        <p:spPr>
          <a:xfrm>
            <a:off x="457200" y="4114800"/>
            <a:ext cx="5531400" cy="639360"/>
          </a:xfrm>
          <a:prstGeom prst="roundRect">
            <a:avLst>
              <a:gd name="adj" fmla="val 1142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Chip UI"/>
          <p:cNvSpPr/>
          <p:nvPr/>
        </p:nvSpPr>
        <p:spPr>
          <a:xfrm>
            <a:off x="594360" y="4206240"/>
            <a:ext cx="822240" cy="45648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1600200" y="4160520"/>
            <a:ext cx="4205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Nave</a:t>
            </a: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gado</a:t>
            </a: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r </a:t>
            </a: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(loja)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Legenda API"/>
          <p:cNvSpPr/>
          <p:nvPr/>
        </p:nvSpPr>
        <p:spPr>
          <a:xfrm>
            <a:off x="6172200" y="4114800"/>
            <a:ext cx="5531400" cy="639360"/>
          </a:xfrm>
          <a:prstGeom prst="roundRect">
            <a:avLst>
              <a:gd name="adj" fmla="val 1142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Chip API"/>
          <p:cNvSpPr/>
          <p:nvPr/>
        </p:nvSpPr>
        <p:spPr>
          <a:xfrm>
            <a:off x="6309360" y="4206240"/>
            <a:ext cx="822240" cy="45648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7315200" y="4160520"/>
            <a:ext cx="4205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Bruno (collection bruno/)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Aviso: não é bug"/>
          <p:cNvSpPr/>
          <p:nvPr/>
        </p:nvSpPr>
        <p:spPr>
          <a:xfrm>
            <a:off x="457200" y="4937760"/>
            <a:ext cx="11246400" cy="1325160"/>
          </a:xfrm>
          <a:prstGeom prst="roundRect">
            <a:avLst>
              <a:gd name="adj" fmla="val 6897"/>
            </a:avLst>
          </a:prstGeom>
          <a:solidFill>
            <a:schemeClr val="dk2"/>
          </a:solidFill>
          <a:ln w="12600">
            <a:solidFill>
              <a:srgbClr val="02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731520" y="5029200"/>
            <a:ext cx="10697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chemeClr val="accent3"/>
                </a:solidFill>
                <a:latin typeface="Calibri"/>
              </a:rPr>
              <a:t>NÃO REPORTE COMO BUG (seção "Sobre este ambiente")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731520" y="5349240"/>
            <a:ext cx="10697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</a:rPr>
              <a:t>Carrinho só na aba do navegador; pedidos não persistem e nenhum e-mail ou cobrança é feito.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</a:rPr>
              <a:t>Produtos, preços e cupons são fixos, sem estoque; a API não guarda estado.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6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A68785-11D8-4FCF-97EC-8B3F5183E7A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4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Da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do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s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te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st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re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gr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as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-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ch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av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" name="Tabela de produtos"/>
          <p:cNvGraphicFramePr/>
          <p:nvPr/>
        </p:nvGraphicFramePr>
        <p:xfrm>
          <a:off x="457200" y="1554480"/>
          <a:ext cx="5760360" cy="411444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  <a:gridCol w="1554480"/>
              </a:tblGrid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Id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Produto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Preço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P001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Camiseta Essencial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R$ 59,90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P002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Calça Jeans Slim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R$ 139,90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P003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Tênis Casual Urbano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R$ 189,90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P004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Boné Aba Curva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R$ 49,90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P005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Mochila Urbana 20L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R$ 100,00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P006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Kit 3 Pares de Meias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R$ 29,90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P007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Jaqueta Corta-Vento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R$ 229,90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P008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Garrafa Térmica 750ml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R$ 50,00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0" name="Regra Cupons"/>
          <p:cNvSpPr/>
          <p:nvPr/>
        </p:nvSpPr>
        <p:spPr>
          <a:xfrm>
            <a:off x="6675120" y="1554480"/>
            <a:ext cx="5028480" cy="95940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6858000" y="1600200"/>
            <a:ext cx="10965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Cupons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7955280" y="1600200"/>
            <a:ext cx="3656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BEMVINDO10 = 10% sobre o subtotal (válido)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VERAO2026 = 15% (expirado em 31/03/2026)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egra Frete"/>
          <p:cNvSpPr/>
          <p:nvPr/>
        </p:nvSpPr>
        <p:spPr>
          <a:xfrm>
            <a:off x="6675120" y="2633400"/>
            <a:ext cx="5028480" cy="95940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6858000" y="2679120"/>
            <a:ext cx="10965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Frete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7955280" y="2679120"/>
            <a:ext cx="3656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Grátis a partir de R$ 200,00 (inclusive)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Abaixo disso: R$ 19,90 fixo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gra Cálculo"/>
          <p:cNvSpPr/>
          <p:nvPr/>
        </p:nvSpPr>
        <p:spPr>
          <a:xfrm>
            <a:off x="6675120" y="3712320"/>
            <a:ext cx="5028480" cy="95940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6858000" y="3758040"/>
            <a:ext cx="10965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Cálculo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7955280" y="3758040"/>
            <a:ext cx="3656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Total = subtotal − desconto + frete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O desconto não incide sobre o frete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gra Limite"/>
          <p:cNvSpPr/>
          <p:nvPr/>
        </p:nvSpPr>
        <p:spPr>
          <a:xfrm>
            <a:off x="6675120" y="4791600"/>
            <a:ext cx="5028480" cy="95940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6858000" y="4837320"/>
            <a:ext cx="10965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Limite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7955280" y="4837320"/>
            <a:ext cx="3656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No máximo 5 unidades por produto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7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84CDC4-CF05-4FBC-A971-77FBDC86B59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4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Mapa dos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exploratórios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Cabeçalho UI"/>
          <p:cNvSpPr/>
          <p:nvPr/>
        </p:nvSpPr>
        <p:spPr>
          <a:xfrm>
            <a:off x="457200" y="1508760"/>
            <a:ext cx="5485680" cy="50220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UI · NAVEGADOR  ·  33 evidências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Linha U1"/>
          <p:cNvSpPr/>
          <p:nvPr/>
        </p:nvSpPr>
        <p:spPr>
          <a:xfrm>
            <a:off x="457200" y="210312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594360" y="210312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88720" y="210312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Variações do código do cupom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5166360" y="210312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6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Linha U2"/>
          <p:cNvSpPr/>
          <p:nvPr/>
        </p:nvSpPr>
        <p:spPr>
          <a:xfrm>
            <a:off x="457200" y="268848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594360" y="268848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1188720" y="268848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Interações com o limite de 5 unidades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5166360" y="268848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Linha U3"/>
          <p:cNvSpPr/>
          <p:nvPr/>
        </p:nvSpPr>
        <p:spPr>
          <a:xfrm>
            <a:off x="457200" y="327348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594360" y="327348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1188720" y="327348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Estado do carrinho ao navegar e recarregar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5166360" y="327348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Linha U4"/>
          <p:cNvSpPr/>
          <p:nvPr/>
        </p:nvSpPr>
        <p:spPr>
          <a:xfrm>
            <a:off x="457200" y="385884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594360" y="385884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1188720" y="385884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Fronteira do frete grátis (R$ 200,00)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5166360" y="385884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Linha U5"/>
          <p:cNvSpPr/>
          <p:nvPr/>
        </p:nvSpPr>
        <p:spPr>
          <a:xfrm>
            <a:off x="457200" y="444384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594360" y="444384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1188720" y="444384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Dados do cliente no checkout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5166360" y="444384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Linha U6"/>
          <p:cNvSpPr/>
          <p:nvPr/>
        </p:nvSpPr>
        <p:spPr>
          <a:xfrm>
            <a:off x="457200" y="502920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594360" y="502920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U6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1188720" y="502920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Responsividade e zoom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5166360" y="502920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Linha U7"/>
          <p:cNvSpPr/>
          <p:nvPr/>
        </p:nvSpPr>
        <p:spPr>
          <a:xfrm>
            <a:off x="457200" y="561456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7"/>
          <p:cNvSpPr/>
          <p:nvPr/>
        </p:nvSpPr>
        <p:spPr>
          <a:xfrm>
            <a:off x="594360" y="561456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8"/>
          <p:cNvSpPr/>
          <p:nvPr/>
        </p:nvSpPr>
        <p:spPr>
          <a:xfrm>
            <a:off x="1188720" y="561456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Interação com o campo do cupom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9"/>
          <p:cNvSpPr/>
          <p:nvPr/>
        </p:nvSpPr>
        <p:spPr>
          <a:xfrm>
            <a:off x="5166360" y="561456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abeçalho API"/>
          <p:cNvSpPr/>
          <p:nvPr/>
        </p:nvSpPr>
        <p:spPr>
          <a:xfrm>
            <a:off x="6217920" y="1508760"/>
            <a:ext cx="5485680" cy="50220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API · BRUNO  ·  23 evidências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Linha A1"/>
          <p:cNvSpPr/>
          <p:nvPr/>
        </p:nvSpPr>
        <p:spPr>
          <a:xfrm>
            <a:off x="6217920" y="210312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2"/>
          <p:cNvSpPr/>
          <p:nvPr/>
        </p:nvSpPr>
        <p:spPr>
          <a:xfrm>
            <a:off x="6355080" y="210312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3"/>
          <p:cNvSpPr/>
          <p:nvPr/>
        </p:nvSpPr>
        <p:spPr>
          <a:xfrm>
            <a:off x="6949440" y="210312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Cupom com tipos inválidos no cálculo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4"/>
          <p:cNvSpPr/>
          <p:nvPr/>
        </p:nvSpPr>
        <p:spPr>
          <a:xfrm>
            <a:off x="10927080" y="210312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Linha A2"/>
          <p:cNvSpPr/>
          <p:nvPr/>
        </p:nvSpPr>
        <p:spPr>
          <a:xfrm>
            <a:off x="6217920" y="268848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36"/>
          <p:cNvSpPr/>
          <p:nvPr/>
        </p:nvSpPr>
        <p:spPr>
          <a:xfrm>
            <a:off x="6355080" y="268848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7"/>
          <p:cNvSpPr/>
          <p:nvPr/>
        </p:nvSpPr>
        <p:spPr>
          <a:xfrm>
            <a:off x="6949440" y="268848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Corpo do cálculo com campos atípicos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38"/>
          <p:cNvSpPr/>
          <p:nvPr/>
        </p:nvSpPr>
        <p:spPr>
          <a:xfrm>
            <a:off x="10927080" y="268848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8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Linha A3"/>
          <p:cNvSpPr/>
          <p:nvPr/>
        </p:nvSpPr>
        <p:spPr>
          <a:xfrm>
            <a:off x="6217920" y="327348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0"/>
          <p:cNvSpPr/>
          <p:nvPr/>
        </p:nvSpPr>
        <p:spPr>
          <a:xfrm>
            <a:off x="6355080" y="327348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1"/>
          <p:cNvSpPr/>
          <p:nvPr/>
        </p:nvSpPr>
        <p:spPr>
          <a:xfrm>
            <a:off x="6949440" y="327348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Pedido com dados do cliente atípicos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2"/>
          <p:cNvSpPr/>
          <p:nvPr/>
        </p:nvSpPr>
        <p:spPr>
          <a:xfrm>
            <a:off x="10927080" y="327348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Linha A4"/>
          <p:cNvSpPr/>
          <p:nvPr/>
        </p:nvSpPr>
        <p:spPr>
          <a:xfrm>
            <a:off x="6217920" y="3858840"/>
            <a:ext cx="5485680" cy="5112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4"/>
          <p:cNvSpPr/>
          <p:nvPr/>
        </p:nvSpPr>
        <p:spPr>
          <a:xfrm>
            <a:off x="6355080" y="3858840"/>
            <a:ext cx="547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5"/>
          <p:cNvSpPr/>
          <p:nvPr/>
        </p:nvSpPr>
        <p:spPr>
          <a:xfrm>
            <a:off x="6949440" y="3858840"/>
            <a:ext cx="393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Consistência entre endpoints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46"/>
          <p:cNvSpPr/>
          <p:nvPr/>
        </p:nvSpPr>
        <p:spPr>
          <a:xfrm>
            <a:off x="10927080" y="3858840"/>
            <a:ext cx="6393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8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B40A4C-778A-43C7-84A3-FB2B9EF35B59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14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1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Camada UI 24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Chip EX-U5- 1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cli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ent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no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ch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ec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ko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artão Gherkin 4"/>
          <p:cNvSpPr/>
          <p:nvPr/>
        </p:nvSpPr>
        <p:spPr>
          <a:xfrm>
            <a:off x="2700000" y="15544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2928600" y="16916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9"/>
          <p:cNvSpPr/>
          <p:nvPr/>
        </p:nvSpPr>
        <p:spPr>
          <a:xfrm>
            <a:off x="2928600" y="19659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herkin 4"/>
          <p:cNvSpPr/>
          <p:nvPr/>
        </p:nvSpPr>
        <p:spPr>
          <a:xfrm>
            <a:off x="2928600" y="23774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Então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a mensagem de exceção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é disparada informando o motivo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Exemplo desta evidência 4"/>
          <p:cNvSpPr/>
          <p:nvPr/>
        </p:nvSpPr>
        <p:spPr>
          <a:xfrm>
            <a:off x="2882880" y="44348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0"/>
          <p:cNvSpPr/>
          <p:nvPr/>
        </p:nvSpPr>
        <p:spPr>
          <a:xfrm>
            <a:off x="3065760" y="45262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1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arâmetros do exemplo 4"/>
          <p:cNvSpPr/>
          <p:nvPr/>
        </p:nvSpPr>
        <p:spPr>
          <a:xfrm>
            <a:off x="3065760" y="48279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 (2 espaços no fim)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01310-100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bloqueado (Informe nome e sobrenome.)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9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D3B2D8-09F8-4D34-85EA-C7182E69DDE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55"/>
          <p:cNvSpPr/>
          <p:nvPr/>
        </p:nvSpPr>
        <p:spPr>
          <a:xfrm>
            <a:off x="4572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1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amada UI 39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Chip EX-U5- 8"/>
          <p:cNvSpPr/>
          <p:nvPr/>
        </p:nvSpPr>
        <p:spPr>
          <a:xfrm>
            <a:off x="4572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cli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en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te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no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ch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ec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ko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10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386503-BBFE-4F8A-BADD-ACCF3C64FB6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1128240" y="1123560"/>
            <a:ext cx="9671760" cy="517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57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2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amada UI 40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Chip EX-U5- 9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Cartão Gherkin 18"/>
          <p:cNvSpPr/>
          <p:nvPr/>
        </p:nvSpPr>
        <p:spPr>
          <a:xfrm>
            <a:off x="2880000" y="15544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67"/>
          <p:cNvSpPr/>
          <p:nvPr/>
        </p:nvSpPr>
        <p:spPr>
          <a:xfrm>
            <a:off x="3108600" y="16916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69"/>
          <p:cNvSpPr/>
          <p:nvPr/>
        </p:nvSpPr>
        <p:spPr>
          <a:xfrm>
            <a:off x="3108600" y="19659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herkin 18"/>
          <p:cNvSpPr/>
          <p:nvPr/>
        </p:nvSpPr>
        <p:spPr>
          <a:xfrm>
            <a:off x="3108600" y="23774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a mensagem de exceção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é disparada informando o motivo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Exemplo desta evidência 18"/>
          <p:cNvSpPr/>
          <p:nvPr/>
        </p:nvSpPr>
        <p:spPr>
          <a:xfrm>
            <a:off x="3062880" y="44348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55"/>
          <p:cNvSpPr/>
          <p:nvPr/>
        </p:nvSpPr>
        <p:spPr>
          <a:xfrm>
            <a:off x="3245760" y="45262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2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arâmetros do exemplo 18"/>
          <p:cNvSpPr/>
          <p:nvPr/>
        </p:nvSpPr>
        <p:spPr>
          <a:xfrm>
            <a:off x="3245760" y="48279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(3 espaços)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01310-100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bloqueado (Informe o nome completo.)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Num" idx="11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8BB332-FF90-4BB0-ACB3-B5060675177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1"/>
          <p:cNvSpPr/>
          <p:nvPr/>
        </p:nvSpPr>
        <p:spPr>
          <a:xfrm>
            <a:off x="457200" y="4572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2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amada UI 1"/>
          <p:cNvSpPr/>
          <p:nvPr/>
        </p:nvSpPr>
        <p:spPr>
          <a:xfrm>
            <a:off x="10744200" y="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Chip EX-U5- 10"/>
          <p:cNvSpPr/>
          <p:nvPr/>
        </p:nvSpPr>
        <p:spPr>
          <a:xfrm>
            <a:off x="457200" y="43884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194560" y="36576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12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1B4E99-FE4B-459E-B683-67D96ACC6F1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1275840" y="1080000"/>
            <a:ext cx="9884160" cy="52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71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3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amada UI 27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Chip EX-U5- 3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Cartão Gherkin 6"/>
          <p:cNvSpPr/>
          <p:nvPr/>
        </p:nvSpPr>
        <p:spPr>
          <a:xfrm>
            <a:off x="457200" y="15544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3"/>
          <p:cNvSpPr/>
          <p:nvPr/>
        </p:nvSpPr>
        <p:spPr>
          <a:xfrm>
            <a:off x="2840040" y="16916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75"/>
          <p:cNvSpPr/>
          <p:nvPr/>
        </p:nvSpPr>
        <p:spPr>
          <a:xfrm>
            <a:off x="2840040" y="19659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herkin 6"/>
          <p:cNvSpPr/>
          <p:nvPr/>
        </p:nvSpPr>
        <p:spPr>
          <a:xfrm>
            <a:off x="2840040" y="23774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a mensagem de exceção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é disparada informando o motivo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Exemplo desta evidência 6"/>
          <p:cNvSpPr/>
          <p:nvPr/>
        </p:nvSpPr>
        <p:spPr>
          <a:xfrm>
            <a:off x="2794320" y="44348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77"/>
          <p:cNvSpPr/>
          <p:nvPr/>
        </p:nvSpPr>
        <p:spPr>
          <a:xfrm>
            <a:off x="2977200" y="45262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3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arâmetros do exemplo 6"/>
          <p:cNvSpPr/>
          <p:nvPr/>
        </p:nvSpPr>
        <p:spPr>
          <a:xfrm>
            <a:off x="2977200" y="48279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Silva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01310-100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bloqueado (Informe um e-mail válido.)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13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03C4E3-CF61-4775-B83A-F8E903C005F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10"/>
          <p:cNvSpPr/>
          <p:nvPr/>
        </p:nvSpPr>
        <p:spPr>
          <a:xfrm>
            <a:off x="3600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3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Camada UI 2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Chip EX-U5- 11"/>
          <p:cNvSpPr/>
          <p:nvPr/>
        </p:nvSpPr>
        <p:spPr>
          <a:xfrm>
            <a:off x="3600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20973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ldNum" idx="14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1F6371-6304-46D6-80D4-F11002500DC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1080000" y="1080000"/>
            <a:ext cx="9851760" cy="527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83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4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amada UI 28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Chip EX-U5- 4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Cartão Gherkin 7"/>
          <p:cNvSpPr/>
          <p:nvPr/>
        </p:nvSpPr>
        <p:spPr>
          <a:xfrm>
            <a:off x="2788560" y="14572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85"/>
          <p:cNvSpPr/>
          <p:nvPr/>
        </p:nvSpPr>
        <p:spPr>
          <a:xfrm>
            <a:off x="3017160" y="15944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87"/>
          <p:cNvSpPr/>
          <p:nvPr/>
        </p:nvSpPr>
        <p:spPr>
          <a:xfrm>
            <a:off x="3017160" y="18687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herkin 7"/>
          <p:cNvSpPr/>
          <p:nvPr/>
        </p:nvSpPr>
        <p:spPr>
          <a:xfrm>
            <a:off x="3017160" y="22802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 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CEP contém hífen na posição incorreta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a mensagem de exceção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é disparada informando o motivo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Exemplo desta evidência 7"/>
          <p:cNvSpPr/>
          <p:nvPr/>
        </p:nvSpPr>
        <p:spPr>
          <a:xfrm>
            <a:off x="2971440" y="43376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89"/>
          <p:cNvSpPr/>
          <p:nvPr/>
        </p:nvSpPr>
        <p:spPr>
          <a:xfrm>
            <a:off x="3154320" y="44290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4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arâmetros do exemplo 7"/>
          <p:cNvSpPr/>
          <p:nvPr/>
        </p:nvSpPr>
        <p:spPr>
          <a:xfrm>
            <a:off x="3154320" y="47307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Silva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0131-0100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bloqueado (Informe um CEP com 8 dígitos.)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15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CC59C5-49F8-47E5-94FB-E8463F33F8A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26"/>
          <p:cNvSpPr/>
          <p:nvPr/>
        </p:nvSpPr>
        <p:spPr>
          <a:xfrm>
            <a:off x="4536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4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Camada UI 3"/>
          <p:cNvSpPr/>
          <p:nvPr/>
        </p:nvSpPr>
        <p:spPr>
          <a:xfrm>
            <a:off x="10740600" y="2916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Chip EX-U5- 12"/>
          <p:cNvSpPr/>
          <p:nvPr/>
        </p:nvSpPr>
        <p:spPr>
          <a:xfrm>
            <a:off x="4536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1909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16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642ABA-562A-4FE3-8FE7-8181B4DF2B7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1128240" y="1142640"/>
            <a:ext cx="9671760" cy="515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94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5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amada UI 29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Chip EX-U5- 5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artão Gherkin 8"/>
          <p:cNvSpPr/>
          <p:nvPr/>
        </p:nvSpPr>
        <p:spPr>
          <a:xfrm>
            <a:off x="2968560" y="141732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95"/>
          <p:cNvSpPr/>
          <p:nvPr/>
        </p:nvSpPr>
        <p:spPr>
          <a:xfrm>
            <a:off x="3197160" y="155448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97"/>
          <p:cNvSpPr/>
          <p:nvPr/>
        </p:nvSpPr>
        <p:spPr>
          <a:xfrm>
            <a:off x="3197160" y="182880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herkin 8"/>
          <p:cNvSpPr/>
          <p:nvPr/>
        </p:nvSpPr>
        <p:spPr>
          <a:xfrm>
            <a:off x="3197160" y="224028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com espaçamento entre os dígitos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a mensagem de exceção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é disparada informando o motivo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Exemplo desta evidência 8"/>
          <p:cNvSpPr/>
          <p:nvPr/>
        </p:nvSpPr>
        <p:spPr>
          <a:xfrm>
            <a:off x="3151440" y="429768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98"/>
          <p:cNvSpPr/>
          <p:nvPr/>
        </p:nvSpPr>
        <p:spPr>
          <a:xfrm>
            <a:off x="3334320" y="438912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5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arâmetros do exemplo 8"/>
          <p:cNvSpPr/>
          <p:nvPr/>
        </p:nvSpPr>
        <p:spPr>
          <a:xfrm>
            <a:off x="3334320" y="469080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Silva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01310 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bloqueado (Informe um CEP com 8 dígitos.)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ldNum" idx="17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3E822B-EE31-4E49-85AE-92484016C4D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30"/>
          <p:cNvSpPr/>
          <p:nvPr/>
        </p:nvSpPr>
        <p:spPr>
          <a:xfrm>
            <a:off x="47088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5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amada UI 4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Chip EX-U5- 2"/>
          <p:cNvSpPr/>
          <p:nvPr/>
        </p:nvSpPr>
        <p:spPr>
          <a:xfrm>
            <a:off x="47088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</a:t>
            </a: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220824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sldNum" idx="18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E29AA9-CA49-443C-B7A4-1B8CB68DB81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1440000" y="1260000"/>
            <a:ext cx="9477720" cy="50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101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6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amada UI 30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Chip EX-U5- 6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artão Gherkin 9"/>
          <p:cNvSpPr/>
          <p:nvPr/>
        </p:nvSpPr>
        <p:spPr>
          <a:xfrm>
            <a:off x="2520000" y="15544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02"/>
          <p:cNvSpPr/>
          <p:nvPr/>
        </p:nvSpPr>
        <p:spPr>
          <a:xfrm>
            <a:off x="2748600" y="16916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03"/>
          <p:cNvSpPr/>
          <p:nvPr/>
        </p:nvSpPr>
        <p:spPr>
          <a:xfrm>
            <a:off x="2748600" y="19659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herkin 9"/>
          <p:cNvSpPr/>
          <p:nvPr/>
        </p:nvSpPr>
        <p:spPr>
          <a:xfrm>
            <a:off x="2748600" y="23774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as mensagens de erro exibidas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Exemplo desta evidência 9"/>
          <p:cNvSpPr/>
          <p:nvPr/>
        </p:nvSpPr>
        <p:spPr>
          <a:xfrm>
            <a:off x="2702880" y="44348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04"/>
          <p:cNvSpPr/>
          <p:nvPr/>
        </p:nvSpPr>
        <p:spPr>
          <a:xfrm>
            <a:off x="2885760" y="45262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6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arâmetros do exemplo 9"/>
          <p:cNvSpPr/>
          <p:nvPr/>
        </p:nvSpPr>
        <p:spPr>
          <a:xfrm>
            <a:off x="2885760" y="48279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(vazio)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(vazio)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(vazio)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bloqueado (campos obrigatórios)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ldNum" idx="19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E2FDE5-A774-42CB-83C3-F16A97A4EBE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31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6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amada UI 5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Chip EX-U5- 13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20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CE53A-2D2F-412E-AB56-D54EC3ECFD4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1260000" y="1406880"/>
            <a:ext cx="9540000" cy="507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107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7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amada UI 31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Chip EX-U5- 7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artão Gherkin 10"/>
          <p:cNvSpPr/>
          <p:nvPr/>
        </p:nvSpPr>
        <p:spPr>
          <a:xfrm>
            <a:off x="3148560" y="141732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08"/>
          <p:cNvSpPr/>
          <p:nvPr/>
        </p:nvSpPr>
        <p:spPr>
          <a:xfrm>
            <a:off x="3377160" y="155448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09"/>
          <p:cNvSpPr/>
          <p:nvPr/>
        </p:nvSpPr>
        <p:spPr>
          <a:xfrm>
            <a:off x="3377160" y="182880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herkin 10"/>
          <p:cNvSpPr/>
          <p:nvPr/>
        </p:nvSpPr>
        <p:spPr>
          <a:xfrm>
            <a:off x="3377160" y="224028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não apliquei o cupom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Exemplo desta evidência 10"/>
          <p:cNvSpPr/>
          <p:nvPr/>
        </p:nvSpPr>
        <p:spPr>
          <a:xfrm>
            <a:off x="3331440" y="429768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10"/>
          <p:cNvSpPr/>
          <p:nvPr/>
        </p:nvSpPr>
        <p:spPr>
          <a:xfrm>
            <a:off x="3514320" y="438912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7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arâmetros do exemplo 10"/>
          <p:cNvSpPr/>
          <p:nvPr/>
        </p:nvSpPr>
        <p:spPr>
          <a:xfrm>
            <a:off x="3514320" y="469080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Silva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01310-100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confirmado (pedido sem cupom)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21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5F62A8-592A-4480-ADD4-55FE4C3689E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35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7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amada UI 6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Chip EX-U5- 14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22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93C33D-45F8-42B8-ADD9-6613E6B04F5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1440000" y="1325160"/>
            <a:ext cx="9131760" cy="486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43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7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amada UI 7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Chip EX-U5- 15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</a:t>
            </a: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artão Gherkin 1"/>
          <p:cNvSpPr/>
          <p:nvPr/>
        </p:nvSpPr>
        <p:spPr>
          <a:xfrm>
            <a:off x="3148560" y="141732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47"/>
          <p:cNvSpPr/>
          <p:nvPr/>
        </p:nvSpPr>
        <p:spPr>
          <a:xfrm>
            <a:off x="3377160" y="155448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8"/>
          <p:cNvSpPr/>
          <p:nvPr/>
        </p:nvSpPr>
        <p:spPr>
          <a:xfrm>
            <a:off x="3377160" y="182880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Checkout e dados do cliente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herkin 1"/>
          <p:cNvSpPr/>
          <p:nvPr/>
        </p:nvSpPr>
        <p:spPr>
          <a:xfrm>
            <a:off x="3377160" y="224028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1 produto e cliquei em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"Finalizar compra"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apliquei o cupom BEMVINDO10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nome "&lt;nome&gt;", e-mail "&lt;email&gt;" e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CEP "&lt;cep&gt;"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Exemplo desta evidência 1"/>
          <p:cNvSpPr/>
          <p:nvPr/>
        </p:nvSpPr>
        <p:spPr>
          <a:xfrm>
            <a:off x="3331440" y="429768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9"/>
          <p:cNvSpPr/>
          <p:nvPr/>
        </p:nvSpPr>
        <p:spPr>
          <a:xfrm>
            <a:off x="3514320" y="438912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7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arâmetros do exemplo 1"/>
          <p:cNvSpPr/>
          <p:nvPr/>
        </p:nvSpPr>
        <p:spPr>
          <a:xfrm>
            <a:off x="3514320" y="469080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&lt;nome&gt;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 Silva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&lt;email&gt;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maria@exemplo.com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&lt;cep&gt;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01310-100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confirmado (pedido com desconto cupom)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ldNum" idx="23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038315-BBD4-4FBB-918C-2A36D9BC120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51"/>
          <p:cNvSpPr/>
          <p:nvPr/>
        </p:nvSpPr>
        <p:spPr>
          <a:xfrm>
            <a:off x="3600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CHECKOUT · EXEMPLO 7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amada UI 8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Chip EX-U5- 16"/>
          <p:cNvSpPr/>
          <p:nvPr/>
        </p:nvSpPr>
        <p:spPr>
          <a:xfrm>
            <a:off x="3600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EX-U5-07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20973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Dados do cliente no checkout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24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FAF7AF-3B0F-46E3-86AE-A7258429EED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1488240" y="1080000"/>
            <a:ext cx="9671760" cy="521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113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1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amada UI 32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Chip EX-U6- 1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artão Gherkin 11"/>
          <p:cNvSpPr/>
          <p:nvPr/>
        </p:nvSpPr>
        <p:spPr>
          <a:xfrm>
            <a:off x="2608560" y="162000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14"/>
          <p:cNvSpPr/>
          <p:nvPr/>
        </p:nvSpPr>
        <p:spPr>
          <a:xfrm>
            <a:off x="2837160" y="175716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15"/>
          <p:cNvSpPr/>
          <p:nvPr/>
        </p:nvSpPr>
        <p:spPr>
          <a:xfrm>
            <a:off x="2837160" y="203148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Interface e acessibilidade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herkin 11"/>
          <p:cNvSpPr/>
          <p:nvPr/>
        </p:nvSpPr>
        <p:spPr>
          <a:xfrm>
            <a:off x="2837160" y="244296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2 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abro "&lt;pagina&gt;" com &lt;condicao&gt;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layout não tem sobreposição nem rolagem horizontal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botões continuam acessíveis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Exemplo desta evidência 11"/>
          <p:cNvSpPr/>
          <p:nvPr/>
        </p:nvSpPr>
        <p:spPr>
          <a:xfrm>
            <a:off x="2791440" y="450036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16"/>
          <p:cNvSpPr/>
          <p:nvPr/>
        </p:nvSpPr>
        <p:spPr>
          <a:xfrm>
            <a:off x="2974320" y="45918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1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arâmetros do exemplo 11"/>
          <p:cNvSpPr/>
          <p:nvPr/>
        </p:nvSpPr>
        <p:spPr>
          <a:xfrm>
            <a:off x="2974320" y="489348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&lt;pagina&gt;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Home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&lt;condicao&gt;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largura de 360 px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sldNum" idx="25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02754A-3AA1-44FD-8723-3CB259301D1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52"/>
          <p:cNvSpPr/>
          <p:nvPr/>
        </p:nvSpPr>
        <p:spPr>
          <a:xfrm>
            <a:off x="4572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1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amada UI 9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Chip EX-U6- 6"/>
          <p:cNvSpPr/>
          <p:nvPr/>
        </p:nvSpPr>
        <p:spPr>
          <a:xfrm>
            <a:off x="4572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ldNum" idx="26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168DCC-CB52-4EDA-8F36-0658379AA0F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1"/>
          <a:stretch/>
        </p:blipFill>
        <p:spPr>
          <a:xfrm>
            <a:off x="540000" y="1104120"/>
            <a:ext cx="4500000" cy="5195880"/>
          </a:xfrm>
          <a:prstGeom prst="rect">
            <a:avLst/>
          </a:prstGeom>
          <a:ln w="0">
            <a:noFill/>
          </a:ln>
        </p:spPr>
      </p:pic>
      <p:pic>
        <p:nvPicPr>
          <p:cNvPr id="273" name="" descr=""/>
          <p:cNvPicPr/>
          <p:nvPr/>
        </p:nvPicPr>
        <p:blipFill>
          <a:blip r:embed="rId2"/>
          <a:stretch/>
        </p:blipFill>
        <p:spPr>
          <a:xfrm>
            <a:off x="7020000" y="1218960"/>
            <a:ext cx="4417920" cy="522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119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2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amada UI 33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Chip EX-U6- 2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artão Gherkin 12"/>
          <p:cNvSpPr/>
          <p:nvPr/>
        </p:nvSpPr>
        <p:spPr>
          <a:xfrm>
            <a:off x="3060000" y="144000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20"/>
          <p:cNvSpPr/>
          <p:nvPr/>
        </p:nvSpPr>
        <p:spPr>
          <a:xfrm>
            <a:off x="3288600" y="157716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21"/>
          <p:cNvSpPr/>
          <p:nvPr/>
        </p:nvSpPr>
        <p:spPr>
          <a:xfrm>
            <a:off x="3288600" y="185148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Interface e acessibilidade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herkin 12"/>
          <p:cNvSpPr/>
          <p:nvPr/>
        </p:nvSpPr>
        <p:spPr>
          <a:xfrm>
            <a:off x="3288600" y="226296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2 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abro "&lt;pagina&gt;" com &lt;condicao&gt;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layout não tem sobreposição nem rolagem horizontal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botões continuam acessíveis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Exemplo desta evidência 12"/>
          <p:cNvSpPr/>
          <p:nvPr/>
        </p:nvSpPr>
        <p:spPr>
          <a:xfrm>
            <a:off x="3242880" y="432036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22"/>
          <p:cNvSpPr/>
          <p:nvPr/>
        </p:nvSpPr>
        <p:spPr>
          <a:xfrm>
            <a:off x="3425760" y="44118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2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arâmetros do exemplo 12"/>
          <p:cNvSpPr/>
          <p:nvPr/>
        </p:nvSpPr>
        <p:spPr>
          <a:xfrm>
            <a:off x="3425760" y="471348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&lt;pagina&gt;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Carrinho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&lt;condicao&gt;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largura de 360 px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ldNum" idx="27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89018F-6449-4C6F-AE7C-7A47C853B8C3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53"/>
          <p:cNvSpPr/>
          <p:nvPr/>
        </p:nvSpPr>
        <p:spPr>
          <a:xfrm>
            <a:off x="4572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1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Camada UI 10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Chip EX-U6- 7"/>
          <p:cNvSpPr/>
          <p:nvPr/>
        </p:nvSpPr>
        <p:spPr>
          <a:xfrm>
            <a:off x="4572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sldNum" idx="28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91DAE6-22F4-43FF-B300-E80B911F9D09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360000" y="1080000"/>
            <a:ext cx="4711680" cy="5400000"/>
          </a:xfrm>
          <a:prstGeom prst="rect">
            <a:avLst/>
          </a:prstGeom>
          <a:ln w="0">
            <a:noFill/>
          </a:ln>
        </p:spPr>
      </p:pic>
      <p:pic>
        <p:nvPicPr>
          <p:cNvPr id="292" name="" descr=""/>
          <p:cNvPicPr/>
          <p:nvPr/>
        </p:nvPicPr>
        <p:blipFill>
          <a:blip r:embed="rId2"/>
          <a:stretch/>
        </p:blipFill>
        <p:spPr>
          <a:xfrm>
            <a:off x="7020000" y="1085760"/>
            <a:ext cx="4707000" cy="528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125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3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amada UI 34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Chip EX-U6- 3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artão Gherkin 13"/>
          <p:cNvSpPr/>
          <p:nvPr/>
        </p:nvSpPr>
        <p:spPr>
          <a:xfrm>
            <a:off x="3148560" y="135324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26"/>
          <p:cNvSpPr/>
          <p:nvPr/>
        </p:nvSpPr>
        <p:spPr>
          <a:xfrm>
            <a:off x="3377160" y="149040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27"/>
          <p:cNvSpPr/>
          <p:nvPr/>
        </p:nvSpPr>
        <p:spPr>
          <a:xfrm>
            <a:off x="3377160" y="176472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Interface e acessibilidade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herkin 13"/>
          <p:cNvSpPr/>
          <p:nvPr/>
        </p:nvSpPr>
        <p:spPr>
          <a:xfrm>
            <a:off x="3377160" y="217620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2 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abro "&lt;pagina&gt;" com &lt;condicao&gt;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layout não tem sobreposição nem rolagem horizontal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botões continuam acessíveis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Exemplo desta evidência 13"/>
          <p:cNvSpPr/>
          <p:nvPr/>
        </p:nvSpPr>
        <p:spPr>
          <a:xfrm>
            <a:off x="3331440" y="423360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28"/>
          <p:cNvSpPr/>
          <p:nvPr/>
        </p:nvSpPr>
        <p:spPr>
          <a:xfrm>
            <a:off x="3514320" y="432504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3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arâmetros do exemplo 13"/>
          <p:cNvSpPr/>
          <p:nvPr/>
        </p:nvSpPr>
        <p:spPr>
          <a:xfrm>
            <a:off x="3514320" y="462672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&lt;pagina&gt;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Home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&lt;condicao&gt;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largura de 768 px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ldNum" idx="29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3A561A-9383-4EBC-A9E5-E420CC93964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54"/>
          <p:cNvSpPr/>
          <p:nvPr/>
        </p:nvSpPr>
        <p:spPr>
          <a:xfrm>
            <a:off x="457200" y="4572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3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amada UI 11"/>
          <p:cNvSpPr/>
          <p:nvPr/>
        </p:nvSpPr>
        <p:spPr>
          <a:xfrm>
            <a:off x="10744200" y="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Chip EX-U6- 8"/>
          <p:cNvSpPr/>
          <p:nvPr/>
        </p:nvSpPr>
        <p:spPr>
          <a:xfrm>
            <a:off x="457200" y="43884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2194560" y="36576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ldNum" idx="30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4FE0A4-C35C-4842-B90E-8956CFC302B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2575800" y="1380600"/>
            <a:ext cx="6244200" cy="47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56"/>
          <p:cNvSpPr/>
          <p:nvPr/>
        </p:nvSpPr>
        <p:spPr>
          <a:xfrm>
            <a:off x="457200" y="4572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3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amada UI 12"/>
          <p:cNvSpPr/>
          <p:nvPr/>
        </p:nvSpPr>
        <p:spPr>
          <a:xfrm>
            <a:off x="10744200" y="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Chip EX-U6- 9"/>
          <p:cNvSpPr/>
          <p:nvPr/>
        </p:nvSpPr>
        <p:spPr>
          <a:xfrm>
            <a:off x="457200" y="43884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2194560" y="36576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sldNum" idx="31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9180EC-08F9-42C4-9271-71079A70E66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1"/>
          <a:stretch/>
        </p:blipFill>
        <p:spPr>
          <a:xfrm>
            <a:off x="2194560" y="1050840"/>
            <a:ext cx="7167600" cy="542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131"/>
          <p:cNvSpPr/>
          <p:nvPr/>
        </p:nvSpPr>
        <p:spPr>
          <a:xfrm>
            <a:off x="47088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4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amada UI 35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Chip EX-U6- 4"/>
          <p:cNvSpPr/>
          <p:nvPr/>
        </p:nvSpPr>
        <p:spPr>
          <a:xfrm>
            <a:off x="47088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220824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Cartão Gherkin 14"/>
          <p:cNvSpPr/>
          <p:nvPr/>
        </p:nvSpPr>
        <p:spPr>
          <a:xfrm>
            <a:off x="3060000" y="15544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32"/>
          <p:cNvSpPr/>
          <p:nvPr/>
        </p:nvSpPr>
        <p:spPr>
          <a:xfrm>
            <a:off x="3288600" y="16916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33"/>
          <p:cNvSpPr/>
          <p:nvPr/>
        </p:nvSpPr>
        <p:spPr>
          <a:xfrm>
            <a:off x="3288600" y="19659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Interface e acessibilidade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Gherkin 14"/>
          <p:cNvSpPr/>
          <p:nvPr/>
        </p:nvSpPr>
        <p:spPr>
          <a:xfrm>
            <a:off x="3288600" y="23774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2 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abro "&lt;pagina&gt;" com &lt;condicao&gt;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layout não tem sobreposição nem rolagem horizontal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botões continuam acessíveis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Exemplo desta evidência 14"/>
          <p:cNvSpPr/>
          <p:nvPr/>
        </p:nvSpPr>
        <p:spPr>
          <a:xfrm>
            <a:off x="3242880" y="44348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34"/>
          <p:cNvSpPr/>
          <p:nvPr/>
        </p:nvSpPr>
        <p:spPr>
          <a:xfrm>
            <a:off x="3425760" y="45262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4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arâmetros do exemplo 14"/>
          <p:cNvSpPr/>
          <p:nvPr/>
        </p:nvSpPr>
        <p:spPr>
          <a:xfrm>
            <a:off x="3425760" y="48279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&lt;pagina&gt;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Carrinho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&lt;condicao&gt;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largura de 1366 px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sldNum" idx="32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FC1BDA-7C35-4B36-BE5E-C3C52C4008C2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58"/>
          <p:cNvSpPr/>
          <p:nvPr/>
        </p:nvSpPr>
        <p:spPr>
          <a:xfrm>
            <a:off x="47088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4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amada UI 13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Chip EX-U6- 10"/>
          <p:cNvSpPr/>
          <p:nvPr/>
        </p:nvSpPr>
        <p:spPr>
          <a:xfrm>
            <a:off x="47088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220824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ldNum" idx="33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408B5D-DC49-4BC0-ABD4-CA03D5688894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2535480" y="1172880"/>
            <a:ext cx="6284520" cy="530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137"/>
          <p:cNvSpPr/>
          <p:nvPr/>
        </p:nvSpPr>
        <p:spPr>
          <a:xfrm>
            <a:off x="457200" y="32004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5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Camada UI 36"/>
          <p:cNvSpPr/>
          <p:nvPr/>
        </p:nvSpPr>
        <p:spPr>
          <a:xfrm>
            <a:off x="10744200" y="27432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Chip EX-U6- 5"/>
          <p:cNvSpPr/>
          <p:nvPr/>
        </p:nvSpPr>
        <p:spPr>
          <a:xfrm>
            <a:off x="457200" y="71316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artão Gherkin 15"/>
          <p:cNvSpPr/>
          <p:nvPr/>
        </p:nvSpPr>
        <p:spPr>
          <a:xfrm>
            <a:off x="3148560" y="1457280"/>
            <a:ext cx="5851440" cy="466272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38"/>
          <p:cNvSpPr/>
          <p:nvPr/>
        </p:nvSpPr>
        <p:spPr>
          <a:xfrm>
            <a:off x="3377160" y="1594440"/>
            <a:ext cx="5394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39"/>
          <p:cNvSpPr/>
          <p:nvPr/>
        </p:nvSpPr>
        <p:spPr>
          <a:xfrm>
            <a:off x="3377160" y="18687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Interface e acessibilidade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herkin 15"/>
          <p:cNvSpPr/>
          <p:nvPr/>
        </p:nvSpPr>
        <p:spPr>
          <a:xfrm>
            <a:off x="3377160" y="2280240"/>
            <a:ext cx="53942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tem 2 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abro "&lt;pagina&gt;" com &lt;condicao&gt;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layout não tem sobreposição nem rolagem horizontal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botões continuam acessíveis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Exemplo desta evidência 15"/>
          <p:cNvSpPr/>
          <p:nvPr/>
        </p:nvSpPr>
        <p:spPr>
          <a:xfrm>
            <a:off x="3331440" y="4337640"/>
            <a:ext cx="5485680" cy="164520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40"/>
          <p:cNvSpPr/>
          <p:nvPr/>
        </p:nvSpPr>
        <p:spPr>
          <a:xfrm>
            <a:off x="3514320" y="442908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EXEMPLOS · LINHA 5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arâmetros do exemplo 15"/>
          <p:cNvSpPr/>
          <p:nvPr/>
        </p:nvSpPr>
        <p:spPr>
          <a:xfrm>
            <a:off x="3514320" y="4730760"/>
            <a:ext cx="51199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&lt;pagina&gt;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Carrinho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&lt;condicao&gt;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zoom de 200%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ldNum" idx="34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858375-AD7A-475B-B7A6-17BC05F2F42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59"/>
          <p:cNvSpPr/>
          <p:nvPr/>
        </p:nvSpPr>
        <p:spPr>
          <a:xfrm>
            <a:off x="4572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5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amada UI 14"/>
          <p:cNvSpPr/>
          <p:nvPr/>
        </p:nvSpPr>
        <p:spPr>
          <a:xfrm>
            <a:off x="10744200" y="2916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Chip EX-U6- 11"/>
          <p:cNvSpPr/>
          <p:nvPr/>
        </p:nvSpPr>
        <p:spPr>
          <a:xfrm>
            <a:off x="4572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Responsividade e zoom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sldNum" idx="35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5CF484-8007-420E-9027-544B38627E0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2" name="" descr=""/>
          <p:cNvPicPr/>
          <p:nvPr/>
        </p:nvPicPr>
        <p:blipFill>
          <a:blip r:embed="rId1"/>
          <a:stretch/>
        </p:blipFill>
        <p:spPr>
          <a:xfrm>
            <a:off x="1620000" y="1080000"/>
            <a:ext cx="9622800" cy="513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60"/>
          <p:cNvSpPr/>
          <p:nvPr/>
        </p:nvSpPr>
        <p:spPr>
          <a:xfrm>
            <a:off x="457200" y="74880"/>
            <a:ext cx="960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chemeClr val="accent1"/>
                </a:solidFill>
                <a:latin typeface="Calibri"/>
              </a:rPr>
              <a:t>UI · EXPLORATÓRIO · INTERFACE · EXEMPLO 5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amada UI 15"/>
          <p:cNvSpPr/>
          <p:nvPr/>
        </p:nvSpPr>
        <p:spPr>
          <a:xfrm>
            <a:off x="10744200" y="29160"/>
            <a:ext cx="959400" cy="38340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Chip EX-U6- 12"/>
          <p:cNvSpPr/>
          <p:nvPr/>
        </p:nvSpPr>
        <p:spPr>
          <a:xfrm>
            <a:off x="457200" y="468000"/>
            <a:ext cx="159948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EX-U6-05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7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Resp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onsi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vida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de e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zoo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ldNum" idx="36"/>
          </p:nvPr>
        </p:nvSpPr>
        <p:spPr>
          <a:xfrm>
            <a:off x="11137320" y="6446520"/>
            <a:ext cx="593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2DDA04-8921-4A25-84F8-755C02C5C7E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8" name="" descr=""/>
          <p:cNvPicPr/>
          <p:nvPr/>
        </p:nvPicPr>
        <p:blipFill>
          <a:blip r:embed="rId1"/>
          <a:stretch/>
        </p:blipFill>
        <p:spPr>
          <a:xfrm>
            <a:off x="1128240" y="1080000"/>
            <a:ext cx="10211760" cy="543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2026-10-08T22:16:19Z</dcterms:created>
  <dc:creator>PptxGenJS</dc:creator>
  <dc:description/>
  <dc:language>pt-BR</dc:language>
  <cp:lastModifiedBy/>
  <dcterms:modified xsi:type="dcterms:W3CDTF">2026-10-09T10:28:15Z</dcterms:modified>
  <cp:revision>9</cp:revision>
  <dc:subject>PptxGenJS Presentation</dc:subject>
  <dc:title>Verzel Store – Execução manual: exploratórios (VZS-142)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61</vt:r8>
  </property>
  <property fmtid="{D5CDD505-2E9C-101B-9397-08002B2CF9AE}" pid="3" name="PresentationFormat">
    <vt:lpwstr>On-screen Show (16:9)</vt:lpwstr>
  </property>
  <property fmtid="{D5CDD505-2E9C-101B-9397-08002B2CF9AE}" pid="4" name="Slides">
    <vt:r8>61</vt:r8>
  </property>
</Properties>
</file>