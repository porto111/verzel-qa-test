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3.png" ContentType="image/png"/>
  <Override PartName="/ppt/media/image4.png" ContentType="image/png"/>
  <Override PartName="/ppt/media/image9.png" ContentType="image/png"/>
  <Override PartName="/ppt/media/image18.png" ContentType="image/png"/>
  <Override PartName="/ppt/media/image20.png" ContentType="image/png"/>
  <Override PartName="/ppt/media/image12.png" ContentType="image/png"/>
  <Override PartName="/ppt/media/image3.png" ContentType="image/png"/>
  <Override PartName="/ppt/media/image8.png" ContentType="image/png"/>
  <Override PartName="/ppt/media/image17.png" ContentType="image/png"/>
  <Override PartName="/ppt/media/image11.png" ContentType="image/png"/>
  <Override PartName="/ppt/media/image2.png" ContentType="image/png"/>
  <Override PartName="/ppt/media/image24.png" ContentType="image/png"/>
  <Override PartName="/ppt/media/image23.png" ContentType="image/png"/>
  <Override PartName="/ppt/media/image22.png" ContentType="image/png"/>
  <Override PartName="/ppt/media/image21.png" ContentType="image/png"/>
  <Override PartName="/ppt/media/image19.png" ContentType="image/png"/>
  <Override PartName="/ppt/media/image5.png" ContentType="image/png"/>
  <Override PartName="/ppt/media/image14.png" ContentType="image/png"/>
  <Override PartName="/ppt/media/image6.png" ContentType="image/png"/>
  <Override PartName="/ppt/media/image15.png" ContentType="image/png"/>
  <Override PartName="/ppt/media/image10.png" ContentType="image/png"/>
  <Override PartName="/ppt/media/image1.png" ContentType="image/png"/>
  <Override PartName="/ppt/media/image7.png" ContentType="image/png"/>
  <Override PartName="/ppt/media/image16.png" ContentType="image/png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46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47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8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37.xml" ContentType="application/vnd.openxmlformats-officedocument.presentationml.slide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19.xml.rels" ContentType="application/vnd.openxmlformats-package.relationships+xml"/>
  <Override PartName="/ppt/slides/_rels/slide22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30.xml.rels" ContentType="application/vnd.openxmlformats-package.relationships+xml"/>
  <Override PartName="/ppt/slides/_rels/slide31.xml.rels" ContentType="application/vnd.openxmlformats-package.relationships+xml"/>
  <Override PartName="/ppt/slides/_rels/slide32.xml.rels" ContentType="application/vnd.openxmlformats-package.relationships+xml"/>
  <Override PartName="/ppt/slides/_rels/slide33.xml.rels" ContentType="application/vnd.openxmlformats-package.relationships+xml"/>
  <Override PartName="/ppt/slides/_rels/slide34.xml.rels" ContentType="application/vnd.openxmlformats-package.relationships+xml"/>
  <Override PartName="/ppt/slides/_rels/slide35.xml.rels" ContentType="application/vnd.openxmlformats-package.relationships+xml"/>
  <Override PartName="/ppt/slides/_rels/slide36.xml.rels" ContentType="application/vnd.openxmlformats-package.relationships+xml"/>
  <Override PartName="/ppt/slides/_rels/slide53.xml.rels" ContentType="application/vnd.openxmlformats-package.relationships+xml"/>
  <Override PartName="/ppt/slides/_rels/slide52.xml.rels" ContentType="application/vnd.openxmlformats-package.relationships+xml"/>
  <Override PartName="/ppt/slides/_rels/slide49.xml.rels" ContentType="application/vnd.openxmlformats-package.relationships+xml"/>
  <Override PartName="/ppt/slides/_rels/slide12.xml.rels" ContentType="application/vnd.openxmlformats-package.relationships+xml"/>
  <Override PartName="/ppt/slides/_rels/slide51.xml.rels" ContentType="application/vnd.openxmlformats-package.relationships+xml"/>
  <Override PartName="/ppt/slides/_rels/slide13.xml.rels" ContentType="application/vnd.openxmlformats-package.relationships+xml"/>
  <Override PartName="/ppt/slides/_rels/slide47.xml.rels" ContentType="application/vnd.openxmlformats-package.relationships+xml"/>
  <Override PartName="/ppt/slides/_rels/slide10.xml.rels" ContentType="application/vnd.openxmlformats-package.relationships+xml"/>
  <Override PartName="/ppt/slides/_rels/slide45.xml.rels" ContentType="application/vnd.openxmlformats-package.relationships+xml"/>
  <Override PartName="/ppt/slides/_rels/slide46.xml.rels" ContentType="application/vnd.openxmlformats-package.relationships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28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37.xml.rels" ContentType="application/vnd.openxmlformats-package.relationships+xml"/>
  <Override PartName="/ppt/slides/_rels/slide29.xml.rels" ContentType="application/vnd.openxmlformats-package.relationships+xml"/>
  <Override PartName="/ppt/slides/_rels/slide11.xml.rels" ContentType="application/vnd.openxmlformats-package.relationships+xml"/>
  <Override PartName="/ppt/slides/_rels/slide48.xml.rels" ContentType="application/vnd.openxmlformats-package.relationships+xml"/>
  <Override PartName="/ppt/slides/_rels/slide50.xml.rels" ContentType="application/vnd.openxmlformats-package.relationships+xml"/>
  <Override PartName="/ppt/slides/_rels/slide38.xml.rels" ContentType="application/vnd.openxmlformats-package.relationships+xml"/>
  <Override PartName="/ppt/slides/_rels/slide40.xml.rels" ContentType="application/vnd.openxmlformats-package.relationships+xml"/>
  <Override PartName="/ppt/slides/_rels/slide3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42.xml.rels" ContentType="application/vnd.openxmlformats-package.relationships+xml"/>
  <Override PartName="/ppt/slides/_rels/slide43.xml.rels" ContentType="application/vnd.openxmlformats-package.relationships+xml"/>
  <Override PartName="/ppt/slides/_rels/slide44.xml.rels" ContentType="application/vnd.openxmlformats-package.relationships+xml"/>
  <Override PartName="/ppt/slides/_rels/slide39.xml.rels" ContentType="application/vnd.openxmlformats-package.relationships+xml"/>
  <Override PartName="/ppt/slides/_rels/slide41.xml.rels" ContentType="application/vnd.openxmlformats-package.relationships+xml"/>
  <Override PartName="/ppt/slides/slide38.xml" ContentType="application/vnd.openxmlformats-officedocument.presentationml.slide+xml"/>
  <Override PartName="/ppt/slides/slide40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39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4.xml" ContentType="application/vnd.openxmlformats-officedocument.presentationml.slide+xml"/>
  <Override PartName="/ppt/slides/slide12.xml" ContentType="application/vnd.openxmlformats-officedocument.presentationml.slide+xml"/>
  <Override PartName="/ppt/slides/slide49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36.xml" ContentType="application/vnd.openxmlformats-officedocument.presentationml.slide+xml"/>
  <Override PartName="/ppt/slides/slide35.xml" ContentType="application/vnd.openxmlformats-officedocument.presentationml.slide+xml"/>
  <Override PartName="/ppt/slides/slide34.xml" ContentType="application/vnd.openxmlformats-officedocument.presentationml.slide+xml"/>
  <Override PartName="/ppt/slides/slide33.xml" ContentType="application/vnd.openxmlformats-officedocument.presentationml.slide+xml"/>
  <Override PartName="/ppt/slides/slide32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notesSlides/notesSlide2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_rels/notesSlide47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49.xml.rels" ContentType="application/vnd.openxmlformats-package.relationships+xml"/>
  <Override PartName="/ppt/notesSlides/_rels/notesSlide3.xml.rels" ContentType="application/vnd.openxmlformats-package.relationships+xml"/>
  <Override PartName="/ppt/notesSlides/_rels/notesSlide30.xml.rels" ContentType="application/vnd.openxmlformats-package.relationships+xml"/>
  <Override PartName="/ppt/notesSlides/_rels/notesSlide29.xml.rels" ContentType="application/vnd.openxmlformats-package.relationships+xml"/>
  <Override PartName="/ppt/notesSlides/_rels/notesSlide31.xml.rels" ContentType="application/vnd.openxmlformats-package.relationships+xml"/>
  <Override PartName="/ppt/notesSlides/_rels/notesSlide32.xml.rels" ContentType="application/vnd.openxmlformats-package.relationships+xml"/>
  <Override PartName="/ppt/notesSlides/_rels/notesSlide33.xml.rels" ContentType="application/vnd.openxmlformats-package.relationships+xml"/>
  <Override PartName="/ppt/notesSlides/_rels/notesSlide34.xml.rels" ContentType="application/vnd.openxmlformats-package.relationships+xml"/>
  <Override PartName="/ppt/notesSlides/_rels/notesSlide35.xml.rels" ContentType="application/vnd.openxmlformats-package.relationships+xml"/>
  <Override PartName="/ppt/notesSlides/_rels/notesSlide36.xml.rels" ContentType="application/vnd.openxmlformats-package.relationships+xml"/>
  <Override PartName="/ppt/notesSlides/_rels/notesSlide37.xml.rels" ContentType="application/vnd.openxmlformats-package.relationships+xml"/>
  <Override PartName="/ppt/notesSlides/_rels/notesSlide53.xml.rels" ContentType="application/vnd.openxmlformats-package.relationships+xml"/>
  <Override PartName="/ppt/notesSlides/_rels/notesSlide52.xml.rels" ContentType="application/vnd.openxmlformats-package.relationships+xml"/>
  <Override PartName="/ppt/notesSlides/_rels/notesSlide51.xml.rels" ContentType="application/vnd.openxmlformats-package.relationships+xml"/>
  <Override PartName="/ppt/notesSlides/_rels/notesSlide48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4.xml.rels" ContentType="application/vnd.openxmlformats-package.relationships+xml"/>
  <Override PartName="/ppt/notesSlides/_rels/notesSlide50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8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9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27.xml.rels" ContentType="application/vnd.openxmlformats-package.relationships+xml"/>
  <Override PartName="/ppt/notesSlides/_rels/notesSlide28.xml.rels" ContentType="application/vnd.openxmlformats-package.relationships+xml"/>
  <Override PartName="/ppt/notesSlides/_rels/notesSlide38.xml.rels" ContentType="application/vnd.openxmlformats-package.relationships+xml"/>
  <Override PartName="/ppt/notesSlides/_rels/notesSlide40.xml.rels" ContentType="application/vnd.openxmlformats-package.relationships+xml"/>
  <Override PartName="/ppt/notesSlides/_rels/notesSlide42.xml.rels" ContentType="application/vnd.openxmlformats-package.relationships+xml"/>
  <Override PartName="/ppt/notesSlides/_rels/notesSlide43.xml.rels" ContentType="application/vnd.openxmlformats-package.relationships+xml"/>
  <Override PartName="/ppt/notesSlides/_rels/notesSlide44.xml.rels" ContentType="application/vnd.openxmlformats-package.relationships+xml"/>
  <Override PartName="/ppt/notesSlides/_rels/notesSlide45.xml.rels" ContentType="application/vnd.openxmlformats-package.relationships+xml"/>
  <Override PartName="/ppt/notesSlides/_rels/notesSlide46.xml.rels" ContentType="application/vnd.openxmlformats-package.relationships+xml"/>
  <Override PartName="/ppt/notesSlides/_rels/notesSlide39.xml.rels" ContentType="application/vnd.openxmlformats-package.relationships+xml"/>
  <Override PartName="/ppt/notesSlides/_rels/notesSlide41.xml.rels" ContentType="application/vnd.openxmlformats-package.relationships+xml"/>
  <Override PartName="/ppt/notesSlides/notesSlide53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4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Clique para 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mover o 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slide</a:t>
            </a: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Clique para editar o </a:t>
            </a: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formato de notas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&lt;cabeçalho&gt;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dt" idx="3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ftr" idx="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6"/>
          <p:cNvSpPr>
            <a:spLocks noGrp="1"/>
          </p:cNvSpPr>
          <p:nvPr>
            <p:ph type="sldNum" idx="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DB5866BA-4FE1-4BFB-86E2-4854583A253B}" type="slidenum"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PlaceHolder 3"/>
          <p:cNvSpPr>
            <a:spLocks noGrp="1"/>
          </p:cNvSpPr>
          <p:nvPr>
            <p:ph type="sldNum" idx="5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E8A1378-9BB9-4C55-B26A-A64ACC9FBCD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PlaceHolder 3"/>
          <p:cNvSpPr>
            <a:spLocks noGrp="1"/>
          </p:cNvSpPr>
          <p:nvPr>
            <p:ph type="sldNum" idx="5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1BAB116-017F-4AAD-93A7-DA01576B4D3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PlaceHolder 3"/>
          <p:cNvSpPr>
            <a:spLocks noGrp="1"/>
          </p:cNvSpPr>
          <p:nvPr>
            <p:ph type="sldNum" idx="6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20D55CE-23B8-47AE-BCAF-34BDE65B204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PlaceHolder 3"/>
          <p:cNvSpPr>
            <a:spLocks noGrp="1"/>
          </p:cNvSpPr>
          <p:nvPr>
            <p:ph type="sldNum" idx="6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B893C7A-90CA-4E36-A3A7-B4A6F91B76B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PlaceHolder 3"/>
          <p:cNvSpPr>
            <a:spLocks noGrp="1"/>
          </p:cNvSpPr>
          <p:nvPr>
            <p:ph type="sldNum" idx="6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19C935A-BE49-4376-B9EB-211EFF9665C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PlaceHolder 3"/>
          <p:cNvSpPr>
            <a:spLocks noGrp="1"/>
          </p:cNvSpPr>
          <p:nvPr>
            <p:ph type="sldNum" idx="6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23B52E0-3EA0-4646-ABF9-337DFBA7D9C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PlaceHolder 3"/>
          <p:cNvSpPr>
            <a:spLocks noGrp="1"/>
          </p:cNvSpPr>
          <p:nvPr>
            <p:ph type="sldNum" idx="6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32DD745-4216-4241-B8A0-D405F6179FF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PlaceHolder 3"/>
          <p:cNvSpPr>
            <a:spLocks noGrp="1"/>
          </p:cNvSpPr>
          <p:nvPr>
            <p:ph type="sldNum" idx="6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C4A5457-FF9E-47E2-AFA1-46DCA42F9BC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PlaceHolder 3"/>
          <p:cNvSpPr>
            <a:spLocks noGrp="1"/>
          </p:cNvSpPr>
          <p:nvPr>
            <p:ph type="sldNum" idx="6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AB90D4B-80F7-4BB1-B16C-F98503F56D4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PlaceHolder 3"/>
          <p:cNvSpPr>
            <a:spLocks noGrp="1"/>
          </p:cNvSpPr>
          <p:nvPr>
            <p:ph type="sldNum" idx="6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185BE4E-F436-4346-A63D-5409EF827BF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7BBF21D-2EB5-471A-A16F-86314C81409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3D7D823-88B3-4EE0-BC56-BC280ED11B2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4D9262B-ABAE-4433-B97E-FFE7B6F42C6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PlaceHolder 3"/>
          <p:cNvSpPr>
            <a:spLocks noGrp="1"/>
          </p:cNvSpPr>
          <p:nvPr>
            <p:ph type="sldNum" idx="7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894F28C-00C2-4507-8414-558AF3C3B46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PlaceHolder 3"/>
          <p:cNvSpPr>
            <a:spLocks noGrp="1"/>
          </p:cNvSpPr>
          <p:nvPr>
            <p:ph type="sldNum" idx="7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648FDE7-328F-48E1-80D9-972235ADE55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PlaceHolder 3"/>
          <p:cNvSpPr>
            <a:spLocks noGrp="1"/>
          </p:cNvSpPr>
          <p:nvPr>
            <p:ph type="sldNum" idx="7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D655612-0F18-4AD9-8A81-554F159E88E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PlaceHolder 3"/>
          <p:cNvSpPr>
            <a:spLocks noGrp="1"/>
          </p:cNvSpPr>
          <p:nvPr>
            <p:ph type="sldNum" idx="7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B09C776-ACEA-4DBC-A34A-6B77218A92A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PlaceHolder 3"/>
          <p:cNvSpPr>
            <a:spLocks noGrp="1"/>
          </p:cNvSpPr>
          <p:nvPr>
            <p:ph type="sldNum" idx="7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AECE6E9-0BFB-4477-930B-3B01F217525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PlaceHolder 3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7221EE5-326B-4DFA-9AAE-CDE92393C7F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PlaceHolder 3"/>
          <p:cNvSpPr>
            <a:spLocks noGrp="1"/>
          </p:cNvSpPr>
          <p:nvPr>
            <p:ph type="sldNum" idx="7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06176AF-0CD2-4C5F-A766-2044547B8B6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PlaceHolder 3"/>
          <p:cNvSpPr>
            <a:spLocks noGrp="1"/>
          </p:cNvSpPr>
          <p:nvPr>
            <p:ph type="sldNum" idx="7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C678C5A-6F01-4CDC-BE7B-4E4D940337A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PlaceHolder 3"/>
          <p:cNvSpPr>
            <a:spLocks noGrp="1"/>
          </p:cNvSpPr>
          <p:nvPr>
            <p:ph type="sldNum" idx="7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A783D73-37F4-4CA4-A9F4-3BAAB99A191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PlaceHolder 3"/>
          <p:cNvSpPr>
            <a:spLocks noGrp="1"/>
          </p:cNvSpPr>
          <p:nvPr>
            <p:ph type="sldNum" idx="8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60A115A-B398-4406-A51F-A0C0821EA7C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PlaceHolder 3"/>
          <p:cNvSpPr>
            <a:spLocks noGrp="1"/>
          </p:cNvSpPr>
          <p:nvPr>
            <p:ph type="sldNum" idx="8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B3CFF3E-BC52-4949-A9F2-3231C08EBEF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PlaceHolder 3"/>
          <p:cNvSpPr>
            <a:spLocks noGrp="1"/>
          </p:cNvSpPr>
          <p:nvPr>
            <p:ph type="sldNum" idx="8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22420DF-0C5D-4BD2-BF15-EFBFA2F995B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PlaceHolder 3"/>
          <p:cNvSpPr>
            <a:spLocks noGrp="1"/>
          </p:cNvSpPr>
          <p:nvPr>
            <p:ph type="sldNum" idx="8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9B2FA70-4942-4566-B2A9-7679A55FE99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PlaceHolder 3"/>
          <p:cNvSpPr>
            <a:spLocks noGrp="1"/>
          </p:cNvSpPr>
          <p:nvPr>
            <p:ph type="sldNum" idx="8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6AA0FE4-1DFF-4727-A49B-01FBE16FD0C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PlaceHolder 3"/>
          <p:cNvSpPr>
            <a:spLocks noGrp="1"/>
          </p:cNvSpPr>
          <p:nvPr>
            <p:ph type="sldNum" idx="8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752DA5B-05CE-40B3-AD0F-76ED86BB71B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PlaceHolder 3"/>
          <p:cNvSpPr>
            <a:spLocks noGrp="1"/>
          </p:cNvSpPr>
          <p:nvPr>
            <p:ph type="sldNum" idx="8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B6C33F4-45EF-4646-9982-EFE7B1737D2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PlaceHolder 3"/>
          <p:cNvSpPr>
            <a:spLocks noGrp="1"/>
          </p:cNvSpPr>
          <p:nvPr>
            <p:ph type="sldNum" idx="8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4453402-C11A-4079-B131-A28F59F430B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PlaceHolder 3"/>
          <p:cNvSpPr>
            <a:spLocks noGrp="1"/>
          </p:cNvSpPr>
          <p:nvPr>
            <p:ph type="sldNum" idx="8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604FA96-E33D-47EB-959E-E589B24C929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PlaceHolder 3"/>
          <p:cNvSpPr>
            <a:spLocks noGrp="1"/>
          </p:cNvSpPr>
          <p:nvPr>
            <p:ph type="sldNum" idx="8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200DDAA-407B-4FBE-AE4B-8C77A17C9EC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PlaceHolder 3"/>
          <p:cNvSpPr>
            <a:spLocks noGrp="1"/>
          </p:cNvSpPr>
          <p:nvPr>
            <p:ph type="sldNum" idx="9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41C4E7E-BEB8-4572-81D9-E6F840249F8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PlaceHolder 3"/>
          <p:cNvSpPr>
            <a:spLocks noGrp="1"/>
          </p:cNvSpPr>
          <p:nvPr>
            <p:ph type="sldNum" idx="9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FD57355-67D2-4533-9D8D-08C1D6B8678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PlaceHolder 3"/>
          <p:cNvSpPr>
            <a:spLocks noGrp="1"/>
          </p:cNvSpPr>
          <p:nvPr>
            <p:ph type="sldNum" idx="9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24079D2-7723-4934-9850-AB3861A89A3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PlaceHolder 3"/>
          <p:cNvSpPr>
            <a:spLocks noGrp="1"/>
          </p:cNvSpPr>
          <p:nvPr>
            <p:ph type="sldNum" idx="9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68A6A65-3ACB-4223-8A98-BEE4650FD05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PlaceHolder 3"/>
          <p:cNvSpPr>
            <a:spLocks noGrp="1"/>
          </p:cNvSpPr>
          <p:nvPr>
            <p:ph type="sldNum" idx="9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77DE069-1061-487C-8083-BBE5D7BB61D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PlaceHolder 3"/>
          <p:cNvSpPr>
            <a:spLocks noGrp="1"/>
          </p:cNvSpPr>
          <p:nvPr>
            <p:ph type="sldNum" idx="9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7ED1B6F-80A0-46C3-ACD7-15D1C6C0C79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PlaceHolder 3"/>
          <p:cNvSpPr>
            <a:spLocks noGrp="1"/>
          </p:cNvSpPr>
          <p:nvPr>
            <p:ph type="sldNum" idx="9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EEC6E21-C0E7-450A-99DC-45B53821436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PlaceHolder 3"/>
          <p:cNvSpPr>
            <a:spLocks noGrp="1"/>
          </p:cNvSpPr>
          <p:nvPr>
            <p:ph type="sldNum" idx="9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F2B5BFF-E367-4E26-BA8C-65B4DE72E16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PlaceHolder 3"/>
          <p:cNvSpPr>
            <a:spLocks noGrp="1"/>
          </p:cNvSpPr>
          <p:nvPr>
            <p:ph type="sldNum" idx="9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15CE618-65D0-4E4D-888C-A288B05D826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PlaceHolder 3"/>
          <p:cNvSpPr>
            <a:spLocks noGrp="1"/>
          </p:cNvSpPr>
          <p:nvPr>
            <p:ph type="sldNum" idx="9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CC8F4AB-7ED1-43F5-9A68-CA26F04940B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PlaceHolder 3"/>
          <p:cNvSpPr>
            <a:spLocks noGrp="1"/>
          </p:cNvSpPr>
          <p:nvPr>
            <p:ph type="sldNum" idx="10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051D6DF-BA17-4E46-BAB8-29E43C8793B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PlaceHolder 3"/>
          <p:cNvSpPr>
            <a:spLocks noGrp="1"/>
          </p:cNvSpPr>
          <p:nvPr>
            <p:ph type="sldNum" idx="10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B566D7B-746E-4585-A72D-043E69245FD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PlaceHolder 3"/>
          <p:cNvSpPr>
            <a:spLocks noGrp="1"/>
          </p:cNvSpPr>
          <p:nvPr>
            <p:ph type="sldNum" idx="10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42D8849-C05E-4FD2-9874-F42FEB19CE1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PlaceHolder 3"/>
          <p:cNvSpPr>
            <a:spLocks noGrp="1"/>
          </p:cNvSpPr>
          <p:nvPr>
            <p:ph type="sldNum" idx="10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18F3DE9-3738-4103-BEAF-C4D79F5509F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PlaceHolder 3"/>
          <p:cNvSpPr>
            <a:spLocks noGrp="1"/>
          </p:cNvSpPr>
          <p:nvPr>
            <p:ph type="sldNum" idx="10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927AA84-14B5-4C25-98DA-ACE7153EE9D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PlaceHolder 3"/>
          <p:cNvSpPr>
            <a:spLocks noGrp="1"/>
          </p:cNvSpPr>
          <p:nvPr>
            <p:ph type="sldNum" idx="10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C8F8D3B-7F73-4C7D-8C4E-2762B4C19A2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PlaceHolder 3"/>
          <p:cNvSpPr>
            <a:spLocks noGrp="1"/>
          </p:cNvSpPr>
          <p:nvPr>
            <p:ph type="sldNum" idx="10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72F65B2-D41E-4FA9-85BE-A50E6092838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PlaceHolder 3"/>
          <p:cNvSpPr>
            <a:spLocks noGrp="1"/>
          </p:cNvSpPr>
          <p:nvPr>
            <p:ph type="sldNum" idx="10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376721E-17CC-427D-96E5-0FCDFFDAD45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PlaceHolder 3"/>
          <p:cNvSpPr>
            <a:spLocks noGrp="1"/>
          </p:cNvSpPr>
          <p:nvPr>
            <p:ph type="sldNum" idx="10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97701D6-D05E-4977-9C5A-60B98427AA8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PlaceHolder 3"/>
          <p:cNvSpPr>
            <a:spLocks noGrp="1"/>
          </p:cNvSpPr>
          <p:nvPr>
            <p:ph type="sldNum" idx="10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9692CB8-C0DA-44D4-A8AA-E6A0010CC97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PlaceHolder 3"/>
          <p:cNvSpPr>
            <a:spLocks noGrp="1"/>
          </p:cNvSpPr>
          <p:nvPr>
            <p:ph type="sldNum" idx="11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0CEECF5-8140-47DA-B7C0-42A891F909A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U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FFCF03BE-9528-46CC-99DD-D7851F90E483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AR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99B4E7C-7D1F-4084-8F05-AA362F06B16A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pc="-1" strike="noStrike">
                <a:solidFill>
                  <a:srgbClr val="ffffff"/>
                </a:solidFill>
                <a:latin typeface="Arial"/>
              </a:rPr>
              <a:t>Clique para </a:t>
            </a:r>
            <a:r>
              <a:rPr b="0" lang="pt-BR" sz="4400" spc="-1" strike="noStrike">
                <a:solidFill>
                  <a:srgbClr val="ffffff"/>
                </a:solidFill>
                <a:latin typeface="Arial"/>
              </a:rPr>
              <a:t>editar o </a:t>
            </a:r>
            <a:r>
              <a:rPr b="0" lang="pt-BR" sz="4400" spc="-1" strike="noStrike">
                <a:solidFill>
                  <a:srgbClr val="ffffff"/>
                </a:solidFill>
                <a:latin typeface="Arial"/>
              </a:rPr>
              <a:t>formato do </a:t>
            </a:r>
            <a:r>
              <a:rPr b="0" lang="pt-BR" sz="4400" spc="-1" strike="noStrike">
                <a:solidFill>
                  <a:srgbClr val="ffffff"/>
                </a:solidFill>
                <a:latin typeface="Arial"/>
              </a:rPr>
              <a:t>texto do </a:t>
            </a:r>
            <a:r>
              <a:rPr b="0" lang="pt-BR" sz="4400" spc="-1" strike="noStrike">
                <a:solidFill>
                  <a:srgbClr val="ffffff"/>
                </a:solidFill>
                <a:latin typeface="Arial"/>
              </a:rPr>
              <a:t>título</a:t>
            </a:r>
            <a:endParaRPr b="0" lang="pt-BR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pt-BR" sz="3200" spc="-1" strike="noStrike">
                <a:solidFill>
                  <a:srgbClr val="ffffff"/>
                </a:solidFill>
                <a:latin typeface="Arial"/>
              </a:rPr>
              <a:t>Clique para editar o formato de texto dos tópicos</a:t>
            </a:r>
            <a:endParaRPr b="0" lang="pt-BR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pt-BR" sz="2800" spc="-1" strike="noStrike">
                <a:solidFill>
                  <a:srgbClr val="ffffff"/>
                </a:solidFill>
                <a:latin typeface="Arial"/>
              </a:rPr>
              <a:t>2.º nível de tópicos</a:t>
            </a:r>
            <a:endParaRPr b="0" lang="pt-BR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ffffff"/>
                </a:solidFill>
                <a:latin typeface="Arial"/>
              </a:rPr>
              <a:t>3.º nível de tópicos</a:t>
            </a:r>
            <a:endParaRPr b="0" lang="pt-BR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pt-BR" sz="2000" spc="-1" strike="noStrike">
                <a:solidFill>
                  <a:srgbClr val="ffffff"/>
                </a:solidFill>
                <a:latin typeface="Arial"/>
              </a:rPr>
              <a:t>4.º nível de tópicos</a:t>
            </a:r>
            <a:endParaRPr b="0" lang="pt-BR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ffffff"/>
                </a:solidFill>
                <a:latin typeface="Arial"/>
              </a:rPr>
              <a:t>5.º nível de tópicos</a:t>
            </a:r>
            <a:endParaRPr b="0" lang="pt-BR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ffffff"/>
                </a:solidFill>
                <a:latin typeface="Arial"/>
              </a:rPr>
              <a:t>6.º nível de tópicos</a:t>
            </a:r>
            <a:endParaRPr b="0" lang="pt-BR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ffffff"/>
                </a:solidFill>
                <a:latin typeface="Arial"/>
              </a:rPr>
              <a:t>7.º nível de tópicos</a:t>
            </a:r>
            <a:endParaRPr b="0" lang="pt-BR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8228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chemeClr val="accent6"/>
                </a:solidFill>
                <a:latin typeface="Calibri"/>
              </a:rPr>
              <a:t>Verzel Store · Execução manual (exploratórios) · VZS-142 v2.3.0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sldNum" idx="1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148E06B-2BC7-485B-A40F-BBF7F39211F9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Clique para 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editar o 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formato do 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texto do 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título</a:t>
            </a: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pc="-1" strike="noStrike">
                <a:solidFill>
                  <a:srgbClr val="000000"/>
                </a:solidFill>
                <a:latin typeface="Arial"/>
              </a:rPr>
              <a:t>Clique para editar o formato de </a:t>
            </a:r>
            <a:r>
              <a:rPr b="0" lang="pt-BR" sz="3200" spc="-1" strike="noStrike">
                <a:solidFill>
                  <a:srgbClr val="000000"/>
                </a:solidFill>
                <a:latin typeface="Arial"/>
              </a:rPr>
              <a:t>texto dos tópicos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0"/>
          <p:cNvSpPr/>
          <p:nvPr/>
        </p:nvSpPr>
        <p:spPr>
          <a:xfrm>
            <a:off x="457200" y="6446520"/>
            <a:ext cx="8228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chemeClr val="accent6"/>
                </a:solidFill>
                <a:latin typeface="Calibri"/>
              </a:rPr>
              <a:t>Verzel Store · Execução manual (exploratórios) · VZS-142 v2.3.0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1"/>
          <p:cNvSpPr>
            <a:spLocks noGrp="1"/>
          </p:cNvSpPr>
          <p:nvPr>
            <p:ph type="sldNum" idx="2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3A98913-BAE8-4D99-8788-50CB09342467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Clique para 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editar o 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formato do 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texto do 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título</a:t>
            </a: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40080" y="1554480"/>
            <a:ext cx="6765480" cy="19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400" spc="-1" strike="noStrike">
                <a:solidFill>
                  <a:schemeClr val="lt1"/>
                </a:solidFill>
                <a:latin typeface="Calibri"/>
              </a:rPr>
              <a:t>Execução manual: cenários exploratórios</a:t>
            </a:r>
            <a:endParaRPr b="0" lang="pt-BR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640080" y="3611880"/>
            <a:ext cx="6399720" cy="1096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chemeClr val="lt2"/>
                </a:solidFill>
                <a:latin typeface="Calibri"/>
              </a:rPr>
              <a:t>Verzel Store · VZS-142 v2.3.0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chemeClr val="lt2"/>
                </a:solidFill>
                <a:latin typeface="Calibri"/>
              </a:rPr>
              <a:t>Gherkin · 1 cartão por evidência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Chip ROTEIRO + EVIDÊNCIAS"/>
          <p:cNvSpPr/>
          <p:nvPr/>
        </p:nvSpPr>
        <p:spPr>
          <a:xfrm>
            <a:off x="640080" y="731520"/>
            <a:ext cx="2833560" cy="45612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3"/>
                </a:solidFill>
                <a:latin typeface="Calibri"/>
              </a:rPr>
              <a:t>ROTEIRO + EVIDÊNCIAS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502920"/>
            <a:ext cx="112460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chemeClr val="dk2"/>
                </a:solidFill>
                <a:latin typeface="Calibri"/>
              </a:rPr>
              <a:t>Como usar este roteiro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asso 1"/>
          <p:cNvSpPr/>
          <p:nvPr/>
        </p:nvSpPr>
        <p:spPr>
          <a:xfrm>
            <a:off x="457200" y="1600200"/>
            <a:ext cx="2650680" cy="233064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rgbClr val="eef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Chip 1"/>
          <p:cNvSpPr/>
          <p:nvPr/>
        </p:nvSpPr>
        <p:spPr>
          <a:xfrm>
            <a:off x="640080" y="1783080"/>
            <a:ext cx="547560" cy="54756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chemeClr val="accent3"/>
                </a:solidFill>
                <a:latin typeface="Calibri"/>
              </a:rPr>
              <a:t>1</a:t>
            </a:r>
            <a:endParaRPr b="0" lang="pt-B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Text 3"/>
          <p:cNvSpPr/>
          <p:nvPr/>
        </p:nvSpPr>
        <p:spPr>
          <a:xfrm>
            <a:off x="640080" y="2450520"/>
            <a:ext cx="22849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chemeClr val="dk2"/>
                </a:solidFill>
                <a:latin typeface="Calibri"/>
              </a:rPr>
              <a:t>Prepare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Text 4"/>
          <p:cNvSpPr/>
          <p:nvPr/>
        </p:nvSpPr>
        <p:spPr>
          <a:xfrm>
            <a:off x="640080" y="2853000"/>
            <a:ext cx="228492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UI: loja em aba nova, zoom 100%. API: Bruno com a pasta bruno/ e o environment "Verzel Store".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asso 2"/>
          <p:cNvSpPr/>
          <p:nvPr/>
        </p:nvSpPr>
        <p:spPr>
          <a:xfrm>
            <a:off x="3291840" y="1600200"/>
            <a:ext cx="2650680" cy="233064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rgbClr val="eef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Chip 2"/>
          <p:cNvSpPr/>
          <p:nvPr/>
        </p:nvSpPr>
        <p:spPr>
          <a:xfrm>
            <a:off x="3474720" y="1783080"/>
            <a:ext cx="547560" cy="54756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chemeClr val="accent3"/>
                </a:solidFill>
                <a:latin typeface="Calibri"/>
              </a:rPr>
              <a:t>2</a:t>
            </a:r>
            <a:endParaRPr b="0" lang="pt-B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Text 7"/>
          <p:cNvSpPr/>
          <p:nvPr/>
        </p:nvSpPr>
        <p:spPr>
          <a:xfrm>
            <a:off x="3474720" y="2450520"/>
            <a:ext cx="22849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chemeClr val="dk2"/>
                </a:solidFill>
                <a:latin typeface="Calibri"/>
              </a:rPr>
              <a:t>Execute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Text 8"/>
          <p:cNvSpPr/>
          <p:nvPr/>
        </p:nvSpPr>
        <p:spPr>
          <a:xfrm>
            <a:off x="3474720" y="2853000"/>
            <a:ext cx="228492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Siga o Gherkin do cartão. Cada cartão é uma evidência (um exemplo do esquema).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asso 3"/>
          <p:cNvSpPr/>
          <p:nvPr/>
        </p:nvSpPr>
        <p:spPr>
          <a:xfrm>
            <a:off x="6126480" y="1600200"/>
            <a:ext cx="2650680" cy="233064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rgbClr val="eef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Chip 3"/>
          <p:cNvSpPr/>
          <p:nvPr/>
        </p:nvSpPr>
        <p:spPr>
          <a:xfrm>
            <a:off x="6309360" y="1783080"/>
            <a:ext cx="547560" cy="54756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chemeClr val="accent3"/>
                </a:solidFill>
                <a:latin typeface="Calibri"/>
              </a:rPr>
              <a:t>3</a:t>
            </a:r>
            <a:endParaRPr b="0" lang="pt-B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Text 11"/>
          <p:cNvSpPr/>
          <p:nvPr/>
        </p:nvSpPr>
        <p:spPr>
          <a:xfrm>
            <a:off x="6309360" y="2450520"/>
            <a:ext cx="22849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chemeClr val="dk2"/>
                </a:solidFill>
                <a:latin typeface="Calibri"/>
              </a:rPr>
              <a:t>Evidencie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Text 12"/>
          <p:cNvSpPr/>
          <p:nvPr/>
        </p:nvSpPr>
        <p:spPr>
          <a:xfrm>
            <a:off x="6309360" y="2853000"/>
            <a:ext cx="228492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Print com URL/valores legíveis. Cole no quadro tracejado e salve com o nome do cartão.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asso 4"/>
          <p:cNvSpPr/>
          <p:nvPr/>
        </p:nvSpPr>
        <p:spPr>
          <a:xfrm>
            <a:off x="8961120" y="1600200"/>
            <a:ext cx="2650680" cy="233064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rgbClr val="eef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Chip 4"/>
          <p:cNvSpPr/>
          <p:nvPr/>
        </p:nvSpPr>
        <p:spPr>
          <a:xfrm>
            <a:off x="9144000" y="1783080"/>
            <a:ext cx="547560" cy="54756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chemeClr val="accent3"/>
                </a:solidFill>
                <a:latin typeface="Calibri"/>
              </a:rPr>
              <a:t>4</a:t>
            </a:r>
            <a:endParaRPr b="0" lang="pt-B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Text 15"/>
          <p:cNvSpPr/>
          <p:nvPr/>
        </p:nvSpPr>
        <p:spPr>
          <a:xfrm>
            <a:off x="9144000" y="2450520"/>
            <a:ext cx="22849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chemeClr val="dk2"/>
                </a:solidFill>
                <a:latin typeface="Calibri"/>
              </a:rPr>
              <a:t>Registre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Text 16"/>
          <p:cNvSpPr/>
          <p:nvPr/>
        </p:nvSpPr>
        <p:spPr>
          <a:xfrm>
            <a:off x="9144000" y="2853000"/>
            <a:ext cx="228492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Marque o resultado, anote na planilha (aba Exploratórias) e abra bug em docs/BUGS.md se divergir.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Legenda UI"/>
          <p:cNvSpPr/>
          <p:nvPr/>
        </p:nvSpPr>
        <p:spPr>
          <a:xfrm>
            <a:off x="457200" y="4114800"/>
            <a:ext cx="5531040" cy="63900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rgbClr val="eef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Chip UI"/>
          <p:cNvSpPr/>
          <p:nvPr/>
        </p:nvSpPr>
        <p:spPr>
          <a:xfrm>
            <a:off x="594360" y="4206240"/>
            <a:ext cx="821880" cy="45612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</a:rPr>
              <a:t>UI</a:t>
            </a:r>
            <a:endParaRPr b="0" lang="pt-B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Text 19"/>
          <p:cNvSpPr/>
          <p:nvPr/>
        </p:nvSpPr>
        <p:spPr>
          <a:xfrm>
            <a:off x="1600200" y="4160520"/>
            <a:ext cx="42051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dk2"/>
                </a:solidFill>
                <a:latin typeface="Calibri"/>
              </a:rPr>
              <a:t>Navegador (loja)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Legenda API"/>
          <p:cNvSpPr/>
          <p:nvPr/>
        </p:nvSpPr>
        <p:spPr>
          <a:xfrm>
            <a:off x="6172200" y="4114800"/>
            <a:ext cx="5531040" cy="63900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rgbClr val="eef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Chip API"/>
          <p:cNvSpPr/>
          <p:nvPr/>
        </p:nvSpPr>
        <p:spPr>
          <a:xfrm>
            <a:off x="6309360" y="4206240"/>
            <a:ext cx="821880" cy="45612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Text 22"/>
          <p:cNvSpPr/>
          <p:nvPr/>
        </p:nvSpPr>
        <p:spPr>
          <a:xfrm>
            <a:off x="7315200" y="4160520"/>
            <a:ext cx="42051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dk2"/>
                </a:solidFill>
                <a:latin typeface="Calibri"/>
              </a:rPr>
              <a:t>Bruno (collection bruno/)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Aviso: não é bug"/>
          <p:cNvSpPr/>
          <p:nvPr/>
        </p:nvSpPr>
        <p:spPr>
          <a:xfrm>
            <a:off x="457200" y="4937760"/>
            <a:ext cx="11246040" cy="1324800"/>
          </a:xfrm>
          <a:prstGeom prst="roundRect">
            <a:avLst>
              <a:gd name="adj" fmla="val 6897"/>
            </a:avLst>
          </a:prstGeom>
          <a:solidFill>
            <a:schemeClr val="tx2"/>
          </a:solidFill>
          <a:ln w="12700">
            <a:solidFill>
              <a:srgbClr val="021e3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Text 24"/>
          <p:cNvSpPr/>
          <p:nvPr/>
        </p:nvSpPr>
        <p:spPr>
          <a:xfrm>
            <a:off x="731520" y="5029200"/>
            <a:ext cx="106974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92" strike="noStrike">
                <a:solidFill>
                  <a:schemeClr val="accent3"/>
                </a:solidFill>
                <a:latin typeface="Calibri"/>
              </a:rPr>
              <a:t>NÃO REPORTE COMO BUG (seção "Sobre este ambiente")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Text 25"/>
          <p:cNvSpPr/>
          <p:nvPr/>
        </p:nvSpPr>
        <p:spPr>
          <a:xfrm>
            <a:off x="731520" y="5349240"/>
            <a:ext cx="1069740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fffff"/>
              </a:buClr>
              <a:buFont typeface="Symbol" charset="2"/>
              <a:buChar char="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</a:rPr>
              <a:t>Carrinho só na aba do navegador; pedidos não persistem e nenhum e-mail ou cobrança é feito.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fffff"/>
              </a:buClr>
              <a:buFont typeface="Symbol" charset="2"/>
              <a:buChar char="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</a:rPr>
              <a:t>Produtos, preços e cupons são fixos, sem estoque; a API não guarda estado.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ldNum" idx="6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474075A-64AD-4A45-AFB4-EAD821E7E99E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502920"/>
            <a:ext cx="112460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chemeClr val="dk2"/>
                </a:solidFill>
                <a:latin typeface="Calibri"/>
              </a:rPr>
              <a:t>Dados de teste e regras-chave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47" name="Tabela de produtos"/>
          <p:cNvGraphicFramePr/>
          <p:nvPr/>
        </p:nvGraphicFramePr>
        <p:xfrm>
          <a:off x="457200" y="1554480"/>
          <a:ext cx="5760360" cy="4114800"/>
        </p:xfrm>
        <a:graphic>
          <a:graphicData uri="http://schemas.openxmlformats.org/drawingml/2006/table">
            <a:tbl>
              <a:tblPr/>
              <a:tblGrid>
                <a:gridCol w="822960"/>
                <a:gridCol w="3383280"/>
                <a:gridCol w="1554480"/>
              </a:tblGrid>
              <a:tr h="457200">
                <a:tc>
                  <a:txBody>
                    <a:bodyPr lIns="109440" rIns="109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Id</a:t>
                      </a:r>
                      <a:endParaRPr b="0" lang="pt-BR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09440" marR="109440">
                    <a:lnL w="6480">
                      <a:solidFill>
                        <a:srgbClr val="eef1f7"/>
                      </a:solidFill>
                      <a:prstDash val="solid"/>
                    </a:lnL>
                    <a:lnR w="6480">
                      <a:solidFill>
                        <a:srgbClr val="eef1f7"/>
                      </a:solidFill>
                      <a:prstDash val="solid"/>
                    </a:lnR>
                    <a:lnT w="6480">
                      <a:solidFill>
                        <a:srgbClr val="eef1f7"/>
                      </a:solidFill>
                      <a:prstDash val="solid"/>
                    </a:lnT>
                    <a:lnB w="6480">
                      <a:solidFill>
                        <a:srgbClr val="eef1f7"/>
                      </a:solidFill>
                      <a:prstDash val="solid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lIns="109440" rIns="109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Produto</a:t>
                      </a:r>
                      <a:endParaRPr b="0" lang="pt-BR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09440" marR="109440">
                    <a:lnL w="6480">
                      <a:solidFill>
                        <a:srgbClr val="eef1f7"/>
                      </a:solidFill>
                      <a:prstDash val="solid"/>
                    </a:lnL>
                    <a:lnR w="6480">
                      <a:solidFill>
                        <a:srgbClr val="eef1f7"/>
                      </a:solidFill>
                      <a:prstDash val="solid"/>
                    </a:lnR>
                    <a:lnT w="6480">
                      <a:solidFill>
                        <a:srgbClr val="eef1f7"/>
                      </a:solidFill>
                      <a:prstDash val="solid"/>
                    </a:lnT>
                    <a:lnB w="6480">
                      <a:solidFill>
                        <a:srgbClr val="eef1f7"/>
                      </a:solidFill>
                      <a:prstDash val="solid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lIns="109440" rIns="109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Preço</a:t>
                      </a:r>
                      <a:endParaRPr b="0" lang="pt-BR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09440" marR="109440">
                    <a:lnL w="6480">
                      <a:solidFill>
                        <a:srgbClr val="eef1f7"/>
                      </a:solidFill>
                      <a:prstDash val="solid"/>
                    </a:lnL>
                    <a:lnR w="6480">
                      <a:solidFill>
                        <a:srgbClr val="eef1f7"/>
                      </a:solidFill>
                      <a:prstDash val="solid"/>
                    </a:lnR>
                    <a:lnT w="6480">
                      <a:solidFill>
                        <a:srgbClr val="eef1f7"/>
                      </a:solidFill>
                      <a:prstDash val="solid"/>
                    </a:lnT>
                    <a:lnB w="6480">
                      <a:solidFill>
                        <a:srgbClr val="eef1f7"/>
                      </a:solidFill>
                      <a:prstDash val="solid"/>
                    </a:lnB>
                    <a:solidFill>
                      <a:schemeClr val="dk2"/>
                    </a:solidFill>
                  </a:tcPr>
                </a:tc>
              </a:tr>
              <a:tr h="457200">
                <a:tc>
                  <a:txBody>
                    <a:bodyPr lIns="109440" rIns="109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P001</a:t>
                      </a:r>
                      <a:endParaRPr b="0" lang="pt-BR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09440" marR="109440">
                    <a:lnL w="6480">
                      <a:solidFill>
                        <a:srgbClr val="eef1f7"/>
                      </a:solidFill>
                      <a:prstDash val="solid"/>
                    </a:lnL>
                    <a:lnR w="6480">
                      <a:solidFill>
                        <a:srgbClr val="eef1f7"/>
                      </a:solidFill>
                      <a:prstDash val="solid"/>
                    </a:lnR>
                    <a:lnT w="6480">
                      <a:solidFill>
                        <a:srgbClr val="eef1f7"/>
                      </a:solidFill>
                      <a:prstDash val="solid"/>
                    </a:lnT>
                    <a:lnB w="6480">
                      <a:solidFill>
                        <a:srgbClr val="eef1f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109440" rIns="109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Camiseta Essencial</a:t>
                      </a:r>
                      <a:endParaRPr b="0" lang="pt-BR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09440" marR="109440">
                    <a:lnL w="6480">
                      <a:solidFill>
                        <a:srgbClr val="eef1f7"/>
                      </a:solidFill>
                      <a:prstDash val="solid"/>
                    </a:lnL>
                    <a:lnR w="6480">
                      <a:solidFill>
                        <a:srgbClr val="eef1f7"/>
                      </a:solidFill>
                      <a:prstDash val="solid"/>
                    </a:lnR>
                    <a:lnT w="6480">
                      <a:solidFill>
                        <a:srgbClr val="eef1f7"/>
                      </a:solidFill>
                      <a:prstDash val="solid"/>
                    </a:lnT>
                    <a:lnB w="6480">
                      <a:solidFill>
                        <a:srgbClr val="eef1f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109440" rIns="10944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R$ 59,90</a:t>
                      </a:r>
                      <a:endParaRPr b="0" lang="pt-BR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09440" marR="109440">
                    <a:lnL w="6480">
                      <a:solidFill>
                        <a:srgbClr val="eef1f7"/>
                      </a:solidFill>
                      <a:prstDash val="solid"/>
                    </a:lnL>
                    <a:lnR w="6480">
                      <a:solidFill>
                        <a:srgbClr val="eef1f7"/>
                      </a:solidFill>
                      <a:prstDash val="solid"/>
                    </a:lnR>
                    <a:lnT w="6480">
                      <a:solidFill>
                        <a:srgbClr val="eef1f7"/>
                      </a:solidFill>
                      <a:prstDash val="solid"/>
                    </a:lnT>
                    <a:lnB w="6480">
                      <a:solidFill>
                        <a:srgbClr val="eef1f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457200">
                <a:tc>
                  <a:txBody>
                    <a:bodyPr lIns="109440" rIns="109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P002</a:t>
                      </a:r>
                      <a:endParaRPr b="0" lang="pt-BR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09440" marR="109440">
                    <a:lnL w="6480">
                      <a:solidFill>
                        <a:srgbClr val="eef1f7"/>
                      </a:solidFill>
                      <a:prstDash val="solid"/>
                    </a:lnL>
                    <a:lnR w="6480">
                      <a:solidFill>
                        <a:srgbClr val="eef1f7"/>
                      </a:solidFill>
                      <a:prstDash val="solid"/>
                    </a:lnR>
                    <a:lnT w="6480">
                      <a:solidFill>
                        <a:srgbClr val="eef1f7"/>
                      </a:solidFill>
                      <a:prstDash val="solid"/>
                    </a:lnT>
                    <a:lnB w="6480">
                      <a:solidFill>
                        <a:srgbClr val="eef1f7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09440" rIns="109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Calça Jeans Slim</a:t>
                      </a:r>
                      <a:endParaRPr b="0" lang="pt-BR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09440" marR="109440">
                    <a:lnL w="6480">
                      <a:solidFill>
                        <a:srgbClr val="eef1f7"/>
                      </a:solidFill>
                      <a:prstDash val="solid"/>
                    </a:lnL>
                    <a:lnR w="6480">
                      <a:solidFill>
                        <a:srgbClr val="eef1f7"/>
                      </a:solidFill>
                      <a:prstDash val="solid"/>
                    </a:lnR>
                    <a:lnT w="6480">
                      <a:solidFill>
                        <a:srgbClr val="eef1f7"/>
                      </a:solidFill>
                      <a:prstDash val="solid"/>
                    </a:lnT>
                    <a:lnB w="6480">
                      <a:solidFill>
                        <a:srgbClr val="eef1f7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09440" rIns="10944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R$ 139,90</a:t>
                      </a:r>
                      <a:endParaRPr b="0" lang="pt-BR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09440" marR="109440">
                    <a:lnL w="6480">
                      <a:solidFill>
                        <a:srgbClr val="eef1f7"/>
                      </a:solidFill>
                      <a:prstDash val="solid"/>
                    </a:lnL>
                    <a:lnR w="6480">
                      <a:solidFill>
                        <a:srgbClr val="eef1f7"/>
                      </a:solidFill>
                      <a:prstDash val="solid"/>
                    </a:lnR>
                    <a:lnT w="6480">
                      <a:solidFill>
                        <a:srgbClr val="eef1f7"/>
                      </a:solidFill>
                      <a:prstDash val="solid"/>
                    </a:lnT>
                    <a:lnB w="6480">
                      <a:solidFill>
                        <a:srgbClr val="eef1f7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</a:tr>
              <a:tr h="457200">
                <a:tc>
                  <a:txBody>
                    <a:bodyPr lIns="109440" rIns="109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P003</a:t>
                      </a:r>
                      <a:endParaRPr b="0" lang="pt-BR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09440" marR="109440">
                    <a:lnL w="6480">
                      <a:solidFill>
                        <a:srgbClr val="eef1f7"/>
                      </a:solidFill>
                      <a:prstDash val="solid"/>
                    </a:lnL>
                    <a:lnR w="6480">
                      <a:solidFill>
                        <a:srgbClr val="eef1f7"/>
                      </a:solidFill>
                      <a:prstDash val="solid"/>
                    </a:lnR>
                    <a:lnT w="6480">
                      <a:solidFill>
                        <a:srgbClr val="eef1f7"/>
                      </a:solidFill>
                      <a:prstDash val="solid"/>
                    </a:lnT>
                    <a:lnB w="6480">
                      <a:solidFill>
                        <a:srgbClr val="eef1f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109440" rIns="109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Tênis Casual Urbano</a:t>
                      </a:r>
                      <a:endParaRPr b="0" lang="pt-BR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09440" marR="109440">
                    <a:lnL w="6480">
                      <a:solidFill>
                        <a:srgbClr val="eef1f7"/>
                      </a:solidFill>
                      <a:prstDash val="solid"/>
                    </a:lnL>
                    <a:lnR w="6480">
                      <a:solidFill>
                        <a:srgbClr val="eef1f7"/>
                      </a:solidFill>
                      <a:prstDash val="solid"/>
                    </a:lnR>
                    <a:lnT w="6480">
                      <a:solidFill>
                        <a:srgbClr val="eef1f7"/>
                      </a:solidFill>
                      <a:prstDash val="solid"/>
                    </a:lnT>
                    <a:lnB w="6480">
                      <a:solidFill>
                        <a:srgbClr val="eef1f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109440" rIns="10944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R$ 189,90</a:t>
                      </a:r>
                      <a:endParaRPr b="0" lang="pt-BR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09440" marR="109440">
                    <a:lnL w="6480">
                      <a:solidFill>
                        <a:srgbClr val="eef1f7"/>
                      </a:solidFill>
                      <a:prstDash val="solid"/>
                    </a:lnL>
                    <a:lnR w="6480">
                      <a:solidFill>
                        <a:srgbClr val="eef1f7"/>
                      </a:solidFill>
                      <a:prstDash val="solid"/>
                    </a:lnR>
                    <a:lnT w="6480">
                      <a:solidFill>
                        <a:srgbClr val="eef1f7"/>
                      </a:solidFill>
                      <a:prstDash val="solid"/>
                    </a:lnT>
                    <a:lnB w="6480">
                      <a:solidFill>
                        <a:srgbClr val="eef1f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457200">
                <a:tc>
                  <a:txBody>
                    <a:bodyPr lIns="109440" rIns="109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P004</a:t>
                      </a:r>
                      <a:endParaRPr b="0" lang="pt-BR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09440" marR="109440">
                    <a:lnL w="6480">
                      <a:solidFill>
                        <a:srgbClr val="eef1f7"/>
                      </a:solidFill>
                      <a:prstDash val="solid"/>
                    </a:lnL>
                    <a:lnR w="6480">
                      <a:solidFill>
                        <a:srgbClr val="eef1f7"/>
                      </a:solidFill>
                      <a:prstDash val="solid"/>
                    </a:lnR>
                    <a:lnT w="6480">
                      <a:solidFill>
                        <a:srgbClr val="eef1f7"/>
                      </a:solidFill>
                      <a:prstDash val="solid"/>
                    </a:lnT>
                    <a:lnB w="6480">
                      <a:solidFill>
                        <a:srgbClr val="eef1f7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09440" rIns="109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Boné Aba Curva</a:t>
                      </a:r>
                      <a:endParaRPr b="0" lang="pt-BR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09440" marR="109440">
                    <a:lnL w="6480">
                      <a:solidFill>
                        <a:srgbClr val="eef1f7"/>
                      </a:solidFill>
                      <a:prstDash val="solid"/>
                    </a:lnL>
                    <a:lnR w="6480">
                      <a:solidFill>
                        <a:srgbClr val="eef1f7"/>
                      </a:solidFill>
                      <a:prstDash val="solid"/>
                    </a:lnR>
                    <a:lnT w="6480">
                      <a:solidFill>
                        <a:srgbClr val="eef1f7"/>
                      </a:solidFill>
                      <a:prstDash val="solid"/>
                    </a:lnT>
                    <a:lnB w="6480">
                      <a:solidFill>
                        <a:srgbClr val="eef1f7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09440" rIns="10944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R$ 49,90</a:t>
                      </a:r>
                      <a:endParaRPr b="0" lang="pt-BR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09440" marR="109440">
                    <a:lnL w="6480">
                      <a:solidFill>
                        <a:srgbClr val="eef1f7"/>
                      </a:solidFill>
                      <a:prstDash val="solid"/>
                    </a:lnL>
                    <a:lnR w="6480">
                      <a:solidFill>
                        <a:srgbClr val="eef1f7"/>
                      </a:solidFill>
                      <a:prstDash val="solid"/>
                    </a:lnR>
                    <a:lnT w="6480">
                      <a:solidFill>
                        <a:srgbClr val="eef1f7"/>
                      </a:solidFill>
                      <a:prstDash val="solid"/>
                    </a:lnT>
                    <a:lnB w="6480">
                      <a:solidFill>
                        <a:srgbClr val="eef1f7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</a:tr>
              <a:tr h="457200">
                <a:tc>
                  <a:txBody>
                    <a:bodyPr lIns="109440" rIns="109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P005</a:t>
                      </a:r>
                      <a:endParaRPr b="0" lang="pt-BR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09440" marR="109440">
                    <a:lnL w="6480">
                      <a:solidFill>
                        <a:srgbClr val="eef1f7"/>
                      </a:solidFill>
                      <a:prstDash val="solid"/>
                    </a:lnL>
                    <a:lnR w="6480">
                      <a:solidFill>
                        <a:srgbClr val="eef1f7"/>
                      </a:solidFill>
                      <a:prstDash val="solid"/>
                    </a:lnR>
                    <a:lnT w="6480">
                      <a:solidFill>
                        <a:srgbClr val="eef1f7"/>
                      </a:solidFill>
                      <a:prstDash val="solid"/>
                    </a:lnT>
                    <a:lnB w="6480">
                      <a:solidFill>
                        <a:srgbClr val="eef1f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109440" rIns="109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Mochila Urbana 20L</a:t>
                      </a:r>
                      <a:endParaRPr b="0" lang="pt-BR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09440" marR="109440">
                    <a:lnL w="6480">
                      <a:solidFill>
                        <a:srgbClr val="eef1f7"/>
                      </a:solidFill>
                      <a:prstDash val="solid"/>
                    </a:lnL>
                    <a:lnR w="6480">
                      <a:solidFill>
                        <a:srgbClr val="eef1f7"/>
                      </a:solidFill>
                      <a:prstDash val="solid"/>
                    </a:lnR>
                    <a:lnT w="6480">
                      <a:solidFill>
                        <a:srgbClr val="eef1f7"/>
                      </a:solidFill>
                      <a:prstDash val="solid"/>
                    </a:lnT>
                    <a:lnB w="6480">
                      <a:solidFill>
                        <a:srgbClr val="eef1f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109440" rIns="10944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R$ 100,00</a:t>
                      </a:r>
                      <a:endParaRPr b="0" lang="pt-BR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09440" marR="109440">
                    <a:lnL w="6480">
                      <a:solidFill>
                        <a:srgbClr val="eef1f7"/>
                      </a:solidFill>
                      <a:prstDash val="solid"/>
                    </a:lnL>
                    <a:lnR w="6480">
                      <a:solidFill>
                        <a:srgbClr val="eef1f7"/>
                      </a:solidFill>
                      <a:prstDash val="solid"/>
                    </a:lnR>
                    <a:lnT w="6480">
                      <a:solidFill>
                        <a:srgbClr val="eef1f7"/>
                      </a:solidFill>
                      <a:prstDash val="solid"/>
                    </a:lnT>
                    <a:lnB w="6480">
                      <a:solidFill>
                        <a:srgbClr val="eef1f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457200">
                <a:tc>
                  <a:txBody>
                    <a:bodyPr lIns="109440" rIns="109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P006</a:t>
                      </a:r>
                      <a:endParaRPr b="0" lang="pt-BR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09440" marR="109440">
                    <a:lnL w="6480">
                      <a:solidFill>
                        <a:srgbClr val="eef1f7"/>
                      </a:solidFill>
                      <a:prstDash val="solid"/>
                    </a:lnL>
                    <a:lnR w="6480">
                      <a:solidFill>
                        <a:srgbClr val="eef1f7"/>
                      </a:solidFill>
                      <a:prstDash val="solid"/>
                    </a:lnR>
                    <a:lnT w="6480">
                      <a:solidFill>
                        <a:srgbClr val="eef1f7"/>
                      </a:solidFill>
                      <a:prstDash val="solid"/>
                    </a:lnT>
                    <a:lnB w="6480">
                      <a:solidFill>
                        <a:srgbClr val="eef1f7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09440" rIns="109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Kit 3 Pares de Meias</a:t>
                      </a:r>
                      <a:endParaRPr b="0" lang="pt-BR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09440" marR="109440">
                    <a:lnL w="6480">
                      <a:solidFill>
                        <a:srgbClr val="eef1f7"/>
                      </a:solidFill>
                      <a:prstDash val="solid"/>
                    </a:lnL>
                    <a:lnR w="6480">
                      <a:solidFill>
                        <a:srgbClr val="eef1f7"/>
                      </a:solidFill>
                      <a:prstDash val="solid"/>
                    </a:lnR>
                    <a:lnT w="6480">
                      <a:solidFill>
                        <a:srgbClr val="eef1f7"/>
                      </a:solidFill>
                      <a:prstDash val="solid"/>
                    </a:lnT>
                    <a:lnB w="6480">
                      <a:solidFill>
                        <a:srgbClr val="eef1f7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09440" rIns="10944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R$ 29,90</a:t>
                      </a:r>
                      <a:endParaRPr b="0" lang="pt-BR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09440" marR="109440">
                    <a:lnL w="6480">
                      <a:solidFill>
                        <a:srgbClr val="eef1f7"/>
                      </a:solidFill>
                      <a:prstDash val="solid"/>
                    </a:lnL>
                    <a:lnR w="6480">
                      <a:solidFill>
                        <a:srgbClr val="eef1f7"/>
                      </a:solidFill>
                      <a:prstDash val="solid"/>
                    </a:lnR>
                    <a:lnT w="6480">
                      <a:solidFill>
                        <a:srgbClr val="eef1f7"/>
                      </a:solidFill>
                      <a:prstDash val="solid"/>
                    </a:lnT>
                    <a:lnB w="6480">
                      <a:solidFill>
                        <a:srgbClr val="eef1f7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</a:tr>
              <a:tr h="457200">
                <a:tc>
                  <a:txBody>
                    <a:bodyPr lIns="109440" rIns="109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P007</a:t>
                      </a:r>
                      <a:endParaRPr b="0" lang="pt-BR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09440" marR="109440">
                    <a:lnL w="6480">
                      <a:solidFill>
                        <a:srgbClr val="eef1f7"/>
                      </a:solidFill>
                      <a:prstDash val="solid"/>
                    </a:lnL>
                    <a:lnR w="6480">
                      <a:solidFill>
                        <a:srgbClr val="eef1f7"/>
                      </a:solidFill>
                      <a:prstDash val="solid"/>
                    </a:lnR>
                    <a:lnT w="6480">
                      <a:solidFill>
                        <a:srgbClr val="eef1f7"/>
                      </a:solidFill>
                      <a:prstDash val="solid"/>
                    </a:lnT>
                    <a:lnB w="6480">
                      <a:solidFill>
                        <a:srgbClr val="eef1f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109440" rIns="109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Jaqueta Corta-Vento</a:t>
                      </a:r>
                      <a:endParaRPr b="0" lang="pt-BR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09440" marR="109440">
                    <a:lnL w="6480">
                      <a:solidFill>
                        <a:srgbClr val="eef1f7"/>
                      </a:solidFill>
                      <a:prstDash val="solid"/>
                    </a:lnL>
                    <a:lnR w="6480">
                      <a:solidFill>
                        <a:srgbClr val="eef1f7"/>
                      </a:solidFill>
                      <a:prstDash val="solid"/>
                    </a:lnR>
                    <a:lnT w="6480">
                      <a:solidFill>
                        <a:srgbClr val="eef1f7"/>
                      </a:solidFill>
                      <a:prstDash val="solid"/>
                    </a:lnT>
                    <a:lnB w="6480">
                      <a:solidFill>
                        <a:srgbClr val="eef1f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109440" rIns="10944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R$ 229,90</a:t>
                      </a:r>
                      <a:endParaRPr b="0" lang="pt-BR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09440" marR="109440">
                    <a:lnL w="6480">
                      <a:solidFill>
                        <a:srgbClr val="eef1f7"/>
                      </a:solidFill>
                      <a:prstDash val="solid"/>
                    </a:lnL>
                    <a:lnR w="6480">
                      <a:solidFill>
                        <a:srgbClr val="eef1f7"/>
                      </a:solidFill>
                      <a:prstDash val="solid"/>
                    </a:lnR>
                    <a:lnT w="6480">
                      <a:solidFill>
                        <a:srgbClr val="eef1f7"/>
                      </a:solidFill>
                      <a:prstDash val="solid"/>
                    </a:lnT>
                    <a:lnB w="6480">
                      <a:solidFill>
                        <a:srgbClr val="eef1f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457200">
                <a:tc>
                  <a:txBody>
                    <a:bodyPr lIns="109440" rIns="109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P008</a:t>
                      </a:r>
                      <a:endParaRPr b="0" lang="pt-BR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09440" marR="109440">
                    <a:lnL w="6480">
                      <a:solidFill>
                        <a:srgbClr val="eef1f7"/>
                      </a:solidFill>
                      <a:prstDash val="solid"/>
                    </a:lnL>
                    <a:lnR w="6480">
                      <a:solidFill>
                        <a:srgbClr val="eef1f7"/>
                      </a:solidFill>
                      <a:prstDash val="solid"/>
                    </a:lnR>
                    <a:lnT w="6480">
                      <a:solidFill>
                        <a:srgbClr val="eef1f7"/>
                      </a:solidFill>
                      <a:prstDash val="solid"/>
                    </a:lnT>
                    <a:lnB w="6480">
                      <a:solidFill>
                        <a:srgbClr val="eef1f7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09440" rIns="109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Garrafa Térmica 750ml</a:t>
                      </a:r>
                      <a:endParaRPr b="0" lang="pt-BR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09440" marR="109440">
                    <a:lnL w="6480">
                      <a:solidFill>
                        <a:srgbClr val="eef1f7"/>
                      </a:solidFill>
                      <a:prstDash val="solid"/>
                    </a:lnL>
                    <a:lnR w="6480">
                      <a:solidFill>
                        <a:srgbClr val="eef1f7"/>
                      </a:solidFill>
                      <a:prstDash val="solid"/>
                    </a:lnR>
                    <a:lnT w="6480">
                      <a:solidFill>
                        <a:srgbClr val="eef1f7"/>
                      </a:solidFill>
                      <a:prstDash val="solid"/>
                    </a:lnT>
                    <a:lnB w="6480">
                      <a:solidFill>
                        <a:srgbClr val="eef1f7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09440" rIns="10944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R$ 50,00</a:t>
                      </a:r>
                      <a:endParaRPr b="0" lang="pt-BR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09440" marR="109440">
                    <a:lnL w="6480">
                      <a:solidFill>
                        <a:srgbClr val="eef1f7"/>
                      </a:solidFill>
                      <a:prstDash val="solid"/>
                    </a:lnL>
                    <a:lnR w="6480">
                      <a:solidFill>
                        <a:srgbClr val="eef1f7"/>
                      </a:solidFill>
                      <a:prstDash val="solid"/>
                    </a:lnR>
                    <a:lnT w="6480">
                      <a:solidFill>
                        <a:srgbClr val="eef1f7"/>
                      </a:solidFill>
                      <a:prstDash val="solid"/>
                    </a:lnT>
                    <a:lnB w="6480">
                      <a:solidFill>
                        <a:srgbClr val="eef1f7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</a:tr>
            </a:tbl>
          </a:graphicData>
        </a:graphic>
      </p:graphicFrame>
      <p:sp>
        <p:nvSpPr>
          <p:cNvPr id="48" name="Regra Cupons"/>
          <p:cNvSpPr/>
          <p:nvPr/>
        </p:nvSpPr>
        <p:spPr>
          <a:xfrm>
            <a:off x="6675120" y="1554480"/>
            <a:ext cx="5028120" cy="95904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eef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Text 2"/>
          <p:cNvSpPr/>
          <p:nvPr/>
        </p:nvSpPr>
        <p:spPr>
          <a:xfrm>
            <a:off x="6858000" y="1600200"/>
            <a:ext cx="109620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accent1"/>
                </a:solidFill>
                <a:latin typeface="Calibri"/>
              </a:rPr>
              <a:t>Cupons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Text 3"/>
          <p:cNvSpPr/>
          <p:nvPr/>
        </p:nvSpPr>
        <p:spPr>
          <a:xfrm>
            <a:off x="7955280" y="1600200"/>
            <a:ext cx="365652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BEMVINDO10 = 10% sobre o subtotal (válido)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VERAO2026 = 15% (expirado em 31/03/2026)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Regra Frete"/>
          <p:cNvSpPr/>
          <p:nvPr/>
        </p:nvSpPr>
        <p:spPr>
          <a:xfrm>
            <a:off x="6675120" y="2633400"/>
            <a:ext cx="5028120" cy="95904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eef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Text 5"/>
          <p:cNvSpPr/>
          <p:nvPr/>
        </p:nvSpPr>
        <p:spPr>
          <a:xfrm>
            <a:off x="6858000" y="2679120"/>
            <a:ext cx="109620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accent1"/>
                </a:solidFill>
                <a:latin typeface="Calibri"/>
              </a:rPr>
              <a:t>Frete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Text 6"/>
          <p:cNvSpPr/>
          <p:nvPr/>
        </p:nvSpPr>
        <p:spPr>
          <a:xfrm>
            <a:off x="7955280" y="2679120"/>
            <a:ext cx="365652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Grátis a partir de R$ 200,00 (inclusive)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Abaixo disso: R$ 19,90 fixo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Regra Cálculo"/>
          <p:cNvSpPr/>
          <p:nvPr/>
        </p:nvSpPr>
        <p:spPr>
          <a:xfrm>
            <a:off x="6675120" y="3712320"/>
            <a:ext cx="5028120" cy="95904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eef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Text 8"/>
          <p:cNvSpPr/>
          <p:nvPr/>
        </p:nvSpPr>
        <p:spPr>
          <a:xfrm>
            <a:off x="6858000" y="3758040"/>
            <a:ext cx="109620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accent1"/>
                </a:solidFill>
                <a:latin typeface="Calibri"/>
              </a:rPr>
              <a:t>Cálculo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Text 9"/>
          <p:cNvSpPr/>
          <p:nvPr/>
        </p:nvSpPr>
        <p:spPr>
          <a:xfrm>
            <a:off x="7955280" y="3758040"/>
            <a:ext cx="365652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Total = subtotal − desconto + frete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O desconto não incide sobre o frete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Regra Limite"/>
          <p:cNvSpPr/>
          <p:nvPr/>
        </p:nvSpPr>
        <p:spPr>
          <a:xfrm>
            <a:off x="6675120" y="4791600"/>
            <a:ext cx="5028120" cy="95904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eef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Text 11"/>
          <p:cNvSpPr/>
          <p:nvPr/>
        </p:nvSpPr>
        <p:spPr>
          <a:xfrm>
            <a:off x="6858000" y="4837320"/>
            <a:ext cx="109620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accent1"/>
                </a:solidFill>
                <a:latin typeface="Calibri"/>
              </a:rPr>
              <a:t>Limite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 12"/>
          <p:cNvSpPr/>
          <p:nvPr/>
        </p:nvSpPr>
        <p:spPr>
          <a:xfrm>
            <a:off x="7955280" y="4837320"/>
            <a:ext cx="365652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No máximo 5 unidades por produto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sldNum" idx="7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A4AAF6A-9165-4ABC-805C-EF9E9DCE5E9B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7200" y="502920"/>
            <a:ext cx="11246040" cy="73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chemeClr val="dk2"/>
                </a:solidFill>
                <a:latin typeface="Calibri"/>
              </a:rPr>
              <a:t>Mapa dos exploratórios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Cabeçalho API"/>
          <p:cNvSpPr/>
          <p:nvPr/>
        </p:nvSpPr>
        <p:spPr>
          <a:xfrm>
            <a:off x="2520000" y="1508760"/>
            <a:ext cx="5485320" cy="50184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52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</a:rPr>
              <a:t>API · BRUNO  ·  23 evidências</a:t>
            </a:r>
            <a:endParaRPr b="0" lang="pt-B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Linha A1"/>
          <p:cNvSpPr/>
          <p:nvPr/>
        </p:nvSpPr>
        <p:spPr>
          <a:xfrm>
            <a:off x="2520000" y="2103120"/>
            <a:ext cx="5485320" cy="51084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rgbClr val="eef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Text 32"/>
          <p:cNvSpPr/>
          <p:nvPr/>
        </p:nvSpPr>
        <p:spPr>
          <a:xfrm>
            <a:off x="2657160" y="2103120"/>
            <a:ext cx="547560" cy="51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2"/>
                </a:solidFill>
                <a:latin typeface="Calibri"/>
              </a:rPr>
              <a:t>A1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Text 33"/>
          <p:cNvSpPr/>
          <p:nvPr/>
        </p:nvSpPr>
        <p:spPr>
          <a:xfrm>
            <a:off x="3251520" y="2103120"/>
            <a:ext cx="3930840" cy="51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Cupom com tipos inválidos no cálculo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Text 34"/>
          <p:cNvSpPr/>
          <p:nvPr/>
        </p:nvSpPr>
        <p:spPr>
          <a:xfrm>
            <a:off x="7229160" y="2103120"/>
            <a:ext cx="639000" cy="51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chemeClr val="dk2"/>
                </a:solidFill>
                <a:latin typeface="Calibri"/>
              </a:rPr>
              <a:t>4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Linha A2"/>
          <p:cNvSpPr/>
          <p:nvPr/>
        </p:nvSpPr>
        <p:spPr>
          <a:xfrm>
            <a:off x="2520000" y="2688480"/>
            <a:ext cx="5485320" cy="51084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rgbClr val="eef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Text 36"/>
          <p:cNvSpPr/>
          <p:nvPr/>
        </p:nvSpPr>
        <p:spPr>
          <a:xfrm>
            <a:off x="2657160" y="2688480"/>
            <a:ext cx="547560" cy="51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2"/>
                </a:solidFill>
                <a:latin typeface="Calibri"/>
              </a:rPr>
              <a:t>A2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Text 37"/>
          <p:cNvSpPr/>
          <p:nvPr/>
        </p:nvSpPr>
        <p:spPr>
          <a:xfrm>
            <a:off x="3251520" y="2688480"/>
            <a:ext cx="3930840" cy="51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Corpo do cálculo com campos atípicos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 38"/>
          <p:cNvSpPr/>
          <p:nvPr/>
        </p:nvSpPr>
        <p:spPr>
          <a:xfrm>
            <a:off x="7229160" y="2688480"/>
            <a:ext cx="639000" cy="51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chemeClr val="dk2"/>
                </a:solidFill>
                <a:latin typeface="Calibri"/>
              </a:rPr>
              <a:t>8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Linha A3"/>
          <p:cNvSpPr/>
          <p:nvPr/>
        </p:nvSpPr>
        <p:spPr>
          <a:xfrm>
            <a:off x="2520000" y="3273480"/>
            <a:ext cx="5485320" cy="51084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rgbClr val="eef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 40"/>
          <p:cNvSpPr/>
          <p:nvPr/>
        </p:nvSpPr>
        <p:spPr>
          <a:xfrm>
            <a:off x="2657160" y="3273480"/>
            <a:ext cx="547560" cy="51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2"/>
                </a:solidFill>
                <a:latin typeface="Calibri"/>
              </a:rPr>
              <a:t>A3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 41"/>
          <p:cNvSpPr/>
          <p:nvPr/>
        </p:nvSpPr>
        <p:spPr>
          <a:xfrm>
            <a:off x="3251520" y="3273480"/>
            <a:ext cx="3930840" cy="51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Pedido com dados do cliente atípicos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 42"/>
          <p:cNvSpPr/>
          <p:nvPr/>
        </p:nvSpPr>
        <p:spPr>
          <a:xfrm>
            <a:off x="7229160" y="3273480"/>
            <a:ext cx="639000" cy="51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chemeClr val="dk2"/>
                </a:solidFill>
                <a:latin typeface="Calibri"/>
              </a:rPr>
              <a:t>7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Linha A4"/>
          <p:cNvSpPr/>
          <p:nvPr/>
        </p:nvSpPr>
        <p:spPr>
          <a:xfrm>
            <a:off x="2520000" y="3858840"/>
            <a:ext cx="5485320" cy="51084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rgbClr val="eef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Text 44"/>
          <p:cNvSpPr/>
          <p:nvPr/>
        </p:nvSpPr>
        <p:spPr>
          <a:xfrm>
            <a:off x="2657160" y="3858840"/>
            <a:ext cx="547560" cy="51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2"/>
                </a:solidFill>
                <a:latin typeface="Calibri"/>
              </a:rPr>
              <a:t>A4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Text 45"/>
          <p:cNvSpPr/>
          <p:nvPr/>
        </p:nvSpPr>
        <p:spPr>
          <a:xfrm>
            <a:off x="3251520" y="3858840"/>
            <a:ext cx="3930840" cy="51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Consistência entre endpoints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 46"/>
          <p:cNvSpPr/>
          <p:nvPr/>
        </p:nvSpPr>
        <p:spPr>
          <a:xfrm>
            <a:off x="7229160" y="3858840"/>
            <a:ext cx="639000" cy="51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chemeClr val="dk2"/>
                </a:solidFill>
                <a:latin typeface="Calibri"/>
              </a:rPr>
              <a:t>4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sldNum" idx="8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39344AA-F35A-4D05-B032-64DD54C5C6D0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Text 0"/>
          <p:cNvSpPr/>
          <p:nvPr/>
        </p:nvSpPr>
        <p:spPr>
          <a:xfrm>
            <a:off x="457200" y="32004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CUPOM · EXEMPLO 1 DE 4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Camada API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Chip EX-A1-01"/>
          <p:cNvSpPr/>
          <p:nvPr/>
        </p:nvSpPr>
        <p:spPr>
          <a:xfrm>
            <a:off x="457200" y="71316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EX-A1-01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2194560" y="64008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Cu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po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m 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co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m 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tip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os 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inv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áli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do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s 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no 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cál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cul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Cartão Gherkin"/>
          <p:cNvSpPr/>
          <p:nvPr/>
        </p:nvSpPr>
        <p:spPr>
          <a:xfrm>
            <a:off x="2880000" y="1620000"/>
            <a:ext cx="5851080" cy="466236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12700">
            <a:solidFill>
              <a:srgbClr val="eef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 5"/>
          <p:cNvSpPr/>
          <p:nvPr/>
        </p:nvSpPr>
        <p:spPr>
          <a:xfrm>
            <a:off x="3108600" y="1757160"/>
            <a:ext cx="539388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ESQUEMA DO CENÁRIO (GHERKIN)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Text 6"/>
          <p:cNvSpPr/>
          <p:nvPr/>
        </p:nvSpPr>
        <p:spPr>
          <a:xfrm>
            <a:off x="3108600" y="2031480"/>
            <a:ext cx="53938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accent6"/>
                </a:solidFill>
                <a:latin typeface="Calibri"/>
              </a:rPr>
              <a:t>Funcionalidade: </a:t>
            </a:r>
            <a:r>
              <a:rPr b="0" lang="en-US" sz="1300" spc="-1" strike="noStrike">
                <a:solidFill>
                  <a:schemeClr val="accent6"/>
                </a:solidFill>
                <a:latin typeface="Calibri"/>
              </a:rPr>
              <a:t>Cálculo do carrinho (API)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Gherkin"/>
          <p:cNvSpPr/>
          <p:nvPr/>
        </p:nvSpPr>
        <p:spPr>
          <a:xfrm>
            <a:off x="3108600" y="2442960"/>
            <a:ext cx="5393880" cy="19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Dado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que envio POST /api/carrinho/calcular com 1× P005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Quando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o campo "cupom" é &lt;valor&gt;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Então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a API não responde com erro 5xx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Exemplo desta evidência"/>
          <p:cNvSpPr/>
          <p:nvPr/>
        </p:nvSpPr>
        <p:spPr>
          <a:xfrm>
            <a:off x="3062880" y="4500360"/>
            <a:ext cx="5485320" cy="164484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15875">
            <a:solidFill>
              <a:srgbClr val="0b72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 9"/>
          <p:cNvSpPr/>
          <p:nvPr/>
        </p:nvSpPr>
        <p:spPr>
          <a:xfrm>
            <a:off x="3245760" y="4591800"/>
            <a:ext cx="511956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EXEMPLOS · LINHA 1 DE 4 (ESTA EVIDÊNCIA)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arâmetros do exemplo"/>
          <p:cNvSpPr/>
          <p:nvPr/>
        </p:nvSpPr>
        <p:spPr>
          <a:xfrm>
            <a:off x="3245760" y="4893480"/>
            <a:ext cx="511956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2"/>
                </a:solidFill>
                <a:latin typeface="Calibri"/>
              </a:rPr>
              <a:t>&lt;valor&gt;</a:t>
            </a: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  =  null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 type="sldNum" idx="9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C2B2E6B-09FD-48D9-8803-AF4E92570134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ext 1"/>
          <p:cNvSpPr/>
          <p:nvPr/>
        </p:nvSpPr>
        <p:spPr>
          <a:xfrm>
            <a:off x="360000" y="7488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CUPOM · EXEMPLO 1 DE 4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Camada API 1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Chip EX-A1- 1"/>
          <p:cNvSpPr/>
          <p:nvPr/>
        </p:nvSpPr>
        <p:spPr>
          <a:xfrm>
            <a:off x="360000" y="46800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EX-A1-01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2097360" y="39492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Cupom com tipos inválidos no cálculo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sldNum" idx="10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B51CC56-1FB2-4275-BF25-5354A1D24138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97" name="" descr=""/>
          <p:cNvPicPr/>
          <p:nvPr/>
        </p:nvPicPr>
        <p:blipFill>
          <a:blip r:embed="rId1"/>
          <a:stretch/>
        </p:blipFill>
        <p:spPr>
          <a:xfrm>
            <a:off x="1128240" y="1260000"/>
            <a:ext cx="9311400" cy="49143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ext 0"/>
          <p:cNvSpPr/>
          <p:nvPr/>
        </p:nvSpPr>
        <p:spPr>
          <a:xfrm>
            <a:off x="457200" y="32004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CUPOM · EXEMPLO 2 DE 4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Camada API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Chip EX-A1-02"/>
          <p:cNvSpPr/>
          <p:nvPr/>
        </p:nvSpPr>
        <p:spPr>
          <a:xfrm>
            <a:off x="457200" y="71316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EX-A1-02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2194560" y="64008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Cupom com tipos inválidos no cálculo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Cartão Gherkin"/>
          <p:cNvSpPr/>
          <p:nvPr/>
        </p:nvSpPr>
        <p:spPr>
          <a:xfrm>
            <a:off x="457200" y="1554480"/>
            <a:ext cx="5851080" cy="466236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12700">
            <a:solidFill>
              <a:srgbClr val="eef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 5"/>
          <p:cNvSpPr/>
          <p:nvPr/>
        </p:nvSpPr>
        <p:spPr>
          <a:xfrm>
            <a:off x="3380040" y="1691640"/>
            <a:ext cx="539388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ESQUEMA DO CENÁRIO (GHERKIN)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 6"/>
          <p:cNvSpPr/>
          <p:nvPr/>
        </p:nvSpPr>
        <p:spPr>
          <a:xfrm>
            <a:off x="3380040" y="1965960"/>
            <a:ext cx="53938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accent6"/>
                </a:solidFill>
                <a:latin typeface="Calibri"/>
              </a:rPr>
              <a:t>Funcionalidade: </a:t>
            </a:r>
            <a:r>
              <a:rPr b="0" lang="en-US" sz="1300" spc="-1" strike="noStrike">
                <a:solidFill>
                  <a:schemeClr val="accent6"/>
                </a:solidFill>
                <a:latin typeface="Calibri"/>
              </a:rPr>
              <a:t>Cálculo do carrinho (API)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Gherkin"/>
          <p:cNvSpPr/>
          <p:nvPr/>
        </p:nvSpPr>
        <p:spPr>
          <a:xfrm>
            <a:off x="3380040" y="2377440"/>
            <a:ext cx="5393880" cy="19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Dado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que envio POST /api/carrinho/calcular com 1× P005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Quando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o campo "cupom" é &lt;valor&gt;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Então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a API não responde com erro 5xx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registro o status e o corpo da resposta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Exemplo desta evidência"/>
          <p:cNvSpPr/>
          <p:nvPr/>
        </p:nvSpPr>
        <p:spPr>
          <a:xfrm>
            <a:off x="3334320" y="4434840"/>
            <a:ext cx="5485320" cy="164484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15875">
            <a:solidFill>
              <a:srgbClr val="0b72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 9"/>
          <p:cNvSpPr/>
          <p:nvPr/>
        </p:nvSpPr>
        <p:spPr>
          <a:xfrm>
            <a:off x="3517200" y="4526280"/>
            <a:ext cx="511956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EXEMPLOS · LINHA 2 DE 4 (ESTA EVIDÊNCIA)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Parâmetros do exemplo"/>
          <p:cNvSpPr/>
          <p:nvPr/>
        </p:nvSpPr>
        <p:spPr>
          <a:xfrm>
            <a:off x="3517200" y="4827960"/>
            <a:ext cx="511956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2"/>
                </a:solidFill>
                <a:latin typeface="Calibri"/>
              </a:rPr>
              <a:t>&lt;valor&gt;</a:t>
            </a: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  =  123 (número)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sldNum" idx="11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F31E675-6C22-486A-8873-1110339E6829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Text 18"/>
          <p:cNvSpPr/>
          <p:nvPr/>
        </p:nvSpPr>
        <p:spPr>
          <a:xfrm>
            <a:off x="470880" y="7488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CUPOM · EXEMPLO 2 DE 4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Camada API 2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Chip EX-A1- 2"/>
          <p:cNvSpPr/>
          <p:nvPr/>
        </p:nvSpPr>
        <p:spPr>
          <a:xfrm>
            <a:off x="470880" y="46800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EX-A1-02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2208240" y="39492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Cupom com tipos inválidos no cálculo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 type="sldNum" idx="12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8D4CDCF-FB00-40A2-918F-98CAF50B3BE7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15" name="" descr=""/>
          <p:cNvPicPr/>
          <p:nvPr/>
        </p:nvPicPr>
        <p:blipFill>
          <a:blip r:embed="rId1"/>
          <a:stretch/>
        </p:blipFill>
        <p:spPr>
          <a:xfrm>
            <a:off x="1488240" y="1080000"/>
            <a:ext cx="10031400" cy="5147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Text 0"/>
          <p:cNvSpPr/>
          <p:nvPr/>
        </p:nvSpPr>
        <p:spPr>
          <a:xfrm>
            <a:off x="457200" y="32004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CUPOM · EXEMPLO 3 DE 4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Camada API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Chip EX-A1-03"/>
          <p:cNvSpPr/>
          <p:nvPr/>
        </p:nvSpPr>
        <p:spPr>
          <a:xfrm>
            <a:off x="457200" y="71316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EX-A1-03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2194560" y="64008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Cupom com tipos inválidos no cálculo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Cartão Gherkin"/>
          <p:cNvSpPr/>
          <p:nvPr/>
        </p:nvSpPr>
        <p:spPr>
          <a:xfrm>
            <a:off x="3148560" y="1353240"/>
            <a:ext cx="5851080" cy="466236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12700">
            <a:solidFill>
              <a:srgbClr val="eef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 5"/>
          <p:cNvSpPr/>
          <p:nvPr/>
        </p:nvSpPr>
        <p:spPr>
          <a:xfrm>
            <a:off x="3377160" y="1490400"/>
            <a:ext cx="539388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ESQUEMA DO CENÁRIO (GHERKIN)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 6"/>
          <p:cNvSpPr/>
          <p:nvPr/>
        </p:nvSpPr>
        <p:spPr>
          <a:xfrm>
            <a:off x="3377160" y="1764720"/>
            <a:ext cx="53938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accent6"/>
                </a:solidFill>
                <a:latin typeface="Calibri"/>
              </a:rPr>
              <a:t>Funcionalidade: </a:t>
            </a:r>
            <a:r>
              <a:rPr b="0" lang="en-US" sz="1300" spc="-1" strike="noStrike">
                <a:solidFill>
                  <a:schemeClr val="accent6"/>
                </a:solidFill>
                <a:latin typeface="Calibri"/>
              </a:rPr>
              <a:t>Cálculo do carrinho (API)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Gherkin"/>
          <p:cNvSpPr/>
          <p:nvPr/>
        </p:nvSpPr>
        <p:spPr>
          <a:xfrm>
            <a:off x="3377160" y="2176200"/>
            <a:ext cx="5393880" cy="19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Dado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que envio POST /api/carrinho/calcular com 1× P005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Quando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o campo "cupom" é &lt;valor&gt;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Então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a API não responde com erro 5xx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    </a:t>
            </a: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registro o status e o corpo da resposta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Exemplo desta evidência"/>
          <p:cNvSpPr/>
          <p:nvPr/>
        </p:nvSpPr>
        <p:spPr>
          <a:xfrm>
            <a:off x="3331440" y="4233600"/>
            <a:ext cx="5485320" cy="164484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15875">
            <a:solidFill>
              <a:srgbClr val="0b72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 9"/>
          <p:cNvSpPr/>
          <p:nvPr/>
        </p:nvSpPr>
        <p:spPr>
          <a:xfrm>
            <a:off x="3514320" y="4325040"/>
            <a:ext cx="511956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EXEMPLOS · LINHA 3 DE 4 (ESTA EVIDÊNCIA)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arâmetros do exemplo"/>
          <p:cNvSpPr/>
          <p:nvPr/>
        </p:nvSpPr>
        <p:spPr>
          <a:xfrm>
            <a:off x="3514320" y="4626720"/>
            <a:ext cx="511956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2"/>
                </a:solidFill>
                <a:latin typeface="Calibri"/>
              </a:rPr>
              <a:t>&lt;valor&gt;</a:t>
            </a: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  =  ["BEMVINDO10"] (lista)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sldNum" idx="13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562B250-D7C0-4F1E-9C3F-5DEAE5587DCD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Text 26"/>
          <p:cNvSpPr/>
          <p:nvPr/>
        </p:nvSpPr>
        <p:spPr>
          <a:xfrm>
            <a:off x="457200" y="4572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CUPOM · EXEMPLO 3 DE 4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Camada API 3"/>
          <p:cNvSpPr/>
          <p:nvPr/>
        </p:nvSpPr>
        <p:spPr>
          <a:xfrm>
            <a:off x="10744200" y="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Chip EX-A1- 3"/>
          <p:cNvSpPr/>
          <p:nvPr/>
        </p:nvSpPr>
        <p:spPr>
          <a:xfrm>
            <a:off x="457200" y="43884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EX-A1-03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2194560" y="36576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Cupom com tipos inválidos no cálculo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 type="sldNum" idx="14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AE6EA3C-DF9E-4257-9FB6-36ED86B8A5AF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33" name="" descr=""/>
          <p:cNvPicPr/>
          <p:nvPr/>
        </p:nvPicPr>
        <p:blipFill>
          <a:blip r:embed="rId1"/>
          <a:stretch/>
        </p:blipFill>
        <p:spPr>
          <a:xfrm>
            <a:off x="1128240" y="1045800"/>
            <a:ext cx="10391400" cy="54003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Text 0"/>
          <p:cNvSpPr/>
          <p:nvPr/>
        </p:nvSpPr>
        <p:spPr>
          <a:xfrm>
            <a:off x="457200" y="32004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CUPOM · EXEMPLO 4 DE 4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Camada API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Chip EX-A1-04"/>
          <p:cNvSpPr/>
          <p:nvPr/>
        </p:nvSpPr>
        <p:spPr>
          <a:xfrm>
            <a:off x="457200" y="71316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EX-A1-04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2194560" y="64008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Cupom com tipos inválidos no cálculo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Cartão Gherkin"/>
          <p:cNvSpPr/>
          <p:nvPr/>
        </p:nvSpPr>
        <p:spPr>
          <a:xfrm>
            <a:off x="3148560" y="1457280"/>
            <a:ext cx="5851080" cy="466236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12700">
            <a:solidFill>
              <a:srgbClr val="eef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 5"/>
          <p:cNvSpPr/>
          <p:nvPr/>
        </p:nvSpPr>
        <p:spPr>
          <a:xfrm>
            <a:off x="3377160" y="1594440"/>
            <a:ext cx="539388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ESQUEMA DO CENÁRIO (GHERKIN)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 6"/>
          <p:cNvSpPr/>
          <p:nvPr/>
        </p:nvSpPr>
        <p:spPr>
          <a:xfrm>
            <a:off x="3377160" y="1868760"/>
            <a:ext cx="53938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accent6"/>
                </a:solidFill>
                <a:latin typeface="Calibri"/>
              </a:rPr>
              <a:t>Funcionalidade: </a:t>
            </a:r>
            <a:r>
              <a:rPr b="0" lang="en-US" sz="1300" spc="-1" strike="noStrike">
                <a:solidFill>
                  <a:schemeClr val="accent6"/>
                </a:solidFill>
                <a:latin typeface="Calibri"/>
              </a:rPr>
              <a:t>Cálculo do carrinho (API)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Gherkin"/>
          <p:cNvSpPr/>
          <p:nvPr/>
        </p:nvSpPr>
        <p:spPr>
          <a:xfrm>
            <a:off x="3377160" y="2280240"/>
            <a:ext cx="5393880" cy="19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Dado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que envio POST /api/carrinho/calcular com 1× P005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Quando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o campo "cupom" é &lt;valor&gt;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Então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a API não responde com erro 5xx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registro o status e o corpo da resposta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Exemplo desta evidência"/>
          <p:cNvSpPr/>
          <p:nvPr/>
        </p:nvSpPr>
        <p:spPr>
          <a:xfrm>
            <a:off x="3331440" y="4337640"/>
            <a:ext cx="5485320" cy="164484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15875">
            <a:solidFill>
              <a:srgbClr val="0b72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Text 9"/>
          <p:cNvSpPr/>
          <p:nvPr/>
        </p:nvSpPr>
        <p:spPr>
          <a:xfrm>
            <a:off x="3514320" y="4429080"/>
            <a:ext cx="511956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EXEMPLOS · LINHA 4 DE 4 (ESTA EVIDÊNCIA)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arâmetros do exemplo"/>
          <p:cNvSpPr/>
          <p:nvPr/>
        </p:nvSpPr>
        <p:spPr>
          <a:xfrm>
            <a:off x="3514320" y="4730760"/>
            <a:ext cx="511956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2"/>
                </a:solidFill>
                <a:latin typeface="Calibri"/>
              </a:rPr>
              <a:t>&lt;valor&gt;</a:t>
            </a: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  =  true (booleano)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 type="sldNum" idx="15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D45B239-F1B2-4B4C-A3A6-B8E315C62FC1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Text 30"/>
          <p:cNvSpPr/>
          <p:nvPr/>
        </p:nvSpPr>
        <p:spPr>
          <a:xfrm>
            <a:off x="457200" y="32004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CUPOM · EXEMPLO 4 DE 4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Camada API 4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Chip EX-A1- 4"/>
          <p:cNvSpPr/>
          <p:nvPr/>
        </p:nvSpPr>
        <p:spPr>
          <a:xfrm>
            <a:off x="457200" y="71316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EX-A1-04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2194560" y="64008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Cupom com tipos inválidos no cálculo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 type="sldNum" idx="16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54AC040-C9BF-4F3D-B885-9A3F6B7A354E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51" name="" descr=""/>
          <p:cNvPicPr/>
          <p:nvPr/>
        </p:nvPicPr>
        <p:blipFill>
          <a:blip r:embed="rId1"/>
          <a:stretch/>
        </p:blipFill>
        <p:spPr>
          <a:xfrm>
            <a:off x="1260000" y="1440000"/>
            <a:ext cx="9851400" cy="4943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 0"/>
          <p:cNvSpPr/>
          <p:nvPr/>
        </p:nvSpPr>
        <p:spPr>
          <a:xfrm>
            <a:off x="457200" y="32004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ITENS · EXEMPLO 1 DE 8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Camada API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Chip EX-A2-01"/>
          <p:cNvSpPr/>
          <p:nvPr/>
        </p:nvSpPr>
        <p:spPr>
          <a:xfrm>
            <a:off x="457200" y="71316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EX-A2-01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2194560" y="64008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Corpo do cálculo com campos atípicos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Cartão Gherkin"/>
          <p:cNvSpPr/>
          <p:nvPr/>
        </p:nvSpPr>
        <p:spPr>
          <a:xfrm>
            <a:off x="3240000" y="1554480"/>
            <a:ext cx="5851080" cy="466236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12700">
            <a:solidFill>
              <a:srgbClr val="eef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 5"/>
          <p:cNvSpPr/>
          <p:nvPr/>
        </p:nvSpPr>
        <p:spPr>
          <a:xfrm>
            <a:off x="3468600" y="1691640"/>
            <a:ext cx="539388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ESQUEMA DO CENÁRIO (GHERKIN)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 6"/>
          <p:cNvSpPr/>
          <p:nvPr/>
        </p:nvSpPr>
        <p:spPr>
          <a:xfrm>
            <a:off x="3468600" y="1965960"/>
            <a:ext cx="53938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accent6"/>
                </a:solidFill>
                <a:latin typeface="Calibri"/>
              </a:rPr>
              <a:t>Funcionalidade: </a:t>
            </a:r>
            <a:r>
              <a:rPr b="0" lang="en-US" sz="1300" spc="-1" strike="noStrike">
                <a:solidFill>
                  <a:schemeClr val="accent6"/>
                </a:solidFill>
                <a:latin typeface="Calibri"/>
              </a:rPr>
              <a:t>Cálculo do carrinho (API)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Gherkin"/>
          <p:cNvSpPr/>
          <p:nvPr/>
        </p:nvSpPr>
        <p:spPr>
          <a:xfrm>
            <a:off x="3468600" y="2377440"/>
            <a:ext cx="5393880" cy="19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Dado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que envio POST /api/carrinho/calcular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Quando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o corpo contém &lt;variacao&gt;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Então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a API não responde com erro 5xx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registro o status e o corpo da resposta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Exemplo desta evidência"/>
          <p:cNvSpPr/>
          <p:nvPr/>
        </p:nvSpPr>
        <p:spPr>
          <a:xfrm>
            <a:off x="3422880" y="4434840"/>
            <a:ext cx="5485320" cy="164484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15875">
            <a:solidFill>
              <a:srgbClr val="0b72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Text 9"/>
          <p:cNvSpPr/>
          <p:nvPr/>
        </p:nvSpPr>
        <p:spPr>
          <a:xfrm>
            <a:off x="3605760" y="4526280"/>
            <a:ext cx="511956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EXEMPLOS · LINHA 1 DE 8 (ESTA EVIDÊNCIA)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arâmetros do exemplo"/>
          <p:cNvSpPr/>
          <p:nvPr/>
        </p:nvSpPr>
        <p:spPr>
          <a:xfrm>
            <a:off x="3605760" y="4827960"/>
            <a:ext cx="511956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2"/>
                </a:solidFill>
                <a:latin typeface="Calibri"/>
              </a:rPr>
              <a:t>&lt;variacao&gt;</a:t>
            </a: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  =  produtoId em minúsculo ("p001")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2"/>
          <p:cNvSpPr>
            <a:spLocks noGrp="1"/>
          </p:cNvSpPr>
          <p:nvPr>
            <p:ph type="sldNum" idx="17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88A42EB-81C8-4748-BE47-E0634323CB1D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Text 31"/>
          <p:cNvSpPr/>
          <p:nvPr/>
        </p:nvSpPr>
        <p:spPr>
          <a:xfrm>
            <a:off x="457200" y="7488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ITENS · EXEMPLO 1 DE 8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Camada API 5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Chip EX-A2- 1"/>
          <p:cNvSpPr/>
          <p:nvPr/>
        </p:nvSpPr>
        <p:spPr>
          <a:xfrm>
            <a:off x="457200" y="46800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EX-A2-01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PlaceHolder 1"/>
          <p:cNvSpPr>
            <a:spLocks noGrp="1"/>
          </p:cNvSpPr>
          <p:nvPr>
            <p:ph type="title"/>
          </p:nvPr>
        </p:nvSpPr>
        <p:spPr>
          <a:xfrm>
            <a:off x="2194560" y="39492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Corpo do cálculo com campos atípicos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2"/>
          <p:cNvSpPr>
            <a:spLocks noGrp="1"/>
          </p:cNvSpPr>
          <p:nvPr>
            <p:ph type="sldNum" idx="18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05CF359-C14C-41B1-8EC4-C38D45064BF1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69" name="" descr=""/>
          <p:cNvPicPr/>
          <p:nvPr/>
        </p:nvPicPr>
        <p:blipFill>
          <a:blip r:embed="rId1"/>
          <a:stretch/>
        </p:blipFill>
        <p:spPr>
          <a:xfrm>
            <a:off x="1363680" y="1287720"/>
            <a:ext cx="9615960" cy="4831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Text 0"/>
          <p:cNvSpPr/>
          <p:nvPr/>
        </p:nvSpPr>
        <p:spPr>
          <a:xfrm>
            <a:off x="457200" y="32004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ITENS · EXEMPLO 2 DE 8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Camada API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Chip EX-A2-02"/>
          <p:cNvSpPr/>
          <p:nvPr/>
        </p:nvSpPr>
        <p:spPr>
          <a:xfrm>
            <a:off x="457200" y="71316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EX-A2-02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2194560" y="64008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Corpo do cálculo com campos atípicos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Cartão Gherkin"/>
          <p:cNvSpPr/>
          <p:nvPr/>
        </p:nvSpPr>
        <p:spPr>
          <a:xfrm>
            <a:off x="3328560" y="1620000"/>
            <a:ext cx="5851080" cy="466236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12700">
            <a:solidFill>
              <a:srgbClr val="eef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 5"/>
          <p:cNvSpPr/>
          <p:nvPr/>
        </p:nvSpPr>
        <p:spPr>
          <a:xfrm>
            <a:off x="3557160" y="1757160"/>
            <a:ext cx="539388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ESQUEMA DO CENÁRIO (GHERKIN)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Text 6"/>
          <p:cNvSpPr/>
          <p:nvPr/>
        </p:nvSpPr>
        <p:spPr>
          <a:xfrm>
            <a:off x="3557160" y="2031480"/>
            <a:ext cx="53938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accent6"/>
                </a:solidFill>
                <a:latin typeface="Calibri"/>
              </a:rPr>
              <a:t>Funcionalidade: </a:t>
            </a:r>
            <a:r>
              <a:rPr b="0" lang="en-US" sz="1300" spc="-1" strike="noStrike">
                <a:solidFill>
                  <a:schemeClr val="accent6"/>
                </a:solidFill>
                <a:latin typeface="Calibri"/>
              </a:rPr>
              <a:t>Cálculo do carrinho (API)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Gherkin"/>
          <p:cNvSpPr/>
          <p:nvPr/>
        </p:nvSpPr>
        <p:spPr>
          <a:xfrm>
            <a:off x="3557160" y="2442960"/>
            <a:ext cx="5393880" cy="19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Dado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que envio POST /api/carrinho/calcular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Quando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o corpo contém &lt;variacao&gt;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Então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a API não responde com erro 5xx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registro o status e o corpo da resposta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Exemplo desta evidência"/>
          <p:cNvSpPr/>
          <p:nvPr/>
        </p:nvSpPr>
        <p:spPr>
          <a:xfrm>
            <a:off x="3511440" y="4500360"/>
            <a:ext cx="5485320" cy="164484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15875">
            <a:solidFill>
              <a:srgbClr val="0b72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Text 9"/>
          <p:cNvSpPr/>
          <p:nvPr/>
        </p:nvSpPr>
        <p:spPr>
          <a:xfrm>
            <a:off x="3694320" y="4591800"/>
            <a:ext cx="511956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EXEMPLOS · LINHA 2 DE 8 (ESTA EVIDÊNCIA)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arâmetros do exemplo"/>
          <p:cNvSpPr/>
          <p:nvPr/>
        </p:nvSpPr>
        <p:spPr>
          <a:xfrm>
            <a:off x="3694320" y="4893480"/>
            <a:ext cx="511956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2"/>
                </a:solidFill>
                <a:latin typeface="Calibri"/>
              </a:rPr>
              <a:t>&lt;variacao&gt;</a:t>
            </a: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  =  produtoId vazio ("")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 type="sldNum" idx="19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0381D98-E631-4CB0-8CA4-9D64EEF74ABA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Text 35"/>
          <p:cNvSpPr/>
          <p:nvPr/>
        </p:nvSpPr>
        <p:spPr>
          <a:xfrm>
            <a:off x="457200" y="32004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ITENS · EXEMPLO 2 DE 8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Camada API 6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Chip EX-A2- 2"/>
          <p:cNvSpPr/>
          <p:nvPr/>
        </p:nvSpPr>
        <p:spPr>
          <a:xfrm>
            <a:off x="457200" y="71316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EX-A2-02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2194560" y="64008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Corpo do cálculo 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com campos 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atípicos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2"/>
          <p:cNvSpPr>
            <a:spLocks noGrp="1"/>
          </p:cNvSpPr>
          <p:nvPr>
            <p:ph type="sldNum" idx="20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9C8FABD-3252-45BC-A8C4-B3B571499BAD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87" name="" descr=""/>
          <p:cNvPicPr/>
          <p:nvPr/>
        </p:nvPicPr>
        <p:blipFill>
          <a:blip r:embed="rId1"/>
          <a:stretch/>
        </p:blipFill>
        <p:spPr>
          <a:xfrm>
            <a:off x="1620000" y="1440000"/>
            <a:ext cx="9359640" cy="4929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Text 0"/>
          <p:cNvSpPr/>
          <p:nvPr/>
        </p:nvSpPr>
        <p:spPr>
          <a:xfrm>
            <a:off x="457200" y="32004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ITENS · EXEMPLO 3 DE 8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Camada API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Chip EX-A2-03"/>
          <p:cNvSpPr/>
          <p:nvPr/>
        </p:nvSpPr>
        <p:spPr>
          <a:xfrm>
            <a:off x="457200" y="71316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EX-A2-03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" name="PlaceHolder 1"/>
          <p:cNvSpPr>
            <a:spLocks noGrp="1"/>
          </p:cNvSpPr>
          <p:nvPr>
            <p:ph type="title"/>
          </p:nvPr>
        </p:nvSpPr>
        <p:spPr>
          <a:xfrm>
            <a:off x="2194560" y="64008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Corpo do cálculo com 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campos atípicos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Cartão Gherkin"/>
          <p:cNvSpPr/>
          <p:nvPr/>
        </p:nvSpPr>
        <p:spPr>
          <a:xfrm>
            <a:off x="3148560" y="1457280"/>
            <a:ext cx="5851080" cy="466236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12700">
            <a:solidFill>
              <a:srgbClr val="eef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 5"/>
          <p:cNvSpPr/>
          <p:nvPr/>
        </p:nvSpPr>
        <p:spPr>
          <a:xfrm>
            <a:off x="3377160" y="1594440"/>
            <a:ext cx="539388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ESQUEMA DO CENÁRIO (GHERKIN)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Text 6"/>
          <p:cNvSpPr/>
          <p:nvPr/>
        </p:nvSpPr>
        <p:spPr>
          <a:xfrm>
            <a:off x="3377160" y="1868760"/>
            <a:ext cx="53938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accent6"/>
                </a:solidFill>
                <a:latin typeface="Calibri"/>
              </a:rPr>
              <a:t>Funcionalidade: </a:t>
            </a:r>
            <a:r>
              <a:rPr b="0" lang="en-US" sz="1300" spc="-1" strike="noStrike">
                <a:solidFill>
                  <a:schemeClr val="accent6"/>
                </a:solidFill>
                <a:latin typeface="Calibri"/>
              </a:rPr>
              <a:t>Cálculo do carrinho (API)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Gherkin"/>
          <p:cNvSpPr/>
          <p:nvPr/>
        </p:nvSpPr>
        <p:spPr>
          <a:xfrm>
            <a:off x="3377160" y="2280240"/>
            <a:ext cx="5393880" cy="19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Dado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que envio POST /api/carrinho/calcular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Quando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o corpo contém &lt;variacao&gt;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Então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a API não responde com erro 5xx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registro o status e o corpo da resposta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Exemplo desta evidência"/>
          <p:cNvSpPr/>
          <p:nvPr/>
        </p:nvSpPr>
        <p:spPr>
          <a:xfrm>
            <a:off x="3331440" y="4337640"/>
            <a:ext cx="5485320" cy="164484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15875">
            <a:solidFill>
              <a:srgbClr val="0b72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Text 9"/>
          <p:cNvSpPr/>
          <p:nvPr/>
        </p:nvSpPr>
        <p:spPr>
          <a:xfrm>
            <a:off x="3514320" y="4429080"/>
            <a:ext cx="511956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EXEMPLOS · LINHA 3 DE 8 (ESTA EVIDÊNCIA)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arâmetros do exemplo"/>
          <p:cNvSpPr/>
          <p:nvPr/>
        </p:nvSpPr>
        <p:spPr>
          <a:xfrm>
            <a:off x="3514320" y="4730760"/>
            <a:ext cx="511956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2"/>
                </a:solidFill>
                <a:latin typeface="Calibri"/>
              </a:rPr>
              <a:t>&lt;variacao&gt;</a:t>
            </a: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  =  quantidade como texto ("2")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 type="sldNum" idx="21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B64595B-FFAD-45D6-8ACA-057DA8783946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ext 39"/>
          <p:cNvSpPr/>
          <p:nvPr/>
        </p:nvSpPr>
        <p:spPr>
          <a:xfrm>
            <a:off x="457200" y="7488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ITENS · EXEMPLO 3 DE 8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Camada API 7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" name="Chip EX-A2- 3"/>
          <p:cNvSpPr/>
          <p:nvPr/>
        </p:nvSpPr>
        <p:spPr>
          <a:xfrm>
            <a:off x="457200" y="46800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EX-A2-03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2194560" y="39492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Corpo do cálculo com campos atípicos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2"/>
          <p:cNvSpPr>
            <a:spLocks noGrp="1"/>
          </p:cNvSpPr>
          <p:nvPr>
            <p:ph type="sldNum" idx="22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C31BCD7-5CF7-41F3-8A4C-BC958305A67E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05" name="" descr=""/>
          <p:cNvPicPr/>
          <p:nvPr/>
        </p:nvPicPr>
        <p:blipFill>
          <a:blip r:embed="rId1"/>
          <a:stretch/>
        </p:blipFill>
        <p:spPr>
          <a:xfrm>
            <a:off x="1488240" y="1260000"/>
            <a:ext cx="9491400" cy="4835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Text 0"/>
          <p:cNvSpPr/>
          <p:nvPr/>
        </p:nvSpPr>
        <p:spPr>
          <a:xfrm>
            <a:off x="457200" y="32004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ITENS · EXEMPLO 4 DE 8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Camada API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Chip EX-A2-04"/>
          <p:cNvSpPr/>
          <p:nvPr/>
        </p:nvSpPr>
        <p:spPr>
          <a:xfrm>
            <a:off x="457200" y="71316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EX-A2-04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2194560" y="64008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Corpo do cálculo com campos atípicos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Cartão Gherkin"/>
          <p:cNvSpPr/>
          <p:nvPr/>
        </p:nvSpPr>
        <p:spPr>
          <a:xfrm>
            <a:off x="3240000" y="1554480"/>
            <a:ext cx="5851080" cy="466236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12700">
            <a:solidFill>
              <a:srgbClr val="eef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Text 5"/>
          <p:cNvSpPr/>
          <p:nvPr/>
        </p:nvSpPr>
        <p:spPr>
          <a:xfrm>
            <a:off x="3468600" y="1691640"/>
            <a:ext cx="539388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ESQUEMA DO CENÁRIO (GHERKIN)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Text 6"/>
          <p:cNvSpPr/>
          <p:nvPr/>
        </p:nvSpPr>
        <p:spPr>
          <a:xfrm>
            <a:off x="3468600" y="1965960"/>
            <a:ext cx="53938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accent6"/>
                </a:solidFill>
                <a:latin typeface="Calibri"/>
              </a:rPr>
              <a:t>Funcionalidade: </a:t>
            </a:r>
            <a:r>
              <a:rPr b="0" lang="en-US" sz="1300" spc="-1" strike="noStrike">
                <a:solidFill>
                  <a:schemeClr val="accent6"/>
                </a:solidFill>
                <a:latin typeface="Calibri"/>
              </a:rPr>
              <a:t>Cálculo do carrinho (API)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Gherkin"/>
          <p:cNvSpPr/>
          <p:nvPr/>
        </p:nvSpPr>
        <p:spPr>
          <a:xfrm>
            <a:off x="3468600" y="2377440"/>
            <a:ext cx="5393880" cy="19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Dado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que envio POST /api/carrinho/calcular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Quando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o corpo contém &lt;variacao&gt;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Então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a API não responde com erro 5xx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registro o status e o corpo da resposta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Exemplo desta evidência"/>
          <p:cNvSpPr/>
          <p:nvPr/>
        </p:nvSpPr>
        <p:spPr>
          <a:xfrm>
            <a:off x="3422880" y="4434840"/>
            <a:ext cx="5485320" cy="164484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15875">
            <a:solidFill>
              <a:srgbClr val="0b72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 9"/>
          <p:cNvSpPr/>
          <p:nvPr/>
        </p:nvSpPr>
        <p:spPr>
          <a:xfrm>
            <a:off x="3605760" y="4526280"/>
            <a:ext cx="511956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EXEMPLOS · LINHA 4 DE 8 (ESTA EVIDÊNCIA)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arâmetros do exemplo"/>
          <p:cNvSpPr/>
          <p:nvPr/>
        </p:nvSpPr>
        <p:spPr>
          <a:xfrm>
            <a:off x="3605760" y="4827960"/>
            <a:ext cx="511956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2"/>
                </a:solidFill>
                <a:latin typeface="Calibri"/>
              </a:rPr>
              <a:t>&lt;variacao&gt;</a:t>
            </a: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  =  quantidade 99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 type="sldNum" idx="23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2F8FC45-5232-4786-B727-83B17DE33901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Text 43"/>
          <p:cNvSpPr/>
          <p:nvPr/>
        </p:nvSpPr>
        <p:spPr>
          <a:xfrm>
            <a:off x="421560" y="12960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ITENS · EXEMPLO 4 DE 8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Camada API 8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Chip EX-A2- 4"/>
          <p:cNvSpPr/>
          <p:nvPr/>
        </p:nvSpPr>
        <p:spPr>
          <a:xfrm>
            <a:off x="421560" y="52272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EX-A2-04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2158920" y="44964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Corpo do cálculo com campos atípicos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2"/>
          <p:cNvSpPr>
            <a:spLocks noGrp="1"/>
          </p:cNvSpPr>
          <p:nvPr>
            <p:ph type="sldNum" idx="24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BF429AB-9195-4F0E-AE98-C773B5423642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" name="Cartão de resultado 1"/>
          <p:cNvSpPr/>
          <p:nvPr/>
        </p:nvSpPr>
        <p:spPr>
          <a:xfrm>
            <a:off x="6300000" y="6120000"/>
            <a:ext cx="5028120" cy="73044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eef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Campos de resultado 1"/>
          <p:cNvSpPr/>
          <p:nvPr/>
        </p:nvSpPr>
        <p:spPr>
          <a:xfrm>
            <a:off x="6482880" y="6156720"/>
            <a:ext cx="4662360" cy="65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dk2"/>
                </a:solidFill>
                <a:latin typeface="Calibri"/>
              </a:rPr>
              <a:t>Obs: Bug encontrado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US" sz="1000" spc="-1" strike="noStrike">
                <a:solidFill>
                  <a:schemeClr val="dk2"/>
                </a:solidFill>
                <a:latin typeface="Calibri"/>
              </a:rPr>
              <a:t> </a:t>
            </a:r>
            <a:r>
              <a:rPr b="1" lang="en-US" sz="1000" spc="-1" strike="noStrike">
                <a:solidFill>
                  <a:schemeClr val="dk2"/>
                </a:solidFill>
                <a:latin typeface="Calibri"/>
              </a:rPr>
              <a:t>Bug: BUG-02 API – Limite de produto excedido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5" name="" descr=""/>
          <p:cNvPicPr/>
          <p:nvPr/>
        </p:nvPicPr>
        <p:blipFill>
          <a:blip r:embed="rId1"/>
          <a:stretch/>
        </p:blipFill>
        <p:spPr>
          <a:xfrm>
            <a:off x="1310040" y="1134720"/>
            <a:ext cx="9756360" cy="4984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Text 0"/>
          <p:cNvSpPr/>
          <p:nvPr/>
        </p:nvSpPr>
        <p:spPr>
          <a:xfrm>
            <a:off x="457200" y="32004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ITENS · EXEMPLO 5 DE 8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Camada API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Chip EX-A2-05"/>
          <p:cNvSpPr/>
          <p:nvPr/>
        </p:nvSpPr>
        <p:spPr>
          <a:xfrm>
            <a:off x="457200" y="71316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EX-A2-05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PlaceHolder 1"/>
          <p:cNvSpPr>
            <a:spLocks noGrp="1"/>
          </p:cNvSpPr>
          <p:nvPr>
            <p:ph type="title"/>
          </p:nvPr>
        </p:nvSpPr>
        <p:spPr>
          <a:xfrm>
            <a:off x="2194560" y="64008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Corpo do cálculo com campos atípicos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Cartão Gherkin"/>
          <p:cNvSpPr/>
          <p:nvPr/>
        </p:nvSpPr>
        <p:spPr>
          <a:xfrm>
            <a:off x="3148560" y="1457280"/>
            <a:ext cx="5851080" cy="466236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12700">
            <a:solidFill>
              <a:srgbClr val="eef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 5"/>
          <p:cNvSpPr/>
          <p:nvPr/>
        </p:nvSpPr>
        <p:spPr>
          <a:xfrm>
            <a:off x="3377160" y="1594440"/>
            <a:ext cx="539388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ESQUEMA DO CENÁRIO (GHERKIN)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Text 6"/>
          <p:cNvSpPr/>
          <p:nvPr/>
        </p:nvSpPr>
        <p:spPr>
          <a:xfrm>
            <a:off x="3377160" y="1868760"/>
            <a:ext cx="53938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accent6"/>
                </a:solidFill>
                <a:latin typeface="Calibri"/>
              </a:rPr>
              <a:t>Funcionalidade: </a:t>
            </a:r>
            <a:r>
              <a:rPr b="0" lang="en-US" sz="1300" spc="-1" strike="noStrike">
                <a:solidFill>
                  <a:schemeClr val="accent6"/>
                </a:solidFill>
                <a:latin typeface="Calibri"/>
              </a:rPr>
              <a:t>Cálculo do carrinho (API)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Gherkin"/>
          <p:cNvSpPr/>
          <p:nvPr/>
        </p:nvSpPr>
        <p:spPr>
          <a:xfrm>
            <a:off x="3377160" y="2280240"/>
            <a:ext cx="5393880" cy="19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Dado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que envio POST /api/carrinho/calcular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Quando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o corpo contém &lt;variacao&gt;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Então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a API não responde com erro 5xx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registro o status e o corpo da resposta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Exemplo desta evidência"/>
          <p:cNvSpPr/>
          <p:nvPr/>
        </p:nvSpPr>
        <p:spPr>
          <a:xfrm>
            <a:off x="3331440" y="4337640"/>
            <a:ext cx="5485320" cy="164484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15875">
            <a:solidFill>
              <a:srgbClr val="0b72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Text 9"/>
          <p:cNvSpPr/>
          <p:nvPr/>
        </p:nvSpPr>
        <p:spPr>
          <a:xfrm>
            <a:off x="3514320" y="4429080"/>
            <a:ext cx="511956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EXEMPLOS · LINHA 5 DE 8 (ESTA EVIDÊNCIA)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arâmetros do exemplo"/>
          <p:cNvSpPr/>
          <p:nvPr/>
        </p:nvSpPr>
        <p:spPr>
          <a:xfrm>
            <a:off x="3514320" y="4730760"/>
            <a:ext cx="511956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2"/>
                </a:solidFill>
                <a:latin typeface="Calibri"/>
              </a:rPr>
              <a:t>&lt;variacao&gt;</a:t>
            </a: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  =  "itens" como texto ("P001")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2"/>
          <p:cNvSpPr>
            <a:spLocks noGrp="1"/>
          </p:cNvSpPr>
          <p:nvPr>
            <p:ph type="sldNum" idx="25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C4B3401-C26A-45D6-9359-371B02BCF9FD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Text 47"/>
          <p:cNvSpPr/>
          <p:nvPr/>
        </p:nvSpPr>
        <p:spPr>
          <a:xfrm>
            <a:off x="457200" y="7488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ITENS · EXEMPLO 5 DE 8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Camada API 9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Chip EX-A2- 5"/>
          <p:cNvSpPr/>
          <p:nvPr/>
        </p:nvSpPr>
        <p:spPr>
          <a:xfrm>
            <a:off x="457200" y="46800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EX-A2-05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PlaceHolder 1"/>
          <p:cNvSpPr>
            <a:spLocks noGrp="1"/>
          </p:cNvSpPr>
          <p:nvPr>
            <p:ph type="title"/>
          </p:nvPr>
        </p:nvSpPr>
        <p:spPr>
          <a:xfrm>
            <a:off x="2194560" y="39492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Co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rp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o 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do 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cál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cul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o 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co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m 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ca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mp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os 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atí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pic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2"/>
          <p:cNvSpPr>
            <a:spLocks noGrp="1"/>
          </p:cNvSpPr>
          <p:nvPr>
            <p:ph type="sldNum" idx="26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168B21F-7A2C-4CFA-BDA9-EDA4B8C21FC8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43" name="" descr=""/>
          <p:cNvPicPr/>
          <p:nvPr/>
        </p:nvPicPr>
        <p:blipFill>
          <a:blip r:embed="rId1"/>
          <a:stretch/>
        </p:blipFill>
        <p:spPr>
          <a:xfrm>
            <a:off x="1440000" y="1260000"/>
            <a:ext cx="9671400" cy="49413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Text 0"/>
          <p:cNvSpPr/>
          <p:nvPr/>
        </p:nvSpPr>
        <p:spPr>
          <a:xfrm>
            <a:off x="457200" y="32004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ITENS · EXEMPLO 6 DE 8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Camada API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Chip EX-A2-06"/>
          <p:cNvSpPr/>
          <p:nvPr/>
        </p:nvSpPr>
        <p:spPr>
          <a:xfrm>
            <a:off x="457200" y="71316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EX-A2-06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2194560" y="64008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Corpo do cálculo com campos atípicos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Cartão Gherkin"/>
          <p:cNvSpPr/>
          <p:nvPr/>
        </p:nvSpPr>
        <p:spPr>
          <a:xfrm>
            <a:off x="3148560" y="1440000"/>
            <a:ext cx="5851080" cy="466236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12700">
            <a:solidFill>
              <a:srgbClr val="eef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Text 5"/>
          <p:cNvSpPr/>
          <p:nvPr/>
        </p:nvSpPr>
        <p:spPr>
          <a:xfrm>
            <a:off x="3377160" y="1577160"/>
            <a:ext cx="539388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ESQUEMA DO CENÁRIO (GHERKIN)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Text 6"/>
          <p:cNvSpPr/>
          <p:nvPr/>
        </p:nvSpPr>
        <p:spPr>
          <a:xfrm>
            <a:off x="3377160" y="1851480"/>
            <a:ext cx="53938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accent6"/>
                </a:solidFill>
                <a:latin typeface="Calibri"/>
              </a:rPr>
              <a:t>Funcionalidade: </a:t>
            </a:r>
            <a:r>
              <a:rPr b="0" lang="en-US" sz="1300" spc="-1" strike="noStrike">
                <a:solidFill>
                  <a:schemeClr val="accent6"/>
                </a:solidFill>
                <a:latin typeface="Calibri"/>
              </a:rPr>
              <a:t>Cálculo do carrinho (API)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Gherkin"/>
          <p:cNvSpPr/>
          <p:nvPr/>
        </p:nvSpPr>
        <p:spPr>
          <a:xfrm>
            <a:off x="3377160" y="2262960"/>
            <a:ext cx="5393880" cy="19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Dado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que envio POST /api/carrinho/calcular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Quando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o corpo contém &lt;variacao&gt;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Então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a API não responde com erro 5xx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registro o status e o corpo da resposta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Exemplo desta evidência"/>
          <p:cNvSpPr/>
          <p:nvPr/>
        </p:nvSpPr>
        <p:spPr>
          <a:xfrm>
            <a:off x="3331440" y="4320360"/>
            <a:ext cx="5485320" cy="164484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15875">
            <a:solidFill>
              <a:srgbClr val="0b72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Text 9"/>
          <p:cNvSpPr/>
          <p:nvPr/>
        </p:nvSpPr>
        <p:spPr>
          <a:xfrm>
            <a:off x="3514320" y="4411800"/>
            <a:ext cx="511956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EXEMPLOS · LINHA 6 DE 8 (ESTA EVIDÊNCIA)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arâmetros do exemplo"/>
          <p:cNvSpPr/>
          <p:nvPr/>
        </p:nvSpPr>
        <p:spPr>
          <a:xfrm>
            <a:off x="3514320" y="4713480"/>
            <a:ext cx="511956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2"/>
                </a:solidFill>
                <a:latin typeface="Calibri"/>
              </a:rPr>
              <a:t>&lt;variacao&gt;</a:t>
            </a: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  =  um array no lugar do objeto ([])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PlaceHolder 2"/>
          <p:cNvSpPr>
            <a:spLocks noGrp="1"/>
          </p:cNvSpPr>
          <p:nvPr>
            <p:ph type="sldNum" idx="27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CB0150C-BC17-4225-ADBB-46E0E7B1EAF0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Text 48"/>
          <p:cNvSpPr/>
          <p:nvPr/>
        </p:nvSpPr>
        <p:spPr>
          <a:xfrm>
            <a:off x="457200" y="7488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ITENS · EXEMPLO 6 DE 8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Camada API 10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Chip EX-A2- 6"/>
          <p:cNvSpPr/>
          <p:nvPr/>
        </p:nvSpPr>
        <p:spPr>
          <a:xfrm>
            <a:off x="457200" y="46800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EX-A2-06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PlaceHolder 1"/>
          <p:cNvSpPr>
            <a:spLocks noGrp="1"/>
          </p:cNvSpPr>
          <p:nvPr>
            <p:ph type="title"/>
          </p:nvPr>
        </p:nvSpPr>
        <p:spPr>
          <a:xfrm>
            <a:off x="2194560" y="39492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Corpo do cálculo com campos atípicos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2"/>
          <p:cNvSpPr>
            <a:spLocks noGrp="1"/>
          </p:cNvSpPr>
          <p:nvPr>
            <p:ph type="sldNum" idx="28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D2641A1-2BBC-498C-990D-FD244F564409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61" name="" descr=""/>
          <p:cNvPicPr/>
          <p:nvPr/>
        </p:nvPicPr>
        <p:blipFill>
          <a:blip r:embed="rId1"/>
          <a:stretch/>
        </p:blipFill>
        <p:spPr>
          <a:xfrm>
            <a:off x="1308240" y="1260000"/>
            <a:ext cx="9671400" cy="4956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Text 0"/>
          <p:cNvSpPr/>
          <p:nvPr/>
        </p:nvSpPr>
        <p:spPr>
          <a:xfrm>
            <a:off x="457200" y="32004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ITENS · EXEMPLO 7 DE 8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Camada API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4" name="Chip EX-A2-07"/>
          <p:cNvSpPr/>
          <p:nvPr/>
        </p:nvSpPr>
        <p:spPr>
          <a:xfrm>
            <a:off x="457200" y="71316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EX-A2-07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" name="PlaceHolder 1"/>
          <p:cNvSpPr>
            <a:spLocks noGrp="1"/>
          </p:cNvSpPr>
          <p:nvPr>
            <p:ph type="title"/>
          </p:nvPr>
        </p:nvSpPr>
        <p:spPr>
          <a:xfrm>
            <a:off x="2194560" y="64008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Corpo do cálculo com campos atípicos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Cartão Gherkin"/>
          <p:cNvSpPr/>
          <p:nvPr/>
        </p:nvSpPr>
        <p:spPr>
          <a:xfrm>
            <a:off x="3060000" y="1457280"/>
            <a:ext cx="5851080" cy="466236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12700">
            <a:solidFill>
              <a:srgbClr val="eef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 5"/>
          <p:cNvSpPr/>
          <p:nvPr/>
        </p:nvSpPr>
        <p:spPr>
          <a:xfrm>
            <a:off x="3288600" y="1594440"/>
            <a:ext cx="539388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ESQUEMA DO CENÁRIO (GHERKIN)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Text 6"/>
          <p:cNvSpPr/>
          <p:nvPr/>
        </p:nvSpPr>
        <p:spPr>
          <a:xfrm>
            <a:off x="3288600" y="1868760"/>
            <a:ext cx="53938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accent6"/>
                </a:solidFill>
                <a:latin typeface="Calibri"/>
              </a:rPr>
              <a:t>Funcionalidade: </a:t>
            </a:r>
            <a:r>
              <a:rPr b="0" lang="en-US" sz="1300" spc="-1" strike="noStrike">
                <a:solidFill>
                  <a:schemeClr val="accent6"/>
                </a:solidFill>
                <a:latin typeface="Calibri"/>
              </a:rPr>
              <a:t>Cálculo do carrinho (API)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Gherkin"/>
          <p:cNvSpPr/>
          <p:nvPr/>
        </p:nvSpPr>
        <p:spPr>
          <a:xfrm>
            <a:off x="3288600" y="2280240"/>
            <a:ext cx="5393880" cy="19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Dado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que envio POST /api/carrinho/calcular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Quando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o corpo contém &lt;variacao&gt;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Então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a API não responde com erro 5xx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registro o status e o corpo da resposta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Exemplo desta evidência"/>
          <p:cNvSpPr/>
          <p:nvPr/>
        </p:nvSpPr>
        <p:spPr>
          <a:xfrm>
            <a:off x="3242880" y="4337640"/>
            <a:ext cx="5485320" cy="164484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15875">
            <a:solidFill>
              <a:srgbClr val="0b72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Text 9"/>
          <p:cNvSpPr/>
          <p:nvPr/>
        </p:nvSpPr>
        <p:spPr>
          <a:xfrm>
            <a:off x="3425760" y="4429080"/>
            <a:ext cx="511956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EXEMPLOS · LINHA 7 DE 8 (ESTA EVIDÊNCIA)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Parâmetros do exemplo"/>
          <p:cNvSpPr/>
          <p:nvPr/>
        </p:nvSpPr>
        <p:spPr>
          <a:xfrm>
            <a:off x="3425760" y="4730760"/>
            <a:ext cx="511956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2"/>
                </a:solidFill>
                <a:latin typeface="Calibri"/>
              </a:rPr>
              <a:t>&lt;variacao&gt;</a:t>
            </a: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  =  campos extras ("foo", "desconto": 999)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 type="sldNum" idx="29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F739657-DBB1-4D0B-A47D-58FAD391E445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Text 49"/>
          <p:cNvSpPr/>
          <p:nvPr/>
        </p:nvSpPr>
        <p:spPr>
          <a:xfrm>
            <a:off x="470880" y="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ITENS · EXEMPLO 7 DE 8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Camada API 11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6" name="Chip EX-A2- 7"/>
          <p:cNvSpPr/>
          <p:nvPr/>
        </p:nvSpPr>
        <p:spPr>
          <a:xfrm>
            <a:off x="470880" y="39312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EX-A2-07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2208240" y="32004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Corpo do cálculo com campos atípicos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2"/>
          <p:cNvSpPr>
            <a:spLocks noGrp="1"/>
          </p:cNvSpPr>
          <p:nvPr>
            <p:ph type="sldNum" idx="30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2D87FC6-E177-4E53-BB42-CF2A4102C299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79" name="" descr=""/>
          <p:cNvPicPr/>
          <p:nvPr/>
        </p:nvPicPr>
        <p:blipFill>
          <a:blip r:embed="rId1"/>
          <a:stretch/>
        </p:blipFill>
        <p:spPr>
          <a:xfrm>
            <a:off x="1308240" y="1080000"/>
            <a:ext cx="10031400" cy="5313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Text 0"/>
          <p:cNvSpPr/>
          <p:nvPr/>
        </p:nvSpPr>
        <p:spPr>
          <a:xfrm>
            <a:off x="457200" y="32004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ITENS · EXEMPLO 8 DE 8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Camada API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Chip EX-A2-08"/>
          <p:cNvSpPr/>
          <p:nvPr/>
        </p:nvSpPr>
        <p:spPr>
          <a:xfrm>
            <a:off x="457200" y="71316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EX-A2-08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3" name="PlaceHolder 1"/>
          <p:cNvSpPr>
            <a:spLocks noGrp="1"/>
          </p:cNvSpPr>
          <p:nvPr>
            <p:ph type="title"/>
          </p:nvPr>
        </p:nvSpPr>
        <p:spPr>
          <a:xfrm>
            <a:off x="2194560" y="64008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Corpo do cálculo com campos atípicos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Cartão Gherkin"/>
          <p:cNvSpPr/>
          <p:nvPr/>
        </p:nvSpPr>
        <p:spPr>
          <a:xfrm>
            <a:off x="3148560" y="1440000"/>
            <a:ext cx="5851080" cy="466236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12700">
            <a:solidFill>
              <a:srgbClr val="eef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Text 5"/>
          <p:cNvSpPr/>
          <p:nvPr/>
        </p:nvSpPr>
        <p:spPr>
          <a:xfrm>
            <a:off x="3377160" y="1577160"/>
            <a:ext cx="539388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ESQUEMA DO CENÁRIO (GHERKIN)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Text 6"/>
          <p:cNvSpPr/>
          <p:nvPr/>
        </p:nvSpPr>
        <p:spPr>
          <a:xfrm>
            <a:off x="3377160" y="1851480"/>
            <a:ext cx="53938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accent6"/>
                </a:solidFill>
                <a:latin typeface="Calibri"/>
              </a:rPr>
              <a:t>Funcionalidade: </a:t>
            </a:r>
            <a:r>
              <a:rPr b="0" lang="en-US" sz="1300" spc="-1" strike="noStrike">
                <a:solidFill>
                  <a:schemeClr val="accent6"/>
                </a:solidFill>
                <a:latin typeface="Calibri"/>
              </a:rPr>
              <a:t>Cálculo do carrinho (API)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Gherkin"/>
          <p:cNvSpPr/>
          <p:nvPr/>
        </p:nvSpPr>
        <p:spPr>
          <a:xfrm>
            <a:off x="3377160" y="2262960"/>
            <a:ext cx="5393880" cy="19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Dado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que envio POST /api/carrinho/calcular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Quando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o corpo contém &lt;variacao&gt;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Então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a API não responde com erro 5xx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registro o status e o corpo da resposta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Exemplo desta evidência"/>
          <p:cNvSpPr/>
          <p:nvPr/>
        </p:nvSpPr>
        <p:spPr>
          <a:xfrm>
            <a:off x="3331440" y="4320360"/>
            <a:ext cx="5485320" cy="164484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15875">
            <a:solidFill>
              <a:srgbClr val="0b72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Text 9"/>
          <p:cNvSpPr/>
          <p:nvPr/>
        </p:nvSpPr>
        <p:spPr>
          <a:xfrm>
            <a:off x="3514320" y="4411800"/>
            <a:ext cx="511956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EXEMPLOS · LINHA 8 DE 8 (ESTA EVIDÊNCIA)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Parâmetros do exemplo"/>
          <p:cNvSpPr/>
          <p:nvPr/>
        </p:nvSpPr>
        <p:spPr>
          <a:xfrm>
            <a:off x="3514320" y="4713480"/>
            <a:ext cx="511956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2"/>
                </a:solidFill>
                <a:latin typeface="Calibri"/>
              </a:rPr>
              <a:t>&lt;variacao&gt;</a:t>
            </a: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  =  Content-Type text/plain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2"/>
          <p:cNvSpPr>
            <a:spLocks noGrp="1"/>
          </p:cNvSpPr>
          <p:nvPr>
            <p:ph type="sldNum" idx="31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4E5367F-A34B-46F6-BFC8-79D23EE156CF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Text 50"/>
          <p:cNvSpPr/>
          <p:nvPr/>
        </p:nvSpPr>
        <p:spPr>
          <a:xfrm>
            <a:off x="457200" y="7488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ITENS · EXEMPLO 8 DE 8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Camada API 12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" name="Chip EX-A2- 8"/>
          <p:cNvSpPr/>
          <p:nvPr/>
        </p:nvSpPr>
        <p:spPr>
          <a:xfrm>
            <a:off x="457200" y="46800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EX-A2-08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" name="PlaceHolder 1"/>
          <p:cNvSpPr>
            <a:spLocks noGrp="1"/>
          </p:cNvSpPr>
          <p:nvPr>
            <p:ph type="title"/>
          </p:nvPr>
        </p:nvSpPr>
        <p:spPr>
          <a:xfrm>
            <a:off x="2194560" y="39492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Co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rp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o 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do 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cál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cu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lo 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co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m 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ca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m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po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s 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atí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pi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co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PlaceHolder 2"/>
          <p:cNvSpPr>
            <a:spLocks noGrp="1"/>
          </p:cNvSpPr>
          <p:nvPr>
            <p:ph type="sldNum" idx="32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DFEFC74-CE46-4A84-A524-E75AE44F0AF6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97" name="" descr=""/>
          <p:cNvPicPr/>
          <p:nvPr/>
        </p:nvPicPr>
        <p:blipFill>
          <a:blip r:embed="rId1"/>
          <a:stretch/>
        </p:blipFill>
        <p:spPr>
          <a:xfrm>
            <a:off x="1080000" y="1080000"/>
            <a:ext cx="10211400" cy="5244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Text 0"/>
          <p:cNvSpPr/>
          <p:nvPr/>
        </p:nvSpPr>
        <p:spPr>
          <a:xfrm>
            <a:off x="457200" y="32004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PEDIDO · EXEMPLO 1 DE 7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Camada API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Chip EX-A3-01"/>
          <p:cNvSpPr/>
          <p:nvPr/>
        </p:nvSpPr>
        <p:spPr>
          <a:xfrm>
            <a:off x="457200" y="71316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EX-A3-01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2194560" y="64008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Pe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di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do 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co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m 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da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do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s 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do 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cli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en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te 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atí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pi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co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Cartão Gherkin"/>
          <p:cNvSpPr/>
          <p:nvPr/>
        </p:nvSpPr>
        <p:spPr>
          <a:xfrm>
            <a:off x="3148560" y="1457280"/>
            <a:ext cx="5851080" cy="466236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12700">
            <a:solidFill>
              <a:srgbClr val="eef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Text 5"/>
          <p:cNvSpPr/>
          <p:nvPr/>
        </p:nvSpPr>
        <p:spPr>
          <a:xfrm>
            <a:off x="3377160" y="1594440"/>
            <a:ext cx="539388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ESQUEMA DO CENÁRIO (GHERKIN)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Text 6"/>
          <p:cNvSpPr/>
          <p:nvPr/>
        </p:nvSpPr>
        <p:spPr>
          <a:xfrm>
            <a:off x="3377160" y="1868760"/>
            <a:ext cx="53938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accent6"/>
                </a:solidFill>
                <a:latin typeface="Calibri"/>
              </a:rPr>
              <a:t>Funcionalidade: </a:t>
            </a:r>
            <a:r>
              <a:rPr b="0" lang="en-US" sz="1300" spc="-1" strike="noStrike">
                <a:solidFill>
                  <a:schemeClr val="accent6"/>
                </a:solidFill>
                <a:latin typeface="Calibri"/>
              </a:rPr>
              <a:t>Pedidos (API)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Gherkin"/>
          <p:cNvSpPr/>
          <p:nvPr/>
        </p:nvSpPr>
        <p:spPr>
          <a:xfrm>
            <a:off x="3377160" y="2280240"/>
            <a:ext cx="5393880" cy="19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Dado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que envio POST /api/pedidos com 1× P005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Quando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o cliente tem &lt;variacao&gt;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Então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a API não responde com erro 5xx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registro o status, o código de erro e o corpo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Exemplo desta evidência"/>
          <p:cNvSpPr/>
          <p:nvPr/>
        </p:nvSpPr>
        <p:spPr>
          <a:xfrm>
            <a:off x="3331440" y="4337640"/>
            <a:ext cx="5485320" cy="164484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15875">
            <a:solidFill>
              <a:srgbClr val="0b72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Text 9"/>
          <p:cNvSpPr/>
          <p:nvPr/>
        </p:nvSpPr>
        <p:spPr>
          <a:xfrm>
            <a:off x="3514320" y="4429080"/>
            <a:ext cx="511956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EXEMPLOS · LINHA 1 DE 7 (ESTA EVIDÊNCIA)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arâmetros do exemplo"/>
          <p:cNvSpPr/>
          <p:nvPr/>
        </p:nvSpPr>
        <p:spPr>
          <a:xfrm>
            <a:off x="3514320" y="4730760"/>
            <a:ext cx="511956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2"/>
                </a:solidFill>
                <a:latin typeface="Calibri"/>
              </a:rPr>
              <a:t>&lt;variacao&gt;</a:t>
            </a: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  =  nome com espaços extras ("Maria  ")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PlaceHolder 2"/>
          <p:cNvSpPr>
            <a:spLocks noGrp="1"/>
          </p:cNvSpPr>
          <p:nvPr>
            <p:ph type="sldNum" idx="33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882204A-D622-464D-8435-D290104189B8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Text 51"/>
          <p:cNvSpPr/>
          <p:nvPr/>
        </p:nvSpPr>
        <p:spPr>
          <a:xfrm>
            <a:off x="457200" y="32004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PEDIDO · EXEMPLO 1 DE 7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Camada API 13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Chip EX-A3- 1"/>
          <p:cNvSpPr/>
          <p:nvPr/>
        </p:nvSpPr>
        <p:spPr>
          <a:xfrm>
            <a:off x="457200" y="71316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EX-A3-01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2194560" y="64008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Pedido com dados do cliente atípicos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 type="sldNum" idx="34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F922A78-E18A-4E36-BEE8-13DA21548A84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15" name="" descr=""/>
          <p:cNvPicPr/>
          <p:nvPr/>
        </p:nvPicPr>
        <p:blipFill>
          <a:blip r:embed="rId1"/>
          <a:stretch/>
        </p:blipFill>
        <p:spPr>
          <a:xfrm>
            <a:off x="1488240" y="1440000"/>
            <a:ext cx="9311400" cy="4781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Text 0"/>
          <p:cNvSpPr/>
          <p:nvPr/>
        </p:nvSpPr>
        <p:spPr>
          <a:xfrm>
            <a:off x="457200" y="32004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PEDIDO · EXEMPLO 2 DE 7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Camada API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Chip EX-A3-02"/>
          <p:cNvSpPr/>
          <p:nvPr/>
        </p:nvSpPr>
        <p:spPr>
          <a:xfrm>
            <a:off x="457200" y="71316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EX-A3-02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9" name="PlaceHolder 1"/>
          <p:cNvSpPr>
            <a:spLocks noGrp="1"/>
          </p:cNvSpPr>
          <p:nvPr>
            <p:ph type="title"/>
          </p:nvPr>
        </p:nvSpPr>
        <p:spPr>
          <a:xfrm>
            <a:off x="2194560" y="64008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Pedido com dados do cliente atípicos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Cartão Gherkin"/>
          <p:cNvSpPr/>
          <p:nvPr/>
        </p:nvSpPr>
        <p:spPr>
          <a:xfrm>
            <a:off x="3148560" y="1417320"/>
            <a:ext cx="5851080" cy="466236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12700">
            <a:solidFill>
              <a:srgbClr val="eef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Text 5"/>
          <p:cNvSpPr/>
          <p:nvPr/>
        </p:nvSpPr>
        <p:spPr>
          <a:xfrm>
            <a:off x="3377160" y="1554480"/>
            <a:ext cx="539388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ESQUEMA DO CENÁRIO (GHERKIN)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Text 6"/>
          <p:cNvSpPr/>
          <p:nvPr/>
        </p:nvSpPr>
        <p:spPr>
          <a:xfrm>
            <a:off x="3377160" y="1828800"/>
            <a:ext cx="53938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accent6"/>
                </a:solidFill>
                <a:latin typeface="Calibri"/>
              </a:rPr>
              <a:t>Funcionalidade: </a:t>
            </a:r>
            <a:r>
              <a:rPr b="0" lang="en-US" sz="1300" spc="-1" strike="noStrike">
                <a:solidFill>
                  <a:schemeClr val="accent6"/>
                </a:solidFill>
                <a:latin typeface="Calibri"/>
              </a:rPr>
              <a:t>Pedidos (API)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Gherkin"/>
          <p:cNvSpPr/>
          <p:nvPr/>
        </p:nvSpPr>
        <p:spPr>
          <a:xfrm>
            <a:off x="3377160" y="2240280"/>
            <a:ext cx="5393880" cy="19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Dado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que envio POST /api/pedidos com 1× P005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Quando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o cliente tem &lt;variacao&gt;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Então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a API não responde com erro 5xx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registro o status, o código de erro e o corpo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Exemplo desta evidência"/>
          <p:cNvSpPr/>
          <p:nvPr/>
        </p:nvSpPr>
        <p:spPr>
          <a:xfrm>
            <a:off x="3331440" y="4297680"/>
            <a:ext cx="5485320" cy="164484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15875">
            <a:solidFill>
              <a:srgbClr val="0b72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Text 9"/>
          <p:cNvSpPr/>
          <p:nvPr/>
        </p:nvSpPr>
        <p:spPr>
          <a:xfrm>
            <a:off x="3514320" y="4389120"/>
            <a:ext cx="511956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EXEMPLOS · LINHA 2 DE 7 (ESTA EVIDÊNCIA)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Parâmetros do exemplo"/>
          <p:cNvSpPr/>
          <p:nvPr/>
        </p:nvSpPr>
        <p:spPr>
          <a:xfrm>
            <a:off x="3514320" y="4690800"/>
            <a:ext cx="511956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2"/>
                </a:solidFill>
                <a:latin typeface="Calibri"/>
              </a:rPr>
              <a:t>&lt;variacao&gt;</a:t>
            </a: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  =  nome só com espaços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PlaceHolder 2"/>
          <p:cNvSpPr>
            <a:spLocks noGrp="1"/>
          </p:cNvSpPr>
          <p:nvPr>
            <p:ph type="sldNum" idx="35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B84510B-3844-4062-BDA8-E2213B2A0DCC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Text 52"/>
          <p:cNvSpPr/>
          <p:nvPr/>
        </p:nvSpPr>
        <p:spPr>
          <a:xfrm>
            <a:off x="360000" y="7488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PEDIDO · EXEMPLO 2 DE 7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Camada API 14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Chip EX-A3- 2"/>
          <p:cNvSpPr/>
          <p:nvPr/>
        </p:nvSpPr>
        <p:spPr>
          <a:xfrm>
            <a:off x="360000" y="46800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EX-A3-02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" name="PlaceHolder 1"/>
          <p:cNvSpPr>
            <a:spLocks noGrp="1"/>
          </p:cNvSpPr>
          <p:nvPr>
            <p:ph type="title"/>
          </p:nvPr>
        </p:nvSpPr>
        <p:spPr>
          <a:xfrm>
            <a:off x="2097360" y="39492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Pedido com dados do cliente atípicos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PlaceHolder 2"/>
          <p:cNvSpPr>
            <a:spLocks noGrp="1"/>
          </p:cNvSpPr>
          <p:nvPr>
            <p:ph type="sldNum" idx="36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9E3022F-72BE-4A69-A67E-81E925E43E4A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33" name="" descr=""/>
          <p:cNvPicPr/>
          <p:nvPr/>
        </p:nvPicPr>
        <p:blipFill>
          <a:blip r:embed="rId1"/>
          <a:stretch/>
        </p:blipFill>
        <p:spPr>
          <a:xfrm>
            <a:off x="948240" y="1171800"/>
            <a:ext cx="10211400" cy="5127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Text 0"/>
          <p:cNvSpPr/>
          <p:nvPr/>
        </p:nvSpPr>
        <p:spPr>
          <a:xfrm>
            <a:off x="457200" y="32004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PEDIDO · EXEMPLO 3 DE 7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Camada API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Chip EX-A3-03"/>
          <p:cNvSpPr/>
          <p:nvPr/>
        </p:nvSpPr>
        <p:spPr>
          <a:xfrm>
            <a:off x="457200" y="71316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EX-A3-03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2194560" y="64008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Pedido com dados do cliente atípicos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Cartão Gherkin"/>
          <p:cNvSpPr/>
          <p:nvPr/>
        </p:nvSpPr>
        <p:spPr>
          <a:xfrm>
            <a:off x="3148560" y="1417320"/>
            <a:ext cx="5851080" cy="466236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12700">
            <a:solidFill>
              <a:srgbClr val="eef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Text 5"/>
          <p:cNvSpPr/>
          <p:nvPr/>
        </p:nvSpPr>
        <p:spPr>
          <a:xfrm>
            <a:off x="3377160" y="1554480"/>
            <a:ext cx="539388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ESQUEMA DO CENÁRIO (GHERKIN)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Text 6"/>
          <p:cNvSpPr/>
          <p:nvPr/>
        </p:nvSpPr>
        <p:spPr>
          <a:xfrm>
            <a:off x="3377160" y="1828800"/>
            <a:ext cx="53938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accent6"/>
                </a:solidFill>
                <a:latin typeface="Calibri"/>
              </a:rPr>
              <a:t>Funcionalidade: </a:t>
            </a:r>
            <a:r>
              <a:rPr b="0" lang="en-US" sz="1300" spc="-1" strike="noStrike">
                <a:solidFill>
                  <a:schemeClr val="accent6"/>
                </a:solidFill>
                <a:latin typeface="Calibri"/>
              </a:rPr>
              <a:t>Pedidos (API)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Gherkin"/>
          <p:cNvSpPr/>
          <p:nvPr/>
        </p:nvSpPr>
        <p:spPr>
          <a:xfrm>
            <a:off x="3377160" y="2240280"/>
            <a:ext cx="5393880" cy="19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Dado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que envio POST /api/pedidos com 1× P005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Quando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o cliente tem &lt;variacao&gt;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Então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a API não responde com erro 5xx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 </a:t>
            </a: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registro o status, o código de erro e o corpo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Exemplo desta evidência"/>
          <p:cNvSpPr/>
          <p:nvPr/>
        </p:nvSpPr>
        <p:spPr>
          <a:xfrm>
            <a:off x="3331440" y="4297680"/>
            <a:ext cx="5485320" cy="164484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15875">
            <a:solidFill>
              <a:srgbClr val="0b72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Text 9"/>
          <p:cNvSpPr/>
          <p:nvPr/>
        </p:nvSpPr>
        <p:spPr>
          <a:xfrm>
            <a:off x="3514320" y="4389120"/>
            <a:ext cx="511956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EXEMPLOS · LINHA 3 DE 7 (ESTA EVIDÊNCIA)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arâmetros do exemplo"/>
          <p:cNvSpPr/>
          <p:nvPr/>
        </p:nvSpPr>
        <p:spPr>
          <a:xfrm>
            <a:off x="3514320" y="4690800"/>
            <a:ext cx="511956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2"/>
                </a:solidFill>
                <a:latin typeface="Calibri"/>
              </a:rPr>
              <a:t>&lt;variacao&gt;</a:t>
            </a: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  =  e-mail com espaço no meio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2"/>
          <p:cNvSpPr>
            <a:spLocks noGrp="1"/>
          </p:cNvSpPr>
          <p:nvPr>
            <p:ph type="sldNum" idx="37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FDF90EF-04D5-4E5C-B291-B87954AD060D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ext 53"/>
          <p:cNvSpPr/>
          <p:nvPr/>
        </p:nvSpPr>
        <p:spPr>
          <a:xfrm>
            <a:off x="457200" y="4572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PEDIDO · EXEMPLO 3 DE 7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Camada API 15"/>
          <p:cNvSpPr/>
          <p:nvPr/>
        </p:nvSpPr>
        <p:spPr>
          <a:xfrm>
            <a:off x="10744200" y="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Chip EX-A3- 3"/>
          <p:cNvSpPr/>
          <p:nvPr/>
        </p:nvSpPr>
        <p:spPr>
          <a:xfrm>
            <a:off x="457200" y="43884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EX-A3-03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" name="PlaceHolder 1"/>
          <p:cNvSpPr>
            <a:spLocks noGrp="1"/>
          </p:cNvSpPr>
          <p:nvPr>
            <p:ph type="title"/>
          </p:nvPr>
        </p:nvSpPr>
        <p:spPr>
          <a:xfrm>
            <a:off x="2194560" y="36576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Pedido com dados do cliente atípicos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PlaceHolder 2"/>
          <p:cNvSpPr>
            <a:spLocks noGrp="1"/>
          </p:cNvSpPr>
          <p:nvPr>
            <p:ph type="sldNum" idx="38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96DD3CC-DA6F-4C6E-8695-9E57A18795EA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51" name="" descr=""/>
          <p:cNvPicPr/>
          <p:nvPr/>
        </p:nvPicPr>
        <p:blipFill>
          <a:blip r:embed="rId1"/>
          <a:stretch/>
        </p:blipFill>
        <p:spPr>
          <a:xfrm>
            <a:off x="1080000" y="1042560"/>
            <a:ext cx="10259640" cy="5257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Text 0"/>
          <p:cNvSpPr/>
          <p:nvPr/>
        </p:nvSpPr>
        <p:spPr>
          <a:xfrm>
            <a:off x="457200" y="32004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PEDIDO · EXEMPLO 4 DE 7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Camada API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4" name="Chip EX-A3-04"/>
          <p:cNvSpPr/>
          <p:nvPr/>
        </p:nvSpPr>
        <p:spPr>
          <a:xfrm>
            <a:off x="457200" y="71316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EX-A3-04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5" name="PlaceHolder 1"/>
          <p:cNvSpPr>
            <a:spLocks noGrp="1"/>
          </p:cNvSpPr>
          <p:nvPr>
            <p:ph type="title"/>
          </p:nvPr>
        </p:nvSpPr>
        <p:spPr>
          <a:xfrm>
            <a:off x="2194560" y="64008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Pedido com dados do cliente atípicos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Cartão Gherkin"/>
          <p:cNvSpPr/>
          <p:nvPr/>
        </p:nvSpPr>
        <p:spPr>
          <a:xfrm>
            <a:off x="3148560" y="1417320"/>
            <a:ext cx="5851080" cy="466236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12700">
            <a:solidFill>
              <a:srgbClr val="eef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Text 5"/>
          <p:cNvSpPr/>
          <p:nvPr/>
        </p:nvSpPr>
        <p:spPr>
          <a:xfrm>
            <a:off x="3377160" y="1554480"/>
            <a:ext cx="539388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ESQUEMA DO CENÁRIO (GHERKIN)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Text 6"/>
          <p:cNvSpPr/>
          <p:nvPr/>
        </p:nvSpPr>
        <p:spPr>
          <a:xfrm>
            <a:off x="3377160" y="1828800"/>
            <a:ext cx="53938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accent6"/>
                </a:solidFill>
                <a:latin typeface="Calibri"/>
              </a:rPr>
              <a:t>Funcionalidade: </a:t>
            </a:r>
            <a:r>
              <a:rPr b="0" lang="en-US" sz="1300" spc="-1" strike="noStrike">
                <a:solidFill>
                  <a:schemeClr val="accent6"/>
                </a:solidFill>
                <a:latin typeface="Calibri"/>
              </a:rPr>
              <a:t>Pedidos (API)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Gherkin"/>
          <p:cNvSpPr/>
          <p:nvPr/>
        </p:nvSpPr>
        <p:spPr>
          <a:xfrm>
            <a:off x="3377160" y="2240280"/>
            <a:ext cx="5393880" cy="19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Dado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que envio POST /api/pedidos com 1× P005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Quando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o cliente tem &lt;variacao&gt;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Então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a API não responde com erro 5xx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    </a:t>
            </a: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registro o status, o código de erro e o corpo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Exemplo desta evidência"/>
          <p:cNvSpPr/>
          <p:nvPr/>
        </p:nvSpPr>
        <p:spPr>
          <a:xfrm>
            <a:off x="3331440" y="4297680"/>
            <a:ext cx="5485320" cy="164484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15875">
            <a:solidFill>
              <a:srgbClr val="0b72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Text 9"/>
          <p:cNvSpPr/>
          <p:nvPr/>
        </p:nvSpPr>
        <p:spPr>
          <a:xfrm>
            <a:off x="3514320" y="4389120"/>
            <a:ext cx="511956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EXEMPLOS · LINHA 4 DE 7 (ESTA EVIDÊNCIA)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arâmetros do exemplo"/>
          <p:cNvSpPr/>
          <p:nvPr/>
        </p:nvSpPr>
        <p:spPr>
          <a:xfrm>
            <a:off x="3514320" y="4690800"/>
            <a:ext cx="511956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2"/>
                </a:solidFill>
                <a:latin typeface="Calibri"/>
              </a:rPr>
              <a:t>&lt;variacao&gt;</a:t>
            </a: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  =  CEP com hífen fora do lugar (0131-0100)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2"/>
          <p:cNvSpPr>
            <a:spLocks noGrp="1"/>
          </p:cNvSpPr>
          <p:nvPr>
            <p:ph type="sldNum" idx="39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B146458-9563-4B0D-B7FC-D405BB7C8C49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Text 54"/>
          <p:cNvSpPr/>
          <p:nvPr/>
        </p:nvSpPr>
        <p:spPr>
          <a:xfrm>
            <a:off x="457200" y="7488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PEDIDO · EXEMPLO 4 DE 7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Camada API 16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6" name="Chip EX-A3- 4"/>
          <p:cNvSpPr/>
          <p:nvPr/>
        </p:nvSpPr>
        <p:spPr>
          <a:xfrm>
            <a:off x="457200" y="46800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EX-A3-04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" name="PlaceHolder 1"/>
          <p:cNvSpPr>
            <a:spLocks noGrp="1"/>
          </p:cNvSpPr>
          <p:nvPr>
            <p:ph type="title"/>
          </p:nvPr>
        </p:nvSpPr>
        <p:spPr>
          <a:xfrm>
            <a:off x="2194560" y="39492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Pedido com dados do cliente atípicos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PlaceHolder 2"/>
          <p:cNvSpPr>
            <a:spLocks noGrp="1"/>
          </p:cNvSpPr>
          <p:nvPr>
            <p:ph type="sldNum" idx="40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DC32A45-26DF-4CD2-B87E-7638C5853018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69" name="" descr=""/>
          <p:cNvPicPr/>
          <p:nvPr/>
        </p:nvPicPr>
        <p:blipFill>
          <a:blip r:embed="rId1"/>
          <a:stretch/>
        </p:blipFill>
        <p:spPr>
          <a:xfrm>
            <a:off x="1488240" y="1080000"/>
            <a:ext cx="9379800" cy="5039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Text 0"/>
          <p:cNvSpPr/>
          <p:nvPr/>
        </p:nvSpPr>
        <p:spPr>
          <a:xfrm>
            <a:off x="457200" y="32004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PEDIDO · EXEMPLO 5 DE 7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Camada API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2" name="Chip EX-A3-05"/>
          <p:cNvSpPr/>
          <p:nvPr/>
        </p:nvSpPr>
        <p:spPr>
          <a:xfrm>
            <a:off x="457200" y="71316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EX-A3-05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3" name="PlaceHolder 1"/>
          <p:cNvSpPr>
            <a:spLocks noGrp="1"/>
          </p:cNvSpPr>
          <p:nvPr>
            <p:ph type="title"/>
          </p:nvPr>
        </p:nvSpPr>
        <p:spPr>
          <a:xfrm>
            <a:off x="2194560" y="64008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Pedido com dados do cliente atípicos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Cartão Gherkin"/>
          <p:cNvSpPr/>
          <p:nvPr/>
        </p:nvSpPr>
        <p:spPr>
          <a:xfrm>
            <a:off x="3148560" y="1417320"/>
            <a:ext cx="5851080" cy="466236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12700">
            <a:solidFill>
              <a:srgbClr val="eef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Text 5"/>
          <p:cNvSpPr/>
          <p:nvPr/>
        </p:nvSpPr>
        <p:spPr>
          <a:xfrm>
            <a:off x="3377160" y="1554480"/>
            <a:ext cx="539388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ESQUEMA DO CENÁRIO (GHERKIN)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Text 6"/>
          <p:cNvSpPr/>
          <p:nvPr/>
        </p:nvSpPr>
        <p:spPr>
          <a:xfrm>
            <a:off x="3377160" y="1828800"/>
            <a:ext cx="53938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accent6"/>
                </a:solidFill>
                <a:latin typeface="Calibri"/>
              </a:rPr>
              <a:t>Funcionalidade: </a:t>
            </a:r>
            <a:r>
              <a:rPr b="0" lang="en-US" sz="1300" spc="-1" strike="noStrike">
                <a:solidFill>
                  <a:schemeClr val="accent6"/>
                </a:solidFill>
                <a:latin typeface="Calibri"/>
              </a:rPr>
              <a:t>Pedidos (API)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Gherkin"/>
          <p:cNvSpPr/>
          <p:nvPr/>
        </p:nvSpPr>
        <p:spPr>
          <a:xfrm>
            <a:off x="3377160" y="2240280"/>
            <a:ext cx="5393880" cy="19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Dado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que envio POST /api/pedidos com 1× P005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Quando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o cliente tem &lt;variacao&gt;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Então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a API não responde com erro 5xx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    </a:t>
            </a: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registro o status, o código de erro e o corpo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Exemplo desta evidência"/>
          <p:cNvSpPr/>
          <p:nvPr/>
        </p:nvSpPr>
        <p:spPr>
          <a:xfrm>
            <a:off x="3331440" y="4297680"/>
            <a:ext cx="5485320" cy="164484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15875">
            <a:solidFill>
              <a:srgbClr val="0b72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Text 9"/>
          <p:cNvSpPr/>
          <p:nvPr/>
        </p:nvSpPr>
        <p:spPr>
          <a:xfrm>
            <a:off x="3514320" y="4389120"/>
            <a:ext cx="511956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EXEMPLOS · LINHA 5 DE 7 (ESTA EVIDÊNCIA)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Parâmetros do exemplo"/>
          <p:cNvSpPr/>
          <p:nvPr/>
        </p:nvSpPr>
        <p:spPr>
          <a:xfrm>
            <a:off x="3514320" y="4690800"/>
            <a:ext cx="511956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2"/>
                </a:solidFill>
                <a:latin typeface="Calibri"/>
              </a:rPr>
              <a:t>&lt;variacao&gt;</a:t>
            </a: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  =  CEP com espaço (01310 100)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PlaceHolder 2"/>
          <p:cNvSpPr>
            <a:spLocks noGrp="1"/>
          </p:cNvSpPr>
          <p:nvPr>
            <p:ph type="sldNum" idx="41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C15441B-E052-46E0-891C-F1EF11AB65D6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Text 55"/>
          <p:cNvSpPr/>
          <p:nvPr/>
        </p:nvSpPr>
        <p:spPr>
          <a:xfrm>
            <a:off x="457200" y="7488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PEDIDO · EXEMPLO 5 DE 7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Camada API 17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4" name="Chip EX-A3- 5"/>
          <p:cNvSpPr/>
          <p:nvPr/>
        </p:nvSpPr>
        <p:spPr>
          <a:xfrm>
            <a:off x="457200" y="46800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EX-A3-05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" name="PlaceHolder 1"/>
          <p:cNvSpPr>
            <a:spLocks noGrp="1"/>
          </p:cNvSpPr>
          <p:nvPr>
            <p:ph type="title"/>
          </p:nvPr>
        </p:nvSpPr>
        <p:spPr>
          <a:xfrm>
            <a:off x="2194560" y="39492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Pedido com dados do cliente atípicos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PlaceHolder 2"/>
          <p:cNvSpPr>
            <a:spLocks noGrp="1"/>
          </p:cNvSpPr>
          <p:nvPr>
            <p:ph type="sldNum" idx="42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BBFD999-8D3C-4F1B-8042-0998ECE07AC5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87" name="" descr=""/>
          <p:cNvPicPr/>
          <p:nvPr/>
        </p:nvPicPr>
        <p:blipFill>
          <a:blip r:embed="rId1"/>
          <a:stretch/>
        </p:blipFill>
        <p:spPr>
          <a:xfrm>
            <a:off x="1440000" y="1080000"/>
            <a:ext cx="9491400" cy="50727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Text 0"/>
          <p:cNvSpPr/>
          <p:nvPr/>
        </p:nvSpPr>
        <p:spPr>
          <a:xfrm>
            <a:off x="457200" y="32004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PEDIDO · EXEMPLO 6 DE 7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Camada API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" name="Chip EX-A3-06"/>
          <p:cNvSpPr/>
          <p:nvPr/>
        </p:nvSpPr>
        <p:spPr>
          <a:xfrm>
            <a:off x="457200" y="71316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EX-A3-06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1" name="PlaceHolder 1"/>
          <p:cNvSpPr>
            <a:spLocks noGrp="1"/>
          </p:cNvSpPr>
          <p:nvPr>
            <p:ph type="title"/>
          </p:nvPr>
        </p:nvSpPr>
        <p:spPr>
          <a:xfrm>
            <a:off x="2194560" y="64008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Pedido com dados do cliente atípicos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Cartão Gherkin"/>
          <p:cNvSpPr/>
          <p:nvPr/>
        </p:nvSpPr>
        <p:spPr>
          <a:xfrm>
            <a:off x="3148560" y="1440000"/>
            <a:ext cx="5851080" cy="466236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12700">
            <a:solidFill>
              <a:srgbClr val="eef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Text 5"/>
          <p:cNvSpPr/>
          <p:nvPr/>
        </p:nvSpPr>
        <p:spPr>
          <a:xfrm>
            <a:off x="3377160" y="1577160"/>
            <a:ext cx="539388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ESQUEMA DO CENÁRIO (GHERKIN)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Text 6"/>
          <p:cNvSpPr/>
          <p:nvPr/>
        </p:nvSpPr>
        <p:spPr>
          <a:xfrm>
            <a:off x="3377160" y="1851480"/>
            <a:ext cx="53938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accent6"/>
                </a:solidFill>
                <a:latin typeface="Calibri"/>
              </a:rPr>
              <a:t>Funcionalidade: </a:t>
            </a:r>
            <a:r>
              <a:rPr b="0" lang="en-US" sz="1300" spc="-1" strike="noStrike">
                <a:solidFill>
                  <a:schemeClr val="accent6"/>
                </a:solidFill>
                <a:latin typeface="Calibri"/>
              </a:rPr>
              <a:t>Pedidos (API)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Gherkin"/>
          <p:cNvSpPr/>
          <p:nvPr/>
        </p:nvSpPr>
        <p:spPr>
          <a:xfrm>
            <a:off x="3377160" y="2262960"/>
            <a:ext cx="5393880" cy="19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Dado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que envio POST /api/pedidos com 1× P005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Quando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o cliente tem &lt;variacao&gt;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Então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a API não responde com erro 5xx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    </a:t>
            </a: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registro o status, o código de erro e o corpo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Exemplo desta evidência"/>
          <p:cNvSpPr/>
          <p:nvPr/>
        </p:nvSpPr>
        <p:spPr>
          <a:xfrm>
            <a:off x="3331440" y="4320360"/>
            <a:ext cx="5485320" cy="164484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15875">
            <a:solidFill>
              <a:srgbClr val="0b72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 9"/>
          <p:cNvSpPr/>
          <p:nvPr/>
        </p:nvSpPr>
        <p:spPr>
          <a:xfrm>
            <a:off x="3514320" y="4411800"/>
            <a:ext cx="511956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EXEMPLOS · LINHA 6 DE 7 (ESTA EVIDÊNCIA)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arâmetros do exemplo"/>
          <p:cNvSpPr/>
          <p:nvPr/>
        </p:nvSpPr>
        <p:spPr>
          <a:xfrm>
            <a:off x="3514320" y="4713480"/>
            <a:ext cx="511956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2"/>
                </a:solidFill>
                <a:latin typeface="Calibri"/>
              </a:rPr>
              <a:t>&lt;variacao&gt;</a:t>
            </a: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  =  o objeto "cliente" ausente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2"/>
          <p:cNvSpPr>
            <a:spLocks noGrp="1"/>
          </p:cNvSpPr>
          <p:nvPr>
            <p:ph type="sldNum" idx="43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2118DB3-53F0-4D86-AA85-77AA2A00F325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ext 56"/>
          <p:cNvSpPr/>
          <p:nvPr/>
        </p:nvSpPr>
        <p:spPr>
          <a:xfrm>
            <a:off x="457200" y="7488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PEDIDO · EXEMPLO 6 DE 7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Camada API 18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Chip EX-A3- 6"/>
          <p:cNvSpPr/>
          <p:nvPr/>
        </p:nvSpPr>
        <p:spPr>
          <a:xfrm>
            <a:off x="457200" y="46800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EX-A3-06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" name="PlaceHolder 1"/>
          <p:cNvSpPr>
            <a:spLocks noGrp="1"/>
          </p:cNvSpPr>
          <p:nvPr>
            <p:ph type="title"/>
          </p:nvPr>
        </p:nvSpPr>
        <p:spPr>
          <a:xfrm>
            <a:off x="2194560" y="39492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Pedido com dados do cliente atípicos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2"/>
          <p:cNvSpPr>
            <a:spLocks noGrp="1"/>
          </p:cNvSpPr>
          <p:nvPr>
            <p:ph type="sldNum" idx="44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7C9C7E1-FA54-46C8-A322-3F2F682FC3C7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405" name="" descr=""/>
          <p:cNvPicPr/>
          <p:nvPr/>
        </p:nvPicPr>
        <p:blipFill>
          <a:blip r:embed="rId1"/>
          <a:stretch/>
        </p:blipFill>
        <p:spPr>
          <a:xfrm>
            <a:off x="1308240" y="1260000"/>
            <a:ext cx="10039680" cy="5137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Text 0"/>
          <p:cNvSpPr/>
          <p:nvPr/>
        </p:nvSpPr>
        <p:spPr>
          <a:xfrm>
            <a:off x="457200" y="32004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PEDIDO · EXEMPLO 7 DE 7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Camada API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Chip EX-A3-07"/>
          <p:cNvSpPr/>
          <p:nvPr/>
        </p:nvSpPr>
        <p:spPr>
          <a:xfrm>
            <a:off x="457200" y="71316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EX-A3-07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9" name="PlaceHolder 1"/>
          <p:cNvSpPr>
            <a:spLocks noGrp="1"/>
          </p:cNvSpPr>
          <p:nvPr>
            <p:ph type="title"/>
          </p:nvPr>
        </p:nvSpPr>
        <p:spPr>
          <a:xfrm>
            <a:off x="2194560" y="64008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Pedido com dados do cliente atípicos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Cartão Gherkin"/>
          <p:cNvSpPr/>
          <p:nvPr/>
        </p:nvSpPr>
        <p:spPr>
          <a:xfrm>
            <a:off x="3148560" y="1353240"/>
            <a:ext cx="5851080" cy="466236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12700">
            <a:solidFill>
              <a:srgbClr val="eef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Text 5"/>
          <p:cNvSpPr/>
          <p:nvPr/>
        </p:nvSpPr>
        <p:spPr>
          <a:xfrm>
            <a:off x="3377160" y="1490400"/>
            <a:ext cx="539388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ESQUEMA DO CENÁRIO (GHERKIN)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Text 6"/>
          <p:cNvSpPr/>
          <p:nvPr/>
        </p:nvSpPr>
        <p:spPr>
          <a:xfrm>
            <a:off x="3377160" y="1764720"/>
            <a:ext cx="53938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accent6"/>
                </a:solidFill>
                <a:latin typeface="Calibri"/>
              </a:rPr>
              <a:t>Funcionalidade: </a:t>
            </a:r>
            <a:r>
              <a:rPr b="0" lang="en-US" sz="1300" spc="-1" strike="noStrike">
                <a:solidFill>
                  <a:schemeClr val="accent6"/>
                </a:solidFill>
                <a:latin typeface="Calibri"/>
              </a:rPr>
              <a:t>Pedidos (API)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Gherkin"/>
          <p:cNvSpPr/>
          <p:nvPr/>
        </p:nvSpPr>
        <p:spPr>
          <a:xfrm>
            <a:off x="3377160" y="2176200"/>
            <a:ext cx="5393880" cy="19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Dado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que envio POST /api/pedidos com 1× P005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Quando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o cliente tem &lt;variacao&gt;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Então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a API não responde com erro 5xx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registro o status, o código de erro e o corpo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Exemplo desta evidência"/>
          <p:cNvSpPr/>
          <p:nvPr/>
        </p:nvSpPr>
        <p:spPr>
          <a:xfrm>
            <a:off x="3331440" y="4233600"/>
            <a:ext cx="5485320" cy="164484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15875">
            <a:solidFill>
              <a:srgbClr val="0b72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Text 9"/>
          <p:cNvSpPr/>
          <p:nvPr/>
        </p:nvSpPr>
        <p:spPr>
          <a:xfrm>
            <a:off x="3514320" y="4325040"/>
            <a:ext cx="511956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EXEMPLOS · LINHA 7 DE 7 (ESTA EVIDÊNCIA)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Parâmetros do exemplo"/>
          <p:cNvSpPr/>
          <p:nvPr/>
        </p:nvSpPr>
        <p:spPr>
          <a:xfrm>
            <a:off x="3514320" y="4626720"/>
            <a:ext cx="511956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2"/>
                </a:solidFill>
                <a:latin typeface="Calibri"/>
              </a:rPr>
              <a:t>&lt;variacao&gt;</a:t>
            </a: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  =  dados válidos e sem cupom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PlaceHolder 2"/>
          <p:cNvSpPr>
            <a:spLocks noGrp="1"/>
          </p:cNvSpPr>
          <p:nvPr>
            <p:ph type="sldNum" idx="45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AFF2240-964C-41A4-BFD4-B7BB26A54127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Text 57"/>
          <p:cNvSpPr/>
          <p:nvPr/>
        </p:nvSpPr>
        <p:spPr>
          <a:xfrm>
            <a:off x="457200" y="7488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PEDIDO · EXEMPLO 7 DE 7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Camada API 19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0" name="Chip EX-A3- 7"/>
          <p:cNvSpPr/>
          <p:nvPr/>
        </p:nvSpPr>
        <p:spPr>
          <a:xfrm>
            <a:off x="457200" y="46800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EX-A3-07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1" name="PlaceHolder 1"/>
          <p:cNvSpPr>
            <a:spLocks noGrp="1"/>
          </p:cNvSpPr>
          <p:nvPr>
            <p:ph type="title"/>
          </p:nvPr>
        </p:nvSpPr>
        <p:spPr>
          <a:xfrm>
            <a:off x="2194560" y="39492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Pedido com dados do cliente atípicos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PlaceHolder 2"/>
          <p:cNvSpPr>
            <a:spLocks noGrp="1"/>
          </p:cNvSpPr>
          <p:nvPr>
            <p:ph type="sldNum" idx="46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34068BA-2F8B-4717-A476-5A9EBCD16048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423" name="" descr=""/>
          <p:cNvPicPr/>
          <p:nvPr/>
        </p:nvPicPr>
        <p:blipFill>
          <a:blip r:embed="rId1"/>
          <a:stretch/>
        </p:blipFill>
        <p:spPr>
          <a:xfrm>
            <a:off x="1128240" y="1111680"/>
            <a:ext cx="10211400" cy="5187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Text 0"/>
          <p:cNvSpPr/>
          <p:nvPr/>
        </p:nvSpPr>
        <p:spPr>
          <a:xfrm>
            <a:off x="457200" y="32004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FLUXOS · PASSO 1 DE 4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Camada API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Chip EX-A4-01"/>
          <p:cNvSpPr/>
          <p:nvPr/>
        </p:nvSpPr>
        <p:spPr>
          <a:xfrm>
            <a:off x="457200" y="71316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EX-A4-01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7" name="PlaceHolder 1"/>
          <p:cNvSpPr>
            <a:spLocks noGrp="1"/>
          </p:cNvSpPr>
          <p:nvPr>
            <p:ph type="title"/>
          </p:nvPr>
        </p:nvSpPr>
        <p:spPr>
          <a:xfrm>
            <a:off x="2194560" y="64008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Consistência entre endpoints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Cartão Gherkin"/>
          <p:cNvSpPr/>
          <p:nvPr/>
        </p:nvSpPr>
        <p:spPr>
          <a:xfrm>
            <a:off x="3148560" y="1440000"/>
            <a:ext cx="5851080" cy="466236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12700">
            <a:solidFill>
              <a:srgbClr val="eef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Text 5"/>
          <p:cNvSpPr/>
          <p:nvPr/>
        </p:nvSpPr>
        <p:spPr>
          <a:xfrm>
            <a:off x="3377160" y="1577160"/>
            <a:ext cx="539388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CENÁRIO (GHERKIN)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Text 6"/>
          <p:cNvSpPr/>
          <p:nvPr/>
        </p:nvSpPr>
        <p:spPr>
          <a:xfrm>
            <a:off x="3377160" y="1851480"/>
            <a:ext cx="53938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accent6"/>
                </a:solidFill>
                <a:latin typeface="Calibri"/>
              </a:rPr>
              <a:t>Funcionalidade: </a:t>
            </a:r>
            <a:r>
              <a:rPr b="0" lang="en-US" sz="1300" spc="-1" strike="noStrike">
                <a:solidFill>
                  <a:schemeClr val="accent6"/>
                </a:solidFill>
                <a:latin typeface="Calibri"/>
              </a:rPr>
              <a:t>Cálculo e pedido (API)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Text 7"/>
          <p:cNvSpPr/>
          <p:nvPr/>
        </p:nvSpPr>
        <p:spPr>
          <a:xfrm>
            <a:off x="3377160" y="2217240"/>
            <a:ext cx="53938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accent2"/>
                </a:solidFill>
                <a:latin typeface="Calibri"/>
              </a:rPr>
              <a:t>Passo 1 de 4: Calcular e guardar valores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Gherkin"/>
          <p:cNvSpPr/>
          <p:nvPr/>
        </p:nvSpPr>
        <p:spPr>
          <a:xfrm>
            <a:off x="3377160" y="2628720"/>
            <a:ext cx="5393880" cy="32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Dado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que o carrinho é P002×1 + P004×2 com "BEMVINDO10"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Quando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envio POST /api/carrinho/calcular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Então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recebo 200 com subtotal 239,70 e desconto 23,97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frete 0 e total 215,73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os valores ficam guardados nas variáveis fl_*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PlaceHolder 2"/>
          <p:cNvSpPr>
            <a:spLocks noGrp="1"/>
          </p:cNvSpPr>
          <p:nvPr>
            <p:ph type="sldNum" idx="47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672C94F-CCF7-4955-A719-85287B8C60E2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Text 58"/>
          <p:cNvSpPr/>
          <p:nvPr/>
        </p:nvSpPr>
        <p:spPr>
          <a:xfrm>
            <a:off x="457200" y="7488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FLUXOS · PASSO 1 DE 4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Camada API 20"/>
          <p:cNvSpPr/>
          <p:nvPr/>
        </p:nvSpPr>
        <p:spPr>
          <a:xfrm>
            <a:off x="10744200" y="33660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6" name="Chip EX-A4- 1"/>
          <p:cNvSpPr/>
          <p:nvPr/>
        </p:nvSpPr>
        <p:spPr>
          <a:xfrm>
            <a:off x="457200" y="46800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EX-A4-01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" name="PlaceHolder 1"/>
          <p:cNvSpPr>
            <a:spLocks noGrp="1"/>
          </p:cNvSpPr>
          <p:nvPr>
            <p:ph type="title"/>
          </p:nvPr>
        </p:nvSpPr>
        <p:spPr>
          <a:xfrm>
            <a:off x="2194560" y="39492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Consistência entre endpoints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PlaceHolder 2"/>
          <p:cNvSpPr>
            <a:spLocks noGrp="1"/>
          </p:cNvSpPr>
          <p:nvPr>
            <p:ph type="sldNum" idx="48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46D494A-A082-4FD8-921F-30209F81CCF9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439" name="" descr=""/>
          <p:cNvPicPr/>
          <p:nvPr/>
        </p:nvPicPr>
        <p:blipFill>
          <a:blip r:embed="rId1"/>
          <a:stretch/>
        </p:blipFill>
        <p:spPr>
          <a:xfrm>
            <a:off x="1128240" y="1213920"/>
            <a:ext cx="9851400" cy="5265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Text 59"/>
          <p:cNvSpPr/>
          <p:nvPr/>
        </p:nvSpPr>
        <p:spPr>
          <a:xfrm>
            <a:off x="457200" y="7488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FLUXOS · PASSO 1 DE 4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Camada API 21"/>
          <p:cNvSpPr/>
          <p:nvPr/>
        </p:nvSpPr>
        <p:spPr>
          <a:xfrm>
            <a:off x="10744200" y="33660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" name="Chip EX-A4- 2"/>
          <p:cNvSpPr/>
          <p:nvPr/>
        </p:nvSpPr>
        <p:spPr>
          <a:xfrm>
            <a:off x="457200" y="46800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EX-A4-01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3" name="PlaceHolder 1"/>
          <p:cNvSpPr>
            <a:spLocks noGrp="1"/>
          </p:cNvSpPr>
          <p:nvPr>
            <p:ph type="title"/>
          </p:nvPr>
        </p:nvSpPr>
        <p:spPr>
          <a:xfrm>
            <a:off x="2194560" y="39492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Consistência entre endpoints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PlaceHolder 2"/>
          <p:cNvSpPr>
            <a:spLocks noGrp="1"/>
          </p:cNvSpPr>
          <p:nvPr>
            <p:ph type="sldNum" idx="49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8F6092D-C163-4584-ADDF-C079BA307FFD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445" name="" descr=""/>
          <p:cNvPicPr/>
          <p:nvPr/>
        </p:nvPicPr>
        <p:blipFill>
          <a:blip r:embed="rId1"/>
          <a:stretch/>
        </p:blipFill>
        <p:spPr>
          <a:xfrm>
            <a:off x="1260000" y="1203480"/>
            <a:ext cx="9607320" cy="4916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Text 0"/>
          <p:cNvSpPr/>
          <p:nvPr/>
        </p:nvSpPr>
        <p:spPr>
          <a:xfrm>
            <a:off x="457200" y="32004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FLUXOS · PASSO 2 DE 4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Camada API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Chip EX-A4-02"/>
          <p:cNvSpPr/>
          <p:nvPr/>
        </p:nvSpPr>
        <p:spPr>
          <a:xfrm>
            <a:off x="457200" y="71316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EX-A4-02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9" name="PlaceHolder 1"/>
          <p:cNvSpPr>
            <a:spLocks noGrp="1"/>
          </p:cNvSpPr>
          <p:nvPr>
            <p:ph type="title"/>
          </p:nvPr>
        </p:nvSpPr>
        <p:spPr>
          <a:xfrm>
            <a:off x="2194560" y="64008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Consistência entre endpoints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Cartão Gherkin"/>
          <p:cNvSpPr/>
          <p:nvPr/>
        </p:nvSpPr>
        <p:spPr>
          <a:xfrm>
            <a:off x="3148560" y="1457280"/>
            <a:ext cx="5851080" cy="466236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12700">
            <a:solidFill>
              <a:srgbClr val="eef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Text 5"/>
          <p:cNvSpPr/>
          <p:nvPr/>
        </p:nvSpPr>
        <p:spPr>
          <a:xfrm>
            <a:off x="3377160" y="1594440"/>
            <a:ext cx="539388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CENÁRIO (GHERKIN)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Text 6"/>
          <p:cNvSpPr/>
          <p:nvPr/>
        </p:nvSpPr>
        <p:spPr>
          <a:xfrm>
            <a:off x="3377160" y="1868760"/>
            <a:ext cx="53938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accent6"/>
                </a:solidFill>
                <a:latin typeface="Calibri"/>
              </a:rPr>
              <a:t>Funcionalidade: </a:t>
            </a:r>
            <a:r>
              <a:rPr b="0" lang="en-US" sz="1300" spc="-1" strike="noStrike">
                <a:solidFill>
                  <a:schemeClr val="accent6"/>
                </a:solidFill>
                <a:latin typeface="Calibri"/>
              </a:rPr>
              <a:t>Cálculo e pedido (API)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Text 7"/>
          <p:cNvSpPr/>
          <p:nvPr/>
        </p:nvSpPr>
        <p:spPr>
          <a:xfrm>
            <a:off x="3377160" y="2234520"/>
            <a:ext cx="53938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accent2"/>
                </a:solidFill>
                <a:latin typeface="Calibri"/>
              </a:rPr>
              <a:t>Passo 2 de 4: Pedido igual ao cálculo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Gherkin"/>
          <p:cNvSpPr/>
          <p:nvPr/>
        </p:nvSpPr>
        <p:spPr>
          <a:xfrm>
            <a:off x="3377160" y="2646000"/>
            <a:ext cx="5393880" cy="32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Dado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que calculei o carrinho no passo anterior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Quando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envio POST /api/pedidos com os mesmos itens e cupom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Então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recebo 201 com número no formato "VZ-000000"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subtotal, desconto, frete e total são iguais aos do cálculo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PlaceHolder 2"/>
          <p:cNvSpPr>
            <a:spLocks noGrp="1"/>
          </p:cNvSpPr>
          <p:nvPr>
            <p:ph type="sldNum" idx="50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1A922BB-FF0F-4EDB-8E14-79BFBE76BA22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Text 60"/>
          <p:cNvSpPr/>
          <p:nvPr/>
        </p:nvSpPr>
        <p:spPr>
          <a:xfrm>
            <a:off x="453600" y="7488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FLUXOS · PASSO 2 DE 4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Camada API 22"/>
          <p:cNvSpPr/>
          <p:nvPr/>
        </p:nvSpPr>
        <p:spPr>
          <a:xfrm>
            <a:off x="10740600" y="33660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8" name="Chip EX-A4- 3"/>
          <p:cNvSpPr/>
          <p:nvPr/>
        </p:nvSpPr>
        <p:spPr>
          <a:xfrm>
            <a:off x="453600" y="46800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EX-A4-02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9" name="PlaceHolder 1"/>
          <p:cNvSpPr>
            <a:spLocks noGrp="1"/>
          </p:cNvSpPr>
          <p:nvPr>
            <p:ph type="title"/>
          </p:nvPr>
        </p:nvSpPr>
        <p:spPr>
          <a:xfrm>
            <a:off x="2190960" y="39492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Consistência entre </a:t>
            </a: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endpoints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PlaceHolder 2"/>
          <p:cNvSpPr>
            <a:spLocks noGrp="1"/>
          </p:cNvSpPr>
          <p:nvPr>
            <p:ph type="sldNum" idx="51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19DE641-165F-468E-998E-D14D94603074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461" name="" descr=""/>
          <p:cNvPicPr/>
          <p:nvPr/>
        </p:nvPicPr>
        <p:blipFill>
          <a:blip r:embed="rId1"/>
          <a:stretch/>
        </p:blipFill>
        <p:spPr>
          <a:xfrm>
            <a:off x="1036800" y="1119960"/>
            <a:ext cx="10122840" cy="5179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Text 61"/>
          <p:cNvSpPr/>
          <p:nvPr/>
        </p:nvSpPr>
        <p:spPr>
          <a:xfrm>
            <a:off x="453600" y="7488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FLUXOS · PASSO 2 DE 4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Camada API 23"/>
          <p:cNvSpPr/>
          <p:nvPr/>
        </p:nvSpPr>
        <p:spPr>
          <a:xfrm>
            <a:off x="10740600" y="33660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" name="Chip EX-A4- 4"/>
          <p:cNvSpPr/>
          <p:nvPr/>
        </p:nvSpPr>
        <p:spPr>
          <a:xfrm>
            <a:off x="453600" y="46800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EX-A4-02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5" name="PlaceHolder 1"/>
          <p:cNvSpPr>
            <a:spLocks noGrp="1"/>
          </p:cNvSpPr>
          <p:nvPr>
            <p:ph type="title"/>
          </p:nvPr>
        </p:nvSpPr>
        <p:spPr>
          <a:xfrm>
            <a:off x="2190960" y="39492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Consistência entre endpoints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PlaceHolder 2"/>
          <p:cNvSpPr>
            <a:spLocks noGrp="1"/>
          </p:cNvSpPr>
          <p:nvPr>
            <p:ph type="sldNum" idx="52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36B4A23-1B85-48B2-AE4D-2175F98D2BE0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467" name="" descr=""/>
          <p:cNvPicPr/>
          <p:nvPr/>
        </p:nvPicPr>
        <p:blipFill>
          <a:blip r:embed="rId1"/>
          <a:stretch/>
        </p:blipFill>
        <p:spPr>
          <a:xfrm>
            <a:off x="900000" y="1102320"/>
            <a:ext cx="10259640" cy="5197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Text 0"/>
          <p:cNvSpPr/>
          <p:nvPr/>
        </p:nvSpPr>
        <p:spPr>
          <a:xfrm>
            <a:off x="457200" y="32004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FLUXOS · PASSO 3 DE 4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Camada API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0" name="Chip EX-A4-03"/>
          <p:cNvSpPr/>
          <p:nvPr/>
        </p:nvSpPr>
        <p:spPr>
          <a:xfrm>
            <a:off x="457200" y="71316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EX-A4-03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1" name="PlaceHolder 1"/>
          <p:cNvSpPr>
            <a:spLocks noGrp="1"/>
          </p:cNvSpPr>
          <p:nvPr>
            <p:ph type="title"/>
          </p:nvPr>
        </p:nvSpPr>
        <p:spPr>
          <a:xfrm>
            <a:off x="2194560" y="64008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Consistência entre endpoints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Cartão Gherkin"/>
          <p:cNvSpPr/>
          <p:nvPr/>
        </p:nvSpPr>
        <p:spPr>
          <a:xfrm>
            <a:off x="3148560" y="1371600"/>
            <a:ext cx="5851080" cy="466236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12700">
            <a:solidFill>
              <a:srgbClr val="eef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Text 5"/>
          <p:cNvSpPr/>
          <p:nvPr/>
        </p:nvSpPr>
        <p:spPr>
          <a:xfrm>
            <a:off x="3377160" y="1508760"/>
            <a:ext cx="539388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CENÁRIO (GHERKIN)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Text 6"/>
          <p:cNvSpPr/>
          <p:nvPr/>
        </p:nvSpPr>
        <p:spPr>
          <a:xfrm>
            <a:off x="3377160" y="1783080"/>
            <a:ext cx="53938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accent6"/>
                </a:solidFill>
                <a:latin typeface="Calibri"/>
              </a:rPr>
              <a:t>Funcionalidade: </a:t>
            </a:r>
            <a:r>
              <a:rPr b="0" lang="en-US" sz="1300" spc="-1" strike="noStrike">
                <a:solidFill>
                  <a:schemeClr val="accent6"/>
                </a:solidFill>
                <a:latin typeface="Calibri"/>
              </a:rPr>
              <a:t>Cálculo e pedido (API)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 7"/>
          <p:cNvSpPr/>
          <p:nvPr/>
        </p:nvSpPr>
        <p:spPr>
          <a:xfrm>
            <a:off x="3377160" y="2148840"/>
            <a:ext cx="53938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accent2"/>
                </a:solidFill>
                <a:latin typeface="Calibri"/>
              </a:rPr>
              <a:t>Passo 3 de 4: Consultar preços do catálogo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Gherkin"/>
          <p:cNvSpPr/>
          <p:nvPr/>
        </p:nvSpPr>
        <p:spPr>
          <a:xfrm>
            <a:off x="3377160" y="2560320"/>
            <a:ext cx="5393880" cy="32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Dado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que preciso dos preços de P002 e P004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Quando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envio GET /api/produtos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Então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recebo 200 com os 8 produtos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os preços de P002 e P004 ficam guardados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PlaceHolder 2"/>
          <p:cNvSpPr>
            <a:spLocks noGrp="1"/>
          </p:cNvSpPr>
          <p:nvPr>
            <p:ph type="sldNum" idx="53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0A5A8CC-7E33-4923-8B3A-69B23805DA7E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Text 62"/>
          <p:cNvSpPr/>
          <p:nvPr/>
        </p:nvSpPr>
        <p:spPr>
          <a:xfrm>
            <a:off x="360000" y="7488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FLUXOS · PASSO 3 DE 4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Camada API 24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0" name="Chip EX-A4- 5"/>
          <p:cNvSpPr/>
          <p:nvPr/>
        </p:nvSpPr>
        <p:spPr>
          <a:xfrm>
            <a:off x="360000" y="46800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EX-A4-03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1" name="PlaceHolder 1"/>
          <p:cNvSpPr>
            <a:spLocks noGrp="1"/>
          </p:cNvSpPr>
          <p:nvPr>
            <p:ph type="title"/>
          </p:nvPr>
        </p:nvSpPr>
        <p:spPr>
          <a:xfrm>
            <a:off x="2097360" y="39492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Consistência entre endpoints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PlaceHolder 2"/>
          <p:cNvSpPr>
            <a:spLocks noGrp="1"/>
          </p:cNvSpPr>
          <p:nvPr>
            <p:ph type="sldNum" idx="54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F8154F6-BED4-4FD2-87C4-827AB8CDAB31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483" name="" descr=""/>
          <p:cNvPicPr/>
          <p:nvPr/>
        </p:nvPicPr>
        <p:blipFill>
          <a:blip r:embed="rId1"/>
          <a:stretch/>
        </p:blipFill>
        <p:spPr>
          <a:xfrm>
            <a:off x="1157400" y="1260000"/>
            <a:ext cx="9822240" cy="4993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Text 63"/>
          <p:cNvSpPr/>
          <p:nvPr/>
        </p:nvSpPr>
        <p:spPr>
          <a:xfrm>
            <a:off x="360000" y="7488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FLUXOS · PASSO 3 DE 4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Camada API 25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Chip EX-A4- 6"/>
          <p:cNvSpPr/>
          <p:nvPr/>
        </p:nvSpPr>
        <p:spPr>
          <a:xfrm>
            <a:off x="360000" y="46800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EX-A4-03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7" name="PlaceHolder 1"/>
          <p:cNvSpPr>
            <a:spLocks noGrp="1"/>
          </p:cNvSpPr>
          <p:nvPr>
            <p:ph type="title"/>
          </p:nvPr>
        </p:nvSpPr>
        <p:spPr>
          <a:xfrm>
            <a:off x="2097360" y="39492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Consistência entre endpoints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PlaceHolder 2"/>
          <p:cNvSpPr>
            <a:spLocks noGrp="1"/>
          </p:cNvSpPr>
          <p:nvPr>
            <p:ph type="sldNum" idx="55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6F61E86-4348-406F-820F-D7F4AA86CE61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489" name="" descr=""/>
          <p:cNvPicPr/>
          <p:nvPr/>
        </p:nvPicPr>
        <p:blipFill>
          <a:blip r:embed="rId1"/>
          <a:stretch/>
        </p:blipFill>
        <p:spPr>
          <a:xfrm>
            <a:off x="1260000" y="1080000"/>
            <a:ext cx="9965160" cy="5091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Text 0"/>
          <p:cNvSpPr/>
          <p:nvPr/>
        </p:nvSpPr>
        <p:spPr>
          <a:xfrm>
            <a:off x="457200" y="32004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FLUXOS · PASSO 4 DE 4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Camada API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" name="Chip EX-A4-04"/>
          <p:cNvSpPr/>
          <p:nvPr/>
        </p:nvSpPr>
        <p:spPr>
          <a:xfrm>
            <a:off x="457200" y="71316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EX-A4-04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3" name="PlaceHolder 1"/>
          <p:cNvSpPr>
            <a:spLocks noGrp="1"/>
          </p:cNvSpPr>
          <p:nvPr>
            <p:ph type="title"/>
          </p:nvPr>
        </p:nvSpPr>
        <p:spPr>
          <a:xfrm>
            <a:off x="2194560" y="64008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Consistência entre endpoints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Cartão Gherkin"/>
          <p:cNvSpPr/>
          <p:nvPr/>
        </p:nvSpPr>
        <p:spPr>
          <a:xfrm>
            <a:off x="3148560" y="1440000"/>
            <a:ext cx="5851080" cy="466236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12700">
            <a:solidFill>
              <a:srgbClr val="eef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Text 5"/>
          <p:cNvSpPr/>
          <p:nvPr/>
        </p:nvSpPr>
        <p:spPr>
          <a:xfrm>
            <a:off x="3377160" y="1577160"/>
            <a:ext cx="539388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CENÁRIO (GHERKIN)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Text 6"/>
          <p:cNvSpPr/>
          <p:nvPr/>
        </p:nvSpPr>
        <p:spPr>
          <a:xfrm>
            <a:off x="3377160" y="1851480"/>
            <a:ext cx="53938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accent6"/>
                </a:solidFill>
                <a:latin typeface="Calibri"/>
              </a:rPr>
              <a:t>Funcionalidade: </a:t>
            </a:r>
            <a:r>
              <a:rPr b="0" lang="en-US" sz="1300" spc="-1" strike="noStrike">
                <a:solidFill>
                  <a:schemeClr val="accent6"/>
                </a:solidFill>
                <a:latin typeface="Calibri"/>
              </a:rPr>
              <a:t>Cálculo e pedido (API)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Text 7"/>
          <p:cNvSpPr/>
          <p:nvPr/>
        </p:nvSpPr>
        <p:spPr>
          <a:xfrm>
            <a:off x="3377160" y="2217240"/>
            <a:ext cx="53938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chemeClr val="accent2"/>
                </a:solidFill>
                <a:latin typeface="Calibri"/>
              </a:rPr>
              <a:t>Passo 4 de 4: Subtotal = soma do catálogo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Gherkin"/>
          <p:cNvSpPr/>
          <p:nvPr/>
        </p:nvSpPr>
        <p:spPr>
          <a:xfrm>
            <a:off x="3377160" y="2628720"/>
            <a:ext cx="5393880" cy="32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Dado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que conheço os preços de P002 e P004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Quando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calculo P002×1 + P004×2 sem cupom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2"/>
                </a:solidFill>
                <a:latin typeface="Calibri"/>
              </a:rPr>
              <a:t>Então</a:t>
            </a: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 o subtotal é a soma dos preços do catálogo (239,70)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PlaceHolder 2"/>
          <p:cNvSpPr>
            <a:spLocks noGrp="1"/>
          </p:cNvSpPr>
          <p:nvPr>
            <p:ph type="sldNum" idx="56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2A41C81-BE07-46F3-86A4-69AA760275C8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Text 14"/>
          <p:cNvSpPr/>
          <p:nvPr/>
        </p:nvSpPr>
        <p:spPr>
          <a:xfrm>
            <a:off x="470880" y="74880"/>
            <a:ext cx="96001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2" strike="noStrike">
                <a:solidFill>
                  <a:schemeClr val="accent2"/>
                </a:solidFill>
                <a:latin typeface="Calibri"/>
              </a:rPr>
              <a:t>API · EXPLORATÓRIO · FLUXOS · PASSO 4 DE 4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Camada API 26"/>
          <p:cNvSpPr/>
          <p:nvPr/>
        </p:nvSpPr>
        <p:spPr>
          <a:xfrm>
            <a:off x="10744200" y="274320"/>
            <a:ext cx="959040" cy="383040"/>
          </a:xfrm>
          <a:prstGeom prst="roundRect">
            <a:avLst>
              <a:gd name="adj" fmla="val 2381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</a:rPr>
              <a:t>API</a:t>
            </a:r>
            <a:endParaRPr b="0" lang="pt-B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2" name="Chip EX-A4- 7"/>
          <p:cNvSpPr/>
          <p:nvPr/>
        </p:nvSpPr>
        <p:spPr>
          <a:xfrm>
            <a:off x="470880" y="468000"/>
            <a:ext cx="1599120" cy="54756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EX-A4-04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3" name="PlaceHolder 1"/>
          <p:cNvSpPr>
            <a:spLocks noGrp="1"/>
          </p:cNvSpPr>
          <p:nvPr>
            <p:ph type="title"/>
          </p:nvPr>
        </p:nvSpPr>
        <p:spPr>
          <a:xfrm>
            <a:off x="2208240" y="394920"/>
            <a:ext cx="8411400" cy="68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chemeClr val="dk2"/>
                </a:solidFill>
                <a:latin typeface="Calibri"/>
              </a:rPr>
              <a:t>Consistência entre endpoints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PlaceHolder 2"/>
          <p:cNvSpPr>
            <a:spLocks noGrp="1"/>
          </p:cNvSpPr>
          <p:nvPr>
            <p:ph type="sldNum" idx="57"/>
          </p:nvPr>
        </p:nvSpPr>
        <p:spPr>
          <a:xfrm>
            <a:off x="11137320" y="6446520"/>
            <a:ext cx="593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604C834-B51C-4222-8A15-96C8CC094DB3}" type="slidenum">
              <a:rPr b="0" lang="en-US" sz="1000" spc="-1" strike="noStrike">
                <a:solidFill>
                  <a:schemeClr val="accent6"/>
                </a:solidFill>
                <a:latin typeface="Calibri"/>
              </a:rPr>
              <a:t>&lt;número&gt;</a:t>
            </a:fld>
            <a:endParaRPr b="0" lang="pt-BR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505" name="" descr=""/>
          <p:cNvPicPr/>
          <p:nvPr/>
        </p:nvPicPr>
        <p:blipFill>
          <a:blip r:embed="rId1"/>
          <a:stretch/>
        </p:blipFill>
        <p:spPr>
          <a:xfrm>
            <a:off x="1308240" y="1080000"/>
            <a:ext cx="9920160" cy="5039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Verzel QA">
  <a:themeElements>
    <a:clrScheme name="Verzel QA">
      <a:dk1>
        <a:srgbClr val="0b1b33"/>
      </a:dk1>
      <a:lt1>
        <a:srgbClr val="ffffff"/>
      </a:lt1>
      <a:dk2>
        <a:srgbClr val="021e3f"/>
      </a:dk2>
      <a:lt2>
        <a:srgbClr val="eef1f7"/>
      </a:lt2>
      <a:accent1>
        <a:srgbClr val="5b4fe0"/>
      </a:accent1>
      <a:accent2>
        <a:srgbClr val="0b7285"/>
      </a:accent2>
      <a:accent3>
        <a:srgbClr val="cafa04"/>
      </a:accent3>
      <a:accent4>
        <a:srgbClr val="3f7d14"/>
      </a:accent4>
      <a:accent5>
        <a:srgbClr val="b42318"/>
      </a:accent5>
      <a:accent6>
        <a:srgbClr val="475467"/>
      </a:accent6>
      <a:hlink>
        <a:srgbClr val="5b4fe0"/>
      </a:hlink>
      <a:folHlink>
        <a:srgbClr val="475467"/>
      </a:folHlink>
    </a:clrScheme>
    <a:fontScheme name="Verzel QA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erzel QA">
  <a:themeElements>
    <a:clrScheme name="Verzel QA">
      <a:dk1>
        <a:srgbClr val="0b1b33"/>
      </a:dk1>
      <a:lt1>
        <a:srgbClr val="ffffff"/>
      </a:lt1>
      <a:dk2>
        <a:srgbClr val="021e3f"/>
      </a:dk2>
      <a:lt2>
        <a:srgbClr val="eef1f7"/>
      </a:lt2>
      <a:accent1>
        <a:srgbClr val="5b4fe0"/>
      </a:accent1>
      <a:accent2>
        <a:srgbClr val="0b7285"/>
      </a:accent2>
      <a:accent3>
        <a:srgbClr val="cafa04"/>
      </a:accent3>
      <a:accent4>
        <a:srgbClr val="3f7d14"/>
      </a:accent4>
      <a:accent5>
        <a:srgbClr val="b42318"/>
      </a:accent5>
      <a:accent6>
        <a:srgbClr val="475467"/>
      </a:accent6>
      <a:hlink>
        <a:srgbClr val="5b4fe0"/>
      </a:hlink>
      <a:folHlink>
        <a:srgbClr val="475467"/>
      </a:folHlink>
    </a:clrScheme>
    <a:fontScheme name="Verzel QA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Verzel QA">
  <a:themeElements>
    <a:clrScheme name="Verzel QA">
      <a:dk1>
        <a:srgbClr val="0b1b33"/>
      </a:dk1>
      <a:lt1>
        <a:srgbClr val="ffffff"/>
      </a:lt1>
      <a:dk2>
        <a:srgbClr val="021e3f"/>
      </a:dk2>
      <a:lt2>
        <a:srgbClr val="eef1f7"/>
      </a:lt2>
      <a:accent1>
        <a:srgbClr val="5b4fe0"/>
      </a:accent1>
      <a:accent2>
        <a:srgbClr val="0b7285"/>
      </a:accent2>
      <a:accent3>
        <a:srgbClr val="cafa04"/>
      </a:accent3>
      <a:accent4>
        <a:srgbClr val="3f7d14"/>
      </a:accent4>
      <a:accent5>
        <a:srgbClr val="b42318"/>
      </a:accent5>
      <a:accent6>
        <a:srgbClr val="475467"/>
      </a:accent6>
      <a:hlink>
        <a:srgbClr val="5b4fe0"/>
      </a:hlink>
      <a:folHlink>
        <a:srgbClr val="475467"/>
      </a:folHlink>
    </a:clrScheme>
    <a:fontScheme name="Verzel QA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Verzel QA">
  <a:themeElements>
    <a:clrScheme name="Verzel QA">
      <a:dk1>
        <a:srgbClr val="0b1b33"/>
      </a:dk1>
      <a:lt1>
        <a:srgbClr val="ffffff"/>
      </a:lt1>
      <a:dk2>
        <a:srgbClr val="021e3f"/>
      </a:dk2>
      <a:lt2>
        <a:srgbClr val="eef1f7"/>
      </a:lt2>
      <a:accent1>
        <a:srgbClr val="5b4fe0"/>
      </a:accent1>
      <a:accent2>
        <a:srgbClr val="0b7285"/>
      </a:accent2>
      <a:accent3>
        <a:srgbClr val="cafa04"/>
      </a:accent3>
      <a:accent4>
        <a:srgbClr val="3f7d14"/>
      </a:accent4>
      <a:accent5>
        <a:srgbClr val="b42318"/>
      </a:accent5>
      <a:accent6>
        <a:srgbClr val="475467"/>
      </a:accent6>
      <a:hlink>
        <a:srgbClr val="5b4fe0"/>
      </a:hlink>
      <a:folHlink>
        <a:srgbClr val="475467"/>
      </a:folHlink>
    </a:clrScheme>
    <a:fontScheme name="Verzel QA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128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2026-10-08T22:16:19Z</dcterms:created>
  <dc:creator>PptxGenJS</dc:creator>
  <dc:description/>
  <dc:language>pt-BR</dc:language>
  <cp:lastModifiedBy/>
  <dcterms:modified xsi:type="dcterms:W3CDTF">2026-10-09T17:54:33Z</dcterms:modified>
  <cp:revision>9</cp:revision>
  <dc:subject>PptxGenJS Presentation</dc:subject>
  <dc:title>Verzel Store – Execução manual: exploratórios (VZS-142)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61</vt:i4>
  </property>
  <property fmtid="{D5CDD505-2E9C-101B-9397-08002B2CF9AE}" pid="3" name="PresentationFormat">
    <vt:lpwstr>On-screen Show (16:9)</vt:lpwstr>
  </property>
  <property fmtid="{D5CDD505-2E9C-101B-9397-08002B2CF9AE}" pid="4" name="Slides">
    <vt:i4>61</vt:i4>
  </property>
</Properties>
</file>