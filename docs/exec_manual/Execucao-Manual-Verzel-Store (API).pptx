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54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50.xml.rels" ContentType="application/vnd.openxmlformats-package.relationships+xml"/>
  <Override PartName="/ppt/notesSlides/notesSlide5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move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r 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79DD05-5F43-4E53-ADE4-AF103623AFA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E83B8B-98BB-40DA-8E49-1C081A3D17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705502-EAF0-4D69-9CBE-9E6B1324C9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70C10E-FD86-4EE4-889C-B155BEA11F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A330B7-3CB6-4B08-A46B-DE6B4582A6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42A4A3-66AB-466E-8187-264F20AEE1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245E88-A600-4E85-9CF4-22C62CF743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608A6-0416-4D21-B1CF-395F4242B7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610C0E-D5E2-406E-BC0E-553058583D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9F55C2-7A05-431C-A0A2-B4B659F07C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4D24D9-D5D3-4757-B072-3E51477986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334C26-0FB8-45CC-935F-6077309426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10E70B-D972-4AA3-9CEC-139AB52C5E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B46FB4-8A63-49B6-AF8F-FA0E10A147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A71F46-2F72-4CF9-8A92-2AA160A602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45680F-37E6-4BF7-A482-72C64AA093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1C7043-0B9E-4E87-BF59-E087E72A66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4DD09D-51CA-4B2C-A328-5A1B80355C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611B33-B3AF-4DD7-BCDD-E09F246996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D2E6CB-B0E1-431E-92FA-70A56DD24D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1B2CD0-D5C5-4EA3-A656-0928AD21B3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115D6F-83A7-4F0F-AB1D-E47A36E42A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97C2A9-BD54-4904-B644-0A7EBB1491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FA8726-9997-4EF0-930D-53CE1367DE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C6B61B-A305-45C7-BD5B-36892690BD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7E749F-A126-4565-946B-CEF45B67BE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6149E0-9DDC-4DB2-A955-27E2A322E4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A2A6FA-BBE4-4D93-9060-8B861F4B08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810DA1-9DAD-4045-A924-973204BB2B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CE7774-8AD2-443C-93D5-8A179E58A9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7830DA-9AB3-4F19-B84B-B89295D6B9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54661C-7173-4712-9C26-AE7EA3F99E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7EA4D9-B75C-42FD-ACA3-08C84D050D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B866D4-342F-4B1D-BC46-BF18924748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445D20-7F0D-4974-9F28-DF8FC792F3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187319-FA40-4D74-ABF8-7E0FC8624D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DCD6FA-BA2A-43AD-8318-9ED2CAD08A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A530D7-FBB7-405F-A9D9-5EEB81D1B0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56CA70-ADE7-451B-9C98-92937F8DD4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3056B6-1628-48D9-AB26-07A52633DC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104359-EB44-49BB-888A-7F58C26828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7E54FA-0E84-472F-A152-5988B2F8AC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798F2E-2709-4968-BA4C-68C102024D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46B009-8D27-4866-B129-85748A9006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34F5DF-1D97-4618-BD8B-BAEC3E44B3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3509AE-DCDB-4C72-89AE-58F9B94AA7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71FADE-BE53-4D36-A8BA-92353FEB43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714D6A-1057-429F-9A57-AAF571FD97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FEDEC9-340D-4CE2-9528-0D9ECB1762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60E098-ADFD-45AE-8EA3-43F4A7EBBC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070B92-1E4D-447E-AD16-C8C08B2AB5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BAC98D-8747-4C42-87ED-A3707737D0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3518BD-86C5-475C-94A3-2B6F5DB959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961152-950A-4C35-9EFA-305068CC95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46A847-E3A1-45D5-976D-C4B2AFC343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89B968A-F740-4EC6-88BD-C5E0E4B2931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A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BA623B-46CE-4E4A-9A29-DE001576D4E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Cli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qu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par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a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edit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ar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for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ma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do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text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o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do 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títul</a:t>
            </a: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o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Clique para editar o formato de </a:t>
            </a: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texto dos tópicos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F6889E-0A50-4CF2-A8E2-64D5BE4CACC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formato do texto 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644652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accent6"/>
                </a:solidFill>
                <a:latin typeface="Calibri"/>
              </a:rPr>
              <a:t>Verzel Store · Execução manual (exploratórios) · VZS-142 v2.3.0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2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E9006C-537B-4EDA-9D99-0F94689829A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6765480" cy="19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Execução manual: cenários </a:t>
            </a:r>
            <a:r>
              <a:rPr b="1" lang="en-US" sz="4400" spc="-1" strike="noStrike">
                <a:solidFill>
                  <a:schemeClr val="lt1"/>
                </a:solidFill>
                <a:latin typeface="Calibri"/>
              </a:rPr>
              <a:t>exploratórios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40080" y="3611880"/>
            <a:ext cx="6399720" cy="109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2"/>
                </a:solidFill>
                <a:latin typeface="Calibri"/>
              </a:rPr>
              <a:t>Verzel Store · VZS-142 v2.3.0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2"/>
                </a:solidFill>
                <a:latin typeface="Calibri"/>
              </a:rPr>
              <a:t>Gherkin · 1 cartão por evidência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Chip ROTEIRO + EVIDÊNCIAS"/>
          <p:cNvSpPr/>
          <p:nvPr/>
        </p:nvSpPr>
        <p:spPr>
          <a:xfrm>
            <a:off x="640080" y="731520"/>
            <a:ext cx="2833560" cy="4561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3"/>
                </a:solidFill>
                <a:latin typeface="Calibri"/>
              </a:rPr>
              <a:t>ROTEIRO + EVIDÊNCIAS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040" cy="73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Co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m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o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us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ar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es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te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ro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tei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ro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asso 1"/>
          <p:cNvSpPr/>
          <p:nvPr/>
        </p:nvSpPr>
        <p:spPr>
          <a:xfrm>
            <a:off x="457200" y="1600200"/>
            <a:ext cx="2650680" cy="23306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Chip 1"/>
          <p:cNvSpPr/>
          <p:nvPr/>
        </p:nvSpPr>
        <p:spPr>
          <a:xfrm>
            <a:off x="640080" y="1783080"/>
            <a:ext cx="547560" cy="5475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1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40080" y="245052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Prepare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40080" y="2853000"/>
            <a:ext cx="22849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UI: loja em aba nova, zoom 100%. API: Bruno com a pasta bruno/ e o environment "Verzel Store".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asso 2"/>
          <p:cNvSpPr/>
          <p:nvPr/>
        </p:nvSpPr>
        <p:spPr>
          <a:xfrm>
            <a:off x="3291840" y="1600200"/>
            <a:ext cx="2650680" cy="23306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Chip 2"/>
          <p:cNvSpPr/>
          <p:nvPr/>
        </p:nvSpPr>
        <p:spPr>
          <a:xfrm>
            <a:off x="3474720" y="1783080"/>
            <a:ext cx="547560" cy="5475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2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3474720" y="245052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Execute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474720" y="2853000"/>
            <a:ext cx="22849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Siga o Gherkin do cartão. Cada cartão é uma evidência (um exemplo do esquema).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asso 3"/>
          <p:cNvSpPr/>
          <p:nvPr/>
        </p:nvSpPr>
        <p:spPr>
          <a:xfrm>
            <a:off x="6126480" y="1600200"/>
            <a:ext cx="2650680" cy="23306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Chip 3"/>
          <p:cNvSpPr/>
          <p:nvPr/>
        </p:nvSpPr>
        <p:spPr>
          <a:xfrm>
            <a:off x="6309360" y="1783080"/>
            <a:ext cx="547560" cy="5475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3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6309360" y="245052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Evidencie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6309360" y="2853000"/>
            <a:ext cx="22849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Print com URL/valores legíveis. Cole no quadro tracejado e salve com o nome do cartão.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asso 4"/>
          <p:cNvSpPr/>
          <p:nvPr/>
        </p:nvSpPr>
        <p:spPr>
          <a:xfrm>
            <a:off x="8961120" y="1600200"/>
            <a:ext cx="2650680" cy="233064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Chip 4"/>
          <p:cNvSpPr/>
          <p:nvPr/>
        </p:nvSpPr>
        <p:spPr>
          <a:xfrm>
            <a:off x="9144000" y="1783080"/>
            <a:ext cx="547560" cy="54756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chemeClr val="accent3"/>
                </a:solidFill>
                <a:latin typeface="Calibri"/>
              </a:rPr>
              <a:t>4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9144000" y="2450520"/>
            <a:ext cx="2284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2"/>
                </a:solidFill>
                <a:latin typeface="Calibri"/>
              </a:rPr>
              <a:t>Registre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9144000" y="2853000"/>
            <a:ext cx="22849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Marque o resultado, anote na planilha (aba Exploratórias) e abra bug em docs/BUGS.md se divergir.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Legenda UI"/>
          <p:cNvSpPr/>
          <p:nvPr/>
        </p:nvSpPr>
        <p:spPr>
          <a:xfrm>
            <a:off x="457200" y="4114800"/>
            <a:ext cx="5531040" cy="63900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Chip UI"/>
          <p:cNvSpPr/>
          <p:nvPr/>
        </p:nvSpPr>
        <p:spPr>
          <a:xfrm>
            <a:off x="594360" y="4206240"/>
            <a:ext cx="821880" cy="4561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UI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1600200" y="4160520"/>
            <a:ext cx="4205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Navegador (loja)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Legenda API"/>
          <p:cNvSpPr/>
          <p:nvPr/>
        </p:nvSpPr>
        <p:spPr>
          <a:xfrm>
            <a:off x="6172200" y="4114800"/>
            <a:ext cx="5531040" cy="63900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Chip API"/>
          <p:cNvSpPr/>
          <p:nvPr/>
        </p:nvSpPr>
        <p:spPr>
          <a:xfrm>
            <a:off x="6309360" y="4206240"/>
            <a:ext cx="821880" cy="4561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7315200" y="4160520"/>
            <a:ext cx="4205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2"/>
                </a:solidFill>
                <a:latin typeface="Calibri"/>
              </a:rPr>
              <a:t>Bruno (collection bruno/)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Aviso: não é bug"/>
          <p:cNvSpPr/>
          <p:nvPr/>
        </p:nvSpPr>
        <p:spPr>
          <a:xfrm>
            <a:off x="457200" y="4937760"/>
            <a:ext cx="11246040" cy="132480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rgbClr val="02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731520" y="5029200"/>
            <a:ext cx="10697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2" strike="noStrike">
                <a:solidFill>
                  <a:schemeClr val="accent3"/>
                </a:solidFill>
                <a:latin typeface="Calibri"/>
              </a:rPr>
              <a:t>NÃO REPORTE COMO BUG (seção "Sobre este ambiente")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731520" y="5349240"/>
            <a:ext cx="106974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</a:rPr>
              <a:t>Carrinho só na aba do navegador; pedidos não persistem e nenhum e-mail ou cobrança é feito.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</a:rPr>
              <a:t>Produtos, preços e cupons são fixos, sem estoque; a API não guarda estado.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6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487225-269B-4510-A2CC-FC098228E78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040" cy="73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Da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do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s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de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tes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te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re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gr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as-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ch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av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" name="Tabela de produtos"/>
          <p:cNvGraphicFramePr/>
          <p:nvPr/>
        </p:nvGraphicFramePr>
        <p:xfrm>
          <a:off x="457200" y="1554480"/>
          <a:ext cx="5760360" cy="4114800"/>
        </p:xfrm>
        <a:graphic>
          <a:graphicData uri="http://schemas.openxmlformats.org/drawingml/2006/table">
            <a:tbl>
              <a:tblPr/>
              <a:tblGrid>
                <a:gridCol w="822960"/>
                <a:gridCol w="3383280"/>
                <a:gridCol w="1554480"/>
              </a:tblGrid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Id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Produto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Preço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P001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Camiseta Essencial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R$ 59,90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P002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Calça Jeans Slim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R$ 139,90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P003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Tênis Casual Urbano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R$ 189,90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P004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Boné Aba Curva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R$ 49,90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P005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Mochila Urbana 20L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R$ 100,00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P006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Kit 3 Pares de Meias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R$ 29,90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P007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Jaqueta Corta-Vento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R$ 229,90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P008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Garrafa Térmica 750ml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R$ 50,00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8" name="Regra Cupons"/>
          <p:cNvSpPr/>
          <p:nvPr/>
        </p:nvSpPr>
        <p:spPr>
          <a:xfrm>
            <a:off x="6675120" y="1554480"/>
            <a:ext cx="5028120" cy="9590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858000" y="1600200"/>
            <a:ext cx="10962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Cupons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7955280" y="1600200"/>
            <a:ext cx="36565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BEMVINDO10 = 10% sobre o subtotal (válido)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VERAO2026 = 15% (expirado em 31/03/2026)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Regra Frete"/>
          <p:cNvSpPr/>
          <p:nvPr/>
        </p:nvSpPr>
        <p:spPr>
          <a:xfrm>
            <a:off x="6675120" y="2633400"/>
            <a:ext cx="5028120" cy="9590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858000" y="2679120"/>
            <a:ext cx="10962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Frete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7955280" y="2679120"/>
            <a:ext cx="36565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Grátis a partir de R$ 200,00 (inclusive)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Abaixo disso: R$ 19,90 fixo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gra Cálculo"/>
          <p:cNvSpPr/>
          <p:nvPr/>
        </p:nvSpPr>
        <p:spPr>
          <a:xfrm>
            <a:off x="6675120" y="3712320"/>
            <a:ext cx="5028120" cy="9590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858000" y="3758040"/>
            <a:ext cx="10962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Cálculo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7955280" y="3758040"/>
            <a:ext cx="36565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Total = subtotal − desconto + frete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O desconto não incide sobre o frete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gra Limite"/>
          <p:cNvSpPr/>
          <p:nvPr/>
        </p:nvSpPr>
        <p:spPr>
          <a:xfrm>
            <a:off x="6675120" y="4791600"/>
            <a:ext cx="5028120" cy="9590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6858000" y="4837320"/>
            <a:ext cx="10962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accent1"/>
                </a:solidFill>
                <a:latin typeface="Calibri"/>
              </a:rPr>
              <a:t>Limite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7955280" y="4837320"/>
            <a:ext cx="36565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No máximo 5 unidades por produto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7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FDBAA8-E0E8-4B74-B0FB-F19D0459D13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040" cy="73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Mapa dos </a:t>
            </a: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exploratórios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Cabeçalho API"/>
          <p:cNvSpPr/>
          <p:nvPr/>
        </p:nvSpPr>
        <p:spPr>
          <a:xfrm>
            <a:off x="2520000" y="1508760"/>
            <a:ext cx="5485320" cy="50184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</a:rPr>
              <a:t>API · BRUNO  ·  23 evidências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Linha A1"/>
          <p:cNvSpPr/>
          <p:nvPr/>
        </p:nvSpPr>
        <p:spPr>
          <a:xfrm>
            <a:off x="2520000" y="2103120"/>
            <a:ext cx="5485320" cy="51084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2"/>
          <p:cNvSpPr/>
          <p:nvPr/>
        </p:nvSpPr>
        <p:spPr>
          <a:xfrm>
            <a:off x="2657160" y="210312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3"/>
          <p:cNvSpPr/>
          <p:nvPr/>
        </p:nvSpPr>
        <p:spPr>
          <a:xfrm>
            <a:off x="3251520" y="2103120"/>
            <a:ext cx="39308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Cupom com tipos inválidos no cálculo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4"/>
          <p:cNvSpPr/>
          <p:nvPr/>
        </p:nvSpPr>
        <p:spPr>
          <a:xfrm>
            <a:off x="7229160" y="2103120"/>
            <a:ext cx="6390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Linha A2"/>
          <p:cNvSpPr/>
          <p:nvPr/>
        </p:nvSpPr>
        <p:spPr>
          <a:xfrm>
            <a:off x="2520000" y="2688480"/>
            <a:ext cx="5485320" cy="51084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36"/>
          <p:cNvSpPr/>
          <p:nvPr/>
        </p:nvSpPr>
        <p:spPr>
          <a:xfrm>
            <a:off x="2657160" y="268848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7"/>
          <p:cNvSpPr/>
          <p:nvPr/>
        </p:nvSpPr>
        <p:spPr>
          <a:xfrm>
            <a:off x="3251520" y="2688480"/>
            <a:ext cx="39308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Corpo do cálculo com campos atípicos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8"/>
          <p:cNvSpPr/>
          <p:nvPr/>
        </p:nvSpPr>
        <p:spPr>
          <a:xfrm>
            <a:off x="7229160" y="2688480"/>
            <a:ext cx="6390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8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Linha A3"/>
          <p:cNvSpPr/>
          <p:nvPr/>
        </p:nvSpPr>
        <p:spPr>
          <a:xfrm>
            <a:off x="2520000" y="3273480"/>
            <a:ext cx="5485320" cy="51084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40"/>
          <p:cNvSpPr/>
          <p:nvPr/>
        </p:nvSpPr>
        <p:spPr>
          <a:xfrm>
            <a:off x="2657160" y="327348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41"/>
          <p:cNvSpPr/>
          <p:nvPr/>
        </p:nvSpPr>
        <p:spPr>
          <a:xfrm>
            <a:off x="3251520" y="3273480"/>
            <a:ext cx="39308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Pedido com dados do cliente atípicos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42"/>
          <p:cNvSpPr/>
          <p:nvPr/>
        </p:nvSpPr>
        <p:spPr>
          <a:xfrm>
            <a:off x="7229160" y="3273480"/>
            <a:ext cx="6390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Linha A4"/>
          <p:cNvSpPr/>
          <p:nvPr/>
        </p:nvSpPr>
        <p:spPr>
          <a:xfrm>
            <a:off x="2520000" y="3858840"/>
            <a:ext cx="5485320" cy="51084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4"/>
          <p:cNvSpPr/>
          <p:nvPr/>
        </p:nvSpPr>
        <p:spPr>
          <a:xfrm>
            <a:off x="2657160" y="3858840"/>
            <a:ext cx="5475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A4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5"/>
          <p:cNvSpPr/>
          <p:nvPr/>
        </p:nvSpPr>
        <p:spPr>
          <a:xfrm>
            <a:off x="3251520" y="3858840"/>
            <a:ext cx="39308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Consistência entre endpoints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6"/>
          <p:cNvSpPr/>
          <p:nvPr/>
        </p:nvSpPr>
        <p:spPr>
          <a:xfrm>
            <a:off x="7229160" y="3858840"/>
            <a:ext cx="6390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2"/>
                </a:solidFill>
                <a:latin typeface="Calibri"/>
              </a:rPr>
              <a:t>4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8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7B3458-4C42-47F3-8739-0E9F215AA983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Chip EX-A1-01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tip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vá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lid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no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cál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artão Gherkin"/>
          <p:cNvSpPr/>
          <p:nvPr/>
        </p:nvSpPr>
        <p:spPr>
          <a:xfrm>
            <a:off x="2880000" y="162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3108600" y="175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3108600" y="203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herkin"/>
          <p:cNvSpPr/>
          <p:nvPr/>
        </p:nvSpPr>
        <p:spPr>
          <a:xfrm>
            <a:off x="3108600" y="244296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campo "cupom" é &lt;valor&gt;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Exemplo desta evidência"/>
          <p:cNvSpPr/>
          <p:nvPr/>
        </p:nvSpPr>
        <p:spPr>
          <a:xfrm>
            <a:off x="3062880" y="450036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3245760" y="45918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1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arâmetros do exemplo"/>
          <p:cNvSpPr/>
          <p:nvPr/>
        </p:nvSpPr>
        <p:spPr>
          <a:xfrm>
            <a:off x="3245760" y="489348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&lt;valor&gt;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null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9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2140D8-9263-413E-9AB5-8CFA84E062A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1"/>
          <p:cNvSpPr/>
          <p:nvPr/>
        </p:nvSpPr>
        <p:spPr>
          <a:xfrm>
            <a:off x="3600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amada API 1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Chip EX-A1- 1"/>
          <p:cNvSpPr/>
          <p:nvPr/>
        </p:nvSpPr>
        <p:spPr>
          <a:xfrm>
            <a:off x="3600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0973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tip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inv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áli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no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cál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cul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10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31FFFE-947D-4DC6-8667-8C39F7C3701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128240" y="1260000"/>
            <a:ext cx="9311400" cy="491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hip EX-A1-02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m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tip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inv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áli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do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no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cál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cul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artão Gherkin"/>
          <p:cNvSpPr/>
          <p:nvPr/>
        </p:nvSpPr>
        <p:spPr>
          <a:xfrm>
            <a:off x="457200" y="15544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3380040" y="16916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3380040" y="19659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herkin"/>
          <p:cNvSpPr/>
          <p:nvPr/>
        </p:nvSpPr>
        <p:spPr>
          <a:xfrm>
            <a:off x="3380040" y="23774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campo "cupom" é &lt;valor&gt;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Exemplo desta evidência"/>
          <p:cNvSpPr/>
          <p:nvPr/>
        </p:nvSpPr>
        <p:spPr>
          <a:xfrm>
            <a:off x="3334320" y="44348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3517200" y="45262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2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arâmetros do exemplo"/>
          <p:cNvSpPr/>
          <p:nvPr/>
        </p:nvSpPr>
        <p:spPr>
          <a:xfrm>
            <a:off x="3517200" y="48279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&lt;valor&gt;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123 (número)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11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A32223-070D-46B9-B9EE-8B6B72A3B68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18"/>
          <p:cNvSpPr/>
          <p:nvPr/>
        </p:nvSpPr>
        <p:spPr>
          <a:xfrm>
            <a:off x="47088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Camada API 2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Chip EX-A1- 2"/>
          <p:cNvSpPr/>
          <p:nvPr/>
        </p:nvSpPr>
        <p:spPr>
          <a:xfrm>
            <a:off x="47088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20824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Cupom com tipos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inválidos no cálculo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12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24C09D-6D14-4577-BC27-996437EEFA7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1488240" y="1080000"/>
            <a:ext cx="10031400" cy="514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Chip EX-A1-03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Cupom com tipos </a:t>
            </a: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inválidos no cálculo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artão Gherkin"/>
          <p:cNvSpPr/>
          <p:nvPr/>
        </p:nvSpPr>
        <p:spPr>
          <a:xfrm>
            <a:off x="3148560" y="135324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3377160" y="149040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3377160" y="176472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herkin"/>
          <p:cNvSpPr/>
          <p:nvPr/>
        </p:nvSpPr>
        <p:spPr>
          <a:xfrm>
            <a:off x="3377160" y="217620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campo "cupom" é &lt;valor&gt;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    </a:t>
            </a: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Exemplo desta evidência"/>
          <p:cNvSpPr/>
          <p:nvPr/>
        </p:nvSpPr>
        <p:spPr>
          <a:xfrm>
            <a:off x="3331440" y="423360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3514320" y="432504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3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arâmetros do exemplo"/>
          <p:cNvSpPr/>
          <p:nvPr/>
        </p:nvSpPr>
        <p:spPr>
          <a:xfrm>
            <a:off x="3514320" y="462672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&lt;valor&gt;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["BEMVINDO10"] (lista)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13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0E9BF3-ED8C-406E-BA9C-B5AD8204DE23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26"/>
          <p:cNvSpPr/>
          <p:nvPr/>
        </p:nvSpPr>
        <p:spPr>
          <a:xfrm>
            <a:off x="457200" y="4572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amada API 3"/>
          <p:cNvSpPr/>
          <p:nvPr/>
        </p:nvSpPr>
        <p:spPr>
          <a:xfrm>
            <a:off x="10744200" y="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Chip EX-A1- 3"/>
          <p:cNvSpPr/>
          <p:nvPr/>
        </p:nvSpPr>
        <p:spPr>
          <a:xfrm>
            <a:off x="457200" y="43884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194560" y="36576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Cupom com tipos inválidos no cálculo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14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EA388A-D019-4BFF-8255-791ADDB07EA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1128240" y="1045800"/>
            <a:ext cx="10391400" cy="540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Chip EX-A1-04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Cupom com tipos inválidos no cálculo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artão Gherkin"/>
          <p:cNvSpPr/>
          <p:nvPr/>
        </p:nvSpPr>
        <p:spPr>
          <a:xfrm>
            <a:off x="3148560" y="14572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3377160" y="15944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3377160" y="18687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herkin"/>
          <p:cNvSpPr/>
          <p:nvPr/>
        </p:nvSpPr>
        <p:spPr>
          <a:xfrm>
            <a:off x="3377160" y="22802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campo "cupom" é &lt;valor&gt;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Exemplo desta evidência"/>
          <p:cNvSpPr/>
          <p:nvPr/>
        </p:nvSpPr>
        <p:spPr>
          <a:xfrm>
            <a:off x="3331440" y="43376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3514320" y="44290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4 DE 4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arâmetros do exemplo"/>
          <p:cNvSpPr/>
          <p:nvPr/>
        </p:nvSpPr>
        <p:spPr>
          <a:xfrm>
            <a:off x="3514320" y="47307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&lt;valor&gt;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true (booleano)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15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C7CD99-17A6-4550-B146-E6D7ACF9B972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3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CUPOM · EXEMPLO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amada API 4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Chip EX-A1- 4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EX-A1-04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Cupom com tipos inválidos no cálculo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16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5077CA-AFE0-4990-A960-9D89EE5E546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260000" y="1440000"/>
            <a:ext cx="9851400" cy="494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1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Chip EX-A2-01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Cartão Gherkin"/>
          <p:cNvSpPr/>
          <p:nvPr/>
        </p:nvSpPr>
        <p:spPr>
          <a:xfrm>
            <a:off x="3240000" y="15544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3468600" y="16916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3468600" y="19659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herkin"/>
          <p:cNvSpPr/>
          <p:nvPr/>
        </p:nvSpPr>
        <p:spPr>
          <a:xfrm>
            <a:off x="3468600" y="23774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Exemplo desta evidência"/>
          <p:cNvSpPr/>
          <p:nvPr/>
        </p:nvSpPr>
        <p:spPr>
          <a:xfrm>
            <a:off x="3422880" y="44348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3605760" y="45262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1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arâmetros do exemplo"/>
          <p:cNvSpPr/>
          <p:nvPr/>
        </p:nvSpPr>
        <p:spPr>
          <a:xfrm>
            <a:off x="3605760" y="48279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produtoId em minúsculo ("p001")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ldNum" idx="17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19C170-38F0-4107-8723-DF5CD388E01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31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1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amada API 5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Chip EX-A2- 1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ldNum" idx="18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5CA257-DB6B-4CF5-B3F4-65881BC35D33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1363680" y="1287720"/>
            <a:ext cx="9615960" cy="483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2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Chip EX-A2-02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Cartão Gherkin"/>
          <p:cNvSpPr/>
          <p:nvPr/>
        </p:nvSpPr>
        <p:spPr>
          <a:xfrm>
            <a:off x="3328560" y="162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3557160" y="175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3557160" y="203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herkin"/>
          <p:cNvSpPr/>
          <p:nvPr/>
        </p:nvSpPr>
        <p:spPr>
          <a:xfrm>
            <a:off x="3557160" y="244296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Exemplo desta evidência"/>
          <p:cNvSpPr/>
          <p:nvPr/>
        </p:nvSpPr>
        <p:spPr>
          <a:xfrm>
            <a:off x="3511440" y="450036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3694320" y="45918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2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arâmetros do exemplo"/>
          <p:cNvSpPr/>
          <p:nvPr/>
        </p:nvSpPr>
        <p:spPr>
          <a:xfrm>
            <a:off x="3694320" y="489348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produtoId vazio ("")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19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93CA9E-F918-4799-BC7E-21C30116867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35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2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amada API 6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Chip EX-A2- 2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20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70B340-A4AF-4768-9EBF-08704279CD83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1620000" y="1440000"/>
            <a:ext cx="9359640" cy="492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3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Chip EX-A2-03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artão Gherkin"/>
          <p:cNvSpPr/>
          <p:nvPr/>
        </p:nvSpPr>
        <p:spPr>
          <a:xfrm>
            <a:off x="3148560" y="14572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3377160" y="15944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3377160" y="18687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herkin"/>
          <p:cNvSpPr/>
          <p:nvPr/>
        </p:nvSpPr>
        <p:spPr>
          <a:xfrm>
            <a:off x="3377160" y="22802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Exemplo desta evidência"/>
          <p:cNvSpPr/>
          <p:nvPr/>
        </p:nvSpPr>
        <p:spPr>
          <a:xfrm>
            <a:off x="3331440" y="43376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3514320" y="44290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3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arâmetros do exemplo"/>
          <p:cNvSpPr/>
          <p:nvPr/>
        </p:nvSpPr>
        <p:spPr>
          <a:xfrm>
            <a:off x="3514320" y="47307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quantidade como texto ("2")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sldNum" idx="21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DAA57A-D49A-4B81-9E9A-95046027BD3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39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3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amada API 7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Chip EX-A2- 3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ldNum" idx="22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EAC12A-AECF-4BB4-A000-446D06F65F8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1488240" y="1260000"/>
            <a:ext cx="9491400" cy="483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4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Chip EX-A2-04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artão Gherkin"/>
          <p:cNvSpPr/>
          <p:nvPr/>
        </p:nvSpPr>
        <p:spPr>
          <a:xfrm>
            <a:off x="3240000" y="15544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3468600" y="16916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3468600" y="19659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herkin"/>
          <p:cNvSpPr/>
          <p:nvPr/>
        </p:nvSpPr>
        <p:spPr>
          <a:xfrm>
            <a:off x="3468600" y="23774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Exemplo desta evidência"/>
          <p:cNvSpPr/>
          <p:nvPr/>
        </p:nvSpPr>
        <p:spPr>
          <a:xfrm>
            <a:off x="3422880" y="44348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3605760" y="45262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4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arâmetros do exemplo"/>
          <p:cNvSpPr/>
          <p:nvPr/>
        </p:nvSpPr>
        <p:spPr>
          <a:xfrm>
            <a:off x="3605760" y="48279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quantidade 99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23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D3A0B2-A1D3-45AA-95F3-7D20A22DFA8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43"/>
          <p:cNvSpPr/>
          <p:nvPr/>
        </p:nvSpPr>
        <p:spPr>
          <a:xfrm>
            <a:off x="421560" y="12960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4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amada API 8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Chip EX-A2- 4"/>
          <p:cNvSpPr/>
          <p:nvPr/>
        </p:nvSpPr>
        <p:spPr>
          <a:xfrm>
            <a:off x="421560" y="52272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2158920" y="44964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24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64A1A4-1A5E-4EC5-8E4A-8DF83030CF5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Cartão de resultado 1"/>
          <p:cNvSpPr/>
          <p:nvPr/>
        </p:nvSpPr>
        <p:spPr>
          <a:xfrm>
            <a:off x="6300000" y="6120000"/>
            <a:ext cx="5028120" cy="7304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ampos de resultado 1"/>
          <p:cNvSpPr/>
          <p:nvPr/>
        </p:nvSpPr>
        <p:spPr>
          <a:xfrm>
            <a:off x="6482880" y="6156720"/>
            <a:ext cx="466236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Obs: Bug encontrado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000" spc="-1" strike="noStrike">
                <a:solidFill>
                  <a:schemeClr val="dk2"/>
                </a:solidFill>
                <a:latin typeface="Calibri"/>
              </a:rPr>
              <a:t> </a:t>
            </a:r>
            <a:r>
              <a:rPr b="1" lang="en-US" sz="1000" spc="-1" strike="noStrike">
                <a:solidFill>
                  <a:schemeClr val="dk2"/>
                </a:solidFill>
                <a:latin typeface="Calibri"/>
              </a:rPr>
              <a:t>Bug: BUG-02 API – Limite de produto excedido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1310040" y="1134720"/>
            <a:ext cx="9756360" cy="498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5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Chip EX-A2-05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artão Gherkin"/>
          <p:cNvSpPr/>
          <p:nvPr/>
        </p:nvSpPr>
        <p:spPr>
          <a:xfrm>
            <a:off x="3148560" y="14572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3377160" y="15944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3377160" y="18687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herkin"/>
          <p:cNvSpPr/>
          <p:nvPr/>
        </p:nvSpPr>
        <p:spPr>
          <a:xfrm>
            <a:off x="3377160" y="22802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Exemplo desta evidência"/>
          <p:cNvSpPr/>
          <p:nvPr/>
        </p:nvSpPr>
        <p:spPr>
          <a:xfrm>
            <a:off x="3331440" y="43376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9"/>
          <p:cNvSpPr/>
          <p:nvPr/>
        </p:nvSpPr>
        <p:spPr>
          <a:xfrm>
            <a:off x="3514320" y="44290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5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arâmetros do exemplo"/>
          <p:cNvSpPr/>
          <p:nvPr/>
        </p:nvSpPr>
        <p:spPr>
          <a:xfrm>
            <a:off x="3514320" y="47307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"itens" como texto ("P001")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ldNum" idx="25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CE99B3-551D-4FFA-B3F5-42D6B4B5117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47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5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amada API 9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Chip EX-A2- 5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ldNum" idx="26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3F9E97-8C9A-43E3-998A-08F144961F0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1440000" y="1260000"/>
            <a:ext cx="9671400" cy="494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6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Chip EX-A2-06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artão Gherkin"/>
          <p:cNvSpPr/>
          <p:nvPr/>
        </p:nvSpPr>
        <p:spPr>
          <a:xfrm>
            <a:off x="3148560" y="144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5"/>
          <p:cNvSpPr/>
          <p:nvPr/>
        </p:nvSpPr>
        <p:spPr>
          <a:xfrm>
            <a:off x="3377160" y="157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6"/>
          <p:cNvSpPr/>
          <p:nvPr/>
        </p:nvSpPr>
        <p:spPr>
          <a:xfrm>
            <a:off x="3377160" y="185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herkin"/>
          <p:cNvSpPr/>
          <p:nvPr/>
        </p:nvSpPr>
        <p:spPr>
          <a:xfrm>
            <a:off x="3377160" y="226296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Exemplo desta evidência"/>
          <p:cNvSpPr/>
          <p:nvPr/>
        </p:nvSpPr>
        <p:spPr>
          <a:xfrm>
            <a:off x="3331440" y="432036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9"/>
          <p:cNvSpPr/>
          <p:nvPr/>
        </p:nvSpPr>
        <p:spPr>
          <a:xfrm>
            <a:off x="3514320" y="44118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6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arâmetros do exemplo"/>
          <p:cNvSpPr/>
          <p:nvPr/>
        </p:nvSpPr>
        <p:spPr>
          <a:xfrm>
            <a:off x="3514320" y="471348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um array no lugar do objeto ([])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ldNum" idx="27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356394-EB7A-471B-9C1A-1324E73AA92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48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6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amada API 10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Chip EX-A2- 6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ldNum" idx="28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92DC65-A241-4966-954D-9A236E64BF6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1"/>
          <a:stretch/>
        </p:blipFill>
        <p:spPr>
          <a:xfrm>
            <a:off x="1308240" y="1260000"/>
            <a:ext cx="9671400" cy="495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7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Chip EX-A2-07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artão Gherkin"/>
          <p:cNvSpPr/>
          <p:nvPr/>
        </p:nvSpPr>
        <p:spPr>
          <a:xfrm>
            <a:off x="3060000" y="14572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3288600" y="15944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3288600" y="18687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herkin"/>
          <p:cNvSpPr/>
          <p:nvPr/>
        </p:nvSpPr>
        <p:spPr>
          <a:xfrm>
            <a:off x="3288600" y="22802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Exemplo desta evidência"/>
          <p:cNvSpPr/>
          <p:nvPr/>
        </p:nvSpPr>
        <p:spPr>
          <a:xfrm>
            <a:off x="3242880" y="43376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9"/>
          <p:cNvSpPr/>
          <p:nvPr/>
        </p:nvSpPr>
        <p:spPr>
          <a:xfrm>
            <a:off x="3425760" y="44290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7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arâmetros do exemplo"/>
          <p:cNvSpPr/>
          <p:nvPr/>
        </p:nvSpPr>
        <p:spPr>
          <a:xfrm>
            <a:off x="3425760" y="47307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campos extras ("foo", "desconto": 999)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sldNum" idx="29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C752A2-E21E-4A78-BBFB-EA9CD7D464C4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49"/>
          <p:cNvSpPr/>
          <p:nvPr/>
        </p:nvSpPr>
        <p:spPr>
          <a:xfrm>
            <a:off x="470880" y="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7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amada API 11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Chip EX-A2- 7"/>
          <p:cNvSpPr/>
          <p:nvPr/>
        </p:nvSpPr>
        <p:spPr>
          <a:xfrm>
            <a:off x="470880" y="39312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2208240" y="32004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ldNum" idx="30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B2C996-65A4-48E4-8DA6-F6D44E495A6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9" name="" descr=""/>
          <p:cNvPicPr/>
          <p:nvPr/>
        </p:nvPicPr>
        <p:blipFill>
          <a:blip r:embed="rId1"/>
          <a:stretch/>
        </p:blipFill>
        <p:spPr>
          <a:xfrm>
            <a:off x="1308240" y="1080000"/>
            <a:ext cx="10031400" cy="531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8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Chip EX-A2-08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EX-A2-08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artão Gherkin"/>
          <p:cNvSpPr/>
          <p:nvPr/>
        </p:nvSpPr>
        <p:spPr>
          <a:xfrm>
            <a:off x="3148560" y="144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3377160" y="157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3377160" y="185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do carrinho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herkin"/>
          <p:cNvSpPr/>
          <p:nvPr/>
        </p:nvSpPr>
        <p:spPr>
          <a:xfrm>
            <a:off x="3377160" y="226296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corpo contém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 e o corpo da resposta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Exemplo desta evidência"/>
          <p:cNvSpPr/>
          <p:nvPr/>
        </p:nvSpPr>
        <p:spPr>
          <a:xfrm>
            <a:off x="3331440" y="432036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3514320" y="44118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8 DE 8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arâmetros do exemplo"/>
          <p:cNvSpPr/>
          <p:nvPr/>
        </p:nvSpPr>
        <p:spPr>
          <a:xfrm>
            <a:off x="3514320" y="471348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Content-Type text/plain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ldNum" idx="31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ACC438-F4D3-4038-AC50-3A1605F0EDE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50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ITENS · EXEMPLO 8 DE 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amada API 12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Chip EX-A2- 8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EX-A2-08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Corpo do cálculo com campos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sldNum" idx="32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590B49-65E5-41F1-876E-9BFA69C0F7A3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1080000" y="1080000"/>
            <a:ext cx="10211400" cy="524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1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Chip EX-A3-01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artão Gherkin"/>
          <p:cNvSpPr/>
          <p:nvPr/>
        </p:nvSpPr>
        <p:spPr>
          <a:xfrm>
            <a:off x="3148560" y="14572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3377160" y="15944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3377160" y="18687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herkin"/>
          <p:cNvSpPr/>
          <p:nvPr/>
        </p:nvSpPr>
        <p:spPr>
          <a:xfrm>
            <a:off x="3377160" y="228024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Exemplo desta evidência"/>
          <p:cNvSpPr/>
          <p:nvPr/>
        </p:nvSpPr>
        <p:spPr>
          <a:xfrm>
            <a:off x="3331440" y="433764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3514320" y="442908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1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arâmetros do exemplo"/>
          <p:cNvSpPr/>
          <p:nvPr/>
        </p:nvSpPr>
        <p:spPr>
          <a:xfrm>
            <a:off x="3514320" y="473076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nome com espaços extras ("Maria  ")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ldNum" idx="33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5BA613-C018-4BED-812B-FE756E19A5F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51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1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amada API 13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Chip EX-A3- 1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ldNum" idx="34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D17800-A104-40CC-821B-25154BC5FE2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1488240" y="1440000"/>
            <a:ext cx="9311400" cy="478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2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Chip EX-A3-02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artão Gherkin"/>
          <p:cNvSpPr/>
          <p:nvPr/>
        </p:nvSpPr>
        <p:spPr>
          <a:xfrm>
            <a:off x="3148560" y="141732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3377160" y="155448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3377160" y="182880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herkin"/>
          <p:cNvSpPr/>
          <p:nvPr/>
        </p:nvSpPr>
        <p:spPr>
          <a:xfrm>
            <a:off x="3377160" y="224028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Exemplo desta evidência"/>
          <p:cNvSpPr/>
          <p:nvPr/>
        </p:nvSpPr>
        <p:spPr>
          <a:xfrm>
            <a:off x="3331440" y="429768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9"/>
          <p:cNvSpPr/>
          <p:nvPr/>
        </p:nvSpPr>
        <p:spPr>
          <a:xfrm>
            <a:off x="3514320" y="438912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2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arâmetros do exemplo"/>
          <p:cNvSpPr/>
          <p:nvPr/>
        </p:nvSpPr>
        <p:spPr>
          <a:xfrm>
            <a:off x="3514320" y="469080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nome só com espaços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ldNum" idx="35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C21422-5AB3-4AC7-A665-189442EDF7C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52"/>
          <p:cNvSpPr/>
          <p:nvPr/>
        </p:nvSpPr>
        <p:spPr>
          <a:xfrm>
            <a:off x="3600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2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amada API 14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Chip EX-A3- 2"/>
          <p:cNvSpPr/>
          <p:nvPr/>
        </p:nvSpPr>
        <p:spPr>
          <a:xfrm>
            <a:off x="3600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0973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ldNum" idx="36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351570-ADF6-43AD-9A06-4E440399B79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948240" y="1171800"/>
            <a:ext cx="10211400" cy="512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3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Chip EX-A3-03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artão Gherkin"/>
          <p:cNvSpPr/>
          <p:nvPr/>
        </p:nvSpPr>
        <p:spPr>
          <a:xfrm>
            <a:off x="3148560" y="141732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3377160" y="155448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3377160" y="182880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herkin"/>
          <p:cNvSpPr/>
          <p:nvPr/>
        </p:nvSpPr>
        <p:spPr>
          <a:xfrm>
            <a:off x="3377160" y="224028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 </a:t>
            </a: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Exemplo desta evidência"/>
          <p:cNvSpPr/>
          <p:nvPr/>
        </p:nvSpPr>
        <p:spPr>
          <a:xfrm>
            <a:off x="3331440" y="429768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3514320" y="438912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3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arâmetros do exemplo"/>
          <p:cNvSpPr/>
          <p:nvPr/>
        </p:nvSpPr>
        <p:spPr>
          <a:xfrm>
            <a:off x="3514320" y="469080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e-mail com espaço no meio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ldNum" idx="37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BA3597-87A5-43AA-9A0A-EF856EF6000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53"/>
          <p:cNvSpPr/>
          <p:nvPr/>
        </p:nvSpPr>
        <p:spPr>
          <a:xfrm>
            <a:off x="457200" y="4572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3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amada API 15"/>
          <p:cNvSpPr/>
          <p:nvPr/>
        </p:nvSpPr>
        <p:spPr>
          <a:xfrm>
            <a:off x="10744200" y="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Chip EX-A3- 3"/>
          <p:cNvSpPr/>
          <p:nvPr/>
        </p:nvSpPr>
        <p:spPr>
          <a:xfrm>
            <a:off x="457200" y="43884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2194560" y="36576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sldNum" idx="38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73A696-70B8-4BF0-ACA1-5ECF1CA9C40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1080000" y="1042560"/>
            <a:ext cx="10259640" cy="525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4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Chip EX-A3-04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Cartão Gherkin"/>
          <p:cNvSpPr/>
          <p:nvPr/>
        </p:nvSpPr>
        <p:spPr>
          <a:xfrm>
            <a:off x="3148560" y="141732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3377160" y="155448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6"/>
          <p:cNvSpPr/>
          <p:nvPr/>
        </p:nvSpPr>
        <p:spPr>
          <a:xfrm>
            <a:off x="3377160" y="182880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herkin"/>
          <p:cNvSpPr/>
          <p:nvPr/>
        </p:nvSpPr>
        <p:spPr>
          <a:xfrm>
            <a:off x="3377160" y="224028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    </a:t>
            </a: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Exemplo desta evidência"/>
          <p:cNvSpPr/>
          <p:nvPr/>
        </p:nvSpPr>
        <p:spPr>
          <a:xfrm>
            <a:off x="3331440" y="429768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9"/>
          <p:cNvSpPr/>
          <p:nvPr/>
        </p:nvSpPr>
        <p:spPr>
          <a:xfrm>
            <a:off x="3514320" y="438912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4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arâmetros do exemplo"/>
          <p:cNvSpPr/>
          <p:nvPr/>
        </p:nvSpPr>
        <p:spPr>
          <a:xfrm>
            <a:off x="3514320" y="469080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CEP com hífen fora do lugar (0131-0100)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39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D3FE25-CBF4-41F7-9D98-41A9FA8EBCC0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54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4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Camada API 16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Chip EX-A3- 4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Num" idx="40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395896-C2A1-4D84-833C-3E64406BE436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1488240" y="1080000"/>
            <a:ext cx="9379800" cy="50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5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Chip EX-A3-05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Cartão Gherkin"/>
          <p:cNvSpPr/>
          <p:nvPr/>
        </p:nvSpPr>
        <p:spPr>
          <a:xfrm>
            <a:off x="3148560" y="141732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5"/>
          <p:cNvSpPr/>
          <p:nvPr/>
        </p:nvSpPr>
        <p:spPr>
          <a:xfrm>
            <a:off x="3377160" y="155448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3377160" y="182880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herkin"/>
          <p:cNvSpPr/>
          <p:nvPr/>
        </p:nvSpPr>
        <p:spPr>
          <a:xfrm>
            <a:off x="3377160" y="224028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    </a:t>
            </a: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Exemplo desta evidência"/>
          <p:cNvSpPr/>
          <p:nvPr/>
        </p:nvSpPr>
        <p:spPr>
          <a:xfrm>
            <a:off x="3331440" y="429768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9"/>
          <p:cNvSpPr/>
          <p:nvPr/>
        </p:nvSpPr>
        <p:spPr>
          <a:xfrm>
            <a:off x="3514320" y="438912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5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arâmetros do exemplo"/>
          <p:cNvSpPr/>
          <p:nvPr/>
        </p:nvSpPr>
        <p:spPr>
          <a:xfrm>
            <a:off x="3514320" y="469080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CEP com espaço (01310 100)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sldNum" idx="41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01306F-ACA1-4822-83F8-909CDDE54274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55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5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Camada API 17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Chip EX-A3- 5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EX-A3-05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sldNum" idx="42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063533-27D0-46D0-8305-C2A24F6986F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7" name="" descr=""/>
          <p:cNvPicPr/>
          <p:nvPr/>
        </p:nvPicPr>
        <p:blipFill>
          <a:blip r:embed="rId1"/>
          <a:stretch/>
        </p:blipFill>
        <p:spPr>
          <a:xfrm>
            <a:off x="1440000" y="1080000"/>
            <a:ext cx="9491400" cy="507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6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Chip EX-A3-06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Cartão Gherkin"/>
          <p:cNvSpPr/>
          <p:nvPr/>
        </p:nvSpPr>
        <p:spPr>
          <a:xfrm>
            <a:off x="3148560" y="144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5"/>
          <p:cNvSpPr/>
          <p:nvPr/>
        </p:nvSpPr>
        <p:spPr>
          <a:xfrm>
            <a:off x="3377160" y="157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3377160" y="185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herkin"/>
          <p:cNvSpPr/>
          <p:nvPr/>
        </p:nvSpPr>
        <p:spPr>
          <a:xfrm>
            <a:off x="3377160" y="226296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    </a:t>
            </a: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Exemplo desta evidência"/>
          <p:cNvSpPr/>
          <p:nvPr/>
        </p:nvSpPr>
        <p:spPr>
          <a:xfrm>
            <a:off x="3331440" y="432036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9"/>
          <p:cNvSpPr/>
          <p:nvPr/>
        </p:nvSpPr>
        <p:spPr>
          <a:xfrm>
            <a:off x="3514320" y="44118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6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arâmetros do exemplo"/>
          <p:cNvSpPr/>
          <p:nvPr/>
        </p:nvSpPr>
        <p:spPr>
          <a:xfrm>
            <a:off x="3514320" y="471348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o objeto "cliente" ausente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sldNum" idx="43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5B14BD-E68B-476B-9BAB-B57AF3D7801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56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6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amada API 18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Chip EX-A3- 6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EX-A3-06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sldNum" idx="44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C69677-A125-4EEE-95F3-00A35D23DFD5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5" name="" descr=""/>
          <p:cNvPicPr/>
          <p:nvPr/>
        </p:nvPicPr>
        <p:blipFill>
          <a:blip r:embed="rId1"/>
          <a:stretch/>
        </p:blipFill>
        <p:spPr>
          <a:xfrm>
            <a:off x="1308240" y="1260000"/>
            <a:ext cx="10039680" cy="5137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7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Chip EX-A3-07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Cartão Gherkin"/>
          <p:cNvSpPr/>
          <p:nvPr/>
        </p:nvSpPr>
        <p:spPr>
          <a:xfrm>
            <a:off x="3148560" y="135324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3377160" y="149040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ESQUEMA DO 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3377160" y="176472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Pedidos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Gherkin"/>
          <p:cNvSpPr/>
          <p:nvPr/>
        </p:nvSpPr>
        <p:spPr>
          <a:xfrm>
            <a:off x="3377160" y="2176200"/>
            <a:ext cx="539388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envio POST /api/pedidos com 1× P005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cliente tem &lt;variacao&gt;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a API não responde com erro 5xx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registro o status, o código de erro e o corpo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Exemplo desta evidência"/>
          <p:cNvSpPr/>
          <p:nvPr/>
        </p:nvSpPr>
        <p:spPr>
          <a:xfrm>
            <a:off x="3331440" y="4233600"/>
            <a:ext cx="5485320" cy="16448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rgbClr val="0b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3514320" y="432504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EXEMPLOS · LINHA 7 DE 7 (ESTA EVIDÊNCIA)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arâmetros do exemplo"/>
          <p:cNvSpPr/>
          <p:nvPr/>
        </p:nvSpPr>
        <p:spPr>
          <a:xfrm>
            <a:off x="3514320" y="4626720"/>
            <a:ext cx="51195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2"/>
                </a:solidFill>
                <a:latin typeface="Calibri"/>
              </a:rPr>
              <a:t>&lt;variacao&gt;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  =  dados válidos e sem cupom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sldNum" idx="45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298C1B-B685-47F9-9787-4C35CDA159B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57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PEDIDO · EXEMPLO 7 DE 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amada API 19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Chip EX-A3- 7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EX-A3-07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Pedido com dados do cliente atípicos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sldNum" idx="46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877C82-B437-416F-A496-16DB44CCDFD8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3" name="" descr=""/>
          <p:cNvPicPr/>
          <p:nvPr/>
        </p:nvPicPr>
        <p:blipFill>
          <a:blip r:embed="rId1"/>
          <a:stretch/>
        </p:blipFill>
        <p:spPr>
          <a:xfrm>
            <a:off x="1128240" y="1111680"/>
            <a:ext cx="10211400" cy="518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Chip EX-A4-01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Cartão Gherkin"/>
          <p:cNvSpPr/>
          <p:nvPr/>
        </p:nvSpPr>
        <p:spPr>
          <a:xfrm>
            <a:off x="3148560" y="144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5"/>
          <p:cNvSpPr/>
          <p:nvPr/>
        </p:nvSpPr>
        <p:spPr>
          <a:xfrm>
            <a:off x="3377160" y="157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6"/>
          <p:cNvSpPr/>
          <p:nvPr/>
        </p:nvSpPr>
        <p:spPr>
          <a:xfrm>
            <a:off x="3377160" y="185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e pedido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7"/>
          <p:cNvSpPr/>
          <p:nvPr/>
        </p:nvSpPr>
        <p:spPr>
          <a:xfrm>
            <a:off x="3377160" y="2217240"/>
            <a:ext cx="5393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alibri"/>
              </a:rPr>
              <a:t>Passo 1 de 4: Calcular e guardar valores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herkin"/>
          <p:cNvSpPr/>
          <p:nvPr/>
        </p:nvSpPr>
        <p:spPr>
          <a:xfrm>
            <a:off x="3377160" y="2628720"/>
            <a:ext cx="539388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o carrinho é P002×1 + P004×2 com "BEMVINDO10"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POST /api/carrinho/calcular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recebo 200 com subtotal 239,70 e desconto 23,97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frete 0 e total 215,73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valores ficam guardados nas variáveis fl_*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sldNum" idx="47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F099A3-8296-4338-B5C8-D5BE68139CC1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58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Camada API 20"/>
          <p:cNvSpPr/>
          <p:nvPr/>
        </p:nvSpPr>
        <p:spPr>
          <a:xfrm>
            <a:off x="10744200" y="33660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Chip EX-A4- 1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sldNum" idx="48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B35A46-63A1-4550-97AC-BD0B7209A02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9" name="" descr=""/>
          <p:cNvPicPr/>
          <p:nvPr/>
        </p:nvPicPr>
        <p:blipFill>
          <a:blip r:embed="rId1"/>
          <a:stretch/>
        </p:blipFill>
        <p:spPr>
          <a:xfrm>
            <a:off x="1128240" y="1213920"/>
            <a:ext cx="9851400" cy="526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59"/>
          <p:cNvSpPr/>
          <p:nvPr/>
        </p:nvSpPr>
        <p:spPr>
          <a:xfrm>
            <a:off x="4572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1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Camada API 21"/>
          <p:cNvSpPr/>
          <p:nvPr/>
        </p:nvSpPr>
        <p:spPr>
          <a:xfrm>
            <a:off x="10744200" y="33660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Chip EX-A4- 2"/>
          <p:cNvSpPr/>
          <p:nvPr/>
        </p:nvSpPr>
        <p:spPr>
          <a:xfrm>
            <a:off x="4572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EX-A4-01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21945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sldNum" idx="49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243D8A-53CA-4BA9-B4DD-0672678F9E6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1"/>
          <a:stretch/>
        </p:blipFill>
        <p:spPr>
          <a:xfrm>
            <a:off x="1260000" y="1203480"/>
            <a:ext cx="9607320" cy="491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Chip EX-A4-02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Cartão Gherkin"/>
          <p:cNvSpPr/>
          <p:nvPr/>
        </p:nvSpPr>
        <p:spPr>
          <a:xfrm>
            <a:off x="3148560" y="145728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5"/>
          <p:cNvSpPr/>
          <p:nvPr/>
        </p:nvSpPr>
        <p:spPr>
          <a:xfrm>
            <a:off x="3377160" y="159444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6"/>
          <p:cNvSpPr/>
          <p:nvPr/>
        </p:nvSpPr>
        <p:spPr>
          <a:xfrm>
            <a:off x="3377160" y="186876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e pedido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7"/>
          <p:cNvSpPr/>
          <p:nvPr/>
        </p:nvSpPr>
        <p:spPr>
          <a:xfrm>
            <a:off x="3377160" y="2234520"/>
            <a:ext cx="5393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alibri"/>
              </a:rPr>
              <a:t>Passo 2 de 4: Pedido igual ao cálculo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Gherkin"/>
          <p:cNvSpPr/>
          <p:nvPr/>
        </p:nvSpPr>
        <p:spPr>
          <a:xfrm>
            <a:off x="3377160" y="2646000"/>
            <a:ext cx="539388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calculei o carrinho no passo anterior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POST /api/pedidos com os mesmos itens e cupom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recebo 201 com número no formato "VZ-000000"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subtotal, desconto, frete e total são iguais aos do cálculo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sldNum" idx="50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DFA5C3-4501-485B-946C-5891AAFC403D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60"/>
          <p:cNvSpPr/>
          <p:nvPr/>
        </p:nvSpPr>
        <p:spPr>
          <a:xfrm>
            <a:off x="4536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Camada API 22"/>
          <p:cNvSpPr/>
          <p:nvPr/>
        </p:nvSpPr>
        <p:spPr>
          <a:xfrm>
            <a:off x="10740600" y="33660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Chip EX-A4- 3"/>
          <p:cNvSpPr/>
          <p:nvPr/>
        </p:nvSpPr>
        <p:spPr>
          <a:xfrm>
            <a:off x="4536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21909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sldNum" idx="51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9A3F11-195F-439E-83A6-25FDACEF3DE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1036800" y="1119960"/>
            <a:ext cx="10122840" cy="517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 61"/>
          <p:cNvSpPr/>
          <p:nvPr/>
        </p:nvSpPr>
        <p:spPr>
          <a:xfrm>
            <a:off x="4536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2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amada API 23"/>
          <p:cNvSpPr/>
          <p:nvPr/>
        </p:nvSpPr>
        <p:spPr>
          <a:xfrm>
            <a:off x="10740600" y="33660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Chip EX-A4- 4"/>
          <p:cNvSpPr/>
          <p:nvPr/>
        </p:nvSpPr>
        <p:spPr>
          <a:xfrm>
            <a:off x="4536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EX-A4-02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21909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sldNum" idx="52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3165C8-E511-4F4C-BF29-C86E5D1C80AA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900000" y="1102320"/>
            <a:ext cx="10259640" cy="51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Chip EX-A4-03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Cartão Gherkin"/>
          <p:cNvSpPr/>
          <p:nvPr/>
        </p:nvSpPr>
        <p:spPr>
          <a:xfrm>
            <a:off x="3148560" y="13716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5"/>
          <p:cNvSpPr/>
          <p:nvPr/>
        </p:nvSpPr>
        <p:spPr>
          <a:xfrm>
            <a:off x="3377160" y="15087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6"/>
          <p:cNvSpPr/>
          <p:nvPr/>
        </p:nvSpPr>
        <p:spPr>
          <a:xfrm>
            <a:off x="3377160" y="17830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e pedido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7"/>
          <p:cNvSpPr/>
          <p:nvPr/>
        </p:nvSpPr>
        <p:spPr>
          <a:xfrm>
            <a:off x="3377160" y="2148840"/>
            <a:ext cx="5393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alibri"/>
              </a:rPr>
              <a:t>Passo 3 de 4: Consultar preços do catálogo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herkin"/>
          <p:cNvSpPr/>
          <p:nvPr/>
        </p:nvSpPr>
        <p:spPr>
          <a:xfrm>
            <a:off x="3377160" y="2560320"/>
            <a:ext cx="539388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preciso dos preços de P002 e P004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envio GET /api/produtos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recebo 200 com os 8 produtos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os preços de P002 e P004 ficam guardados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sldNum" idx="53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FC3DAC-7175-41E6-BE6F-7D08C3FC38AC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 62"/>
          <p:cNvSpPr/>
          <p:nvPr/>
        </p:nvSpPr>
        <p:spPr>
          <a:xfrm>
            <a:off x="3600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Camada API 24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Chip EX-A4- 5"/>
          <p:cNvSpPr/>
          <p:nvPr/>
        </p:nvSpPr>
        <p:spPr>
          <a:xfrm>
            <a:off x="3600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20973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sldNum" idx="54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603E46-8EB0-409B-8BD2-C3AC075FCF12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83" name="" descr=""/>
          <p:cNvPicPr/>
          <p:nvPr/>
        </p:nvPicPr>
        <p:blipFill>
          <a:blip r:embed="rId1"/>
          <a:stretch/>
        </p:blipFill>
        <p:spPr>
          <a:xfrm>
            <a:off x="1157400" y="1260000"/>
            <a:ext cx="9822240" cy="499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63"/>
          <p:cNvSpPr/>
          <p:nvPr/>
        </p:nvSpPr>
        <p:spPr>
          <a:xfrm>
            <a:off x="36000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3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Camada API 25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Chip EX-A4- 6"/>
          <p:cNvSpPr/>
          <p:nvPr/>
        </p:nvSpPr>
        <p:spPr>
          <a:xfrm>
            <a:off x="36000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EX-A4-03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209736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sldNum" idx="55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D02FC9-870F-490F-9846-5CFFFE6F7247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89" name="" descr=""/>
          <p:cNvPicPr/>
          <p:nvPr/>
        </p:nvPicPr>
        <p:blipFill>
          <a:blip r:embed="rId1"/>
          <a:stretch/>
        </p:blipFill>
        <p:spPr>
          <a:xfrm>
            <a:off x="1260000" y="1080000"/>
            <a:ext cx="9965160" cy="509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/>
          <p:nvPr/>
        </p:nvSpPr>
        <p:spPr>
          <a:xfrm>
            <a:off x="457200" y="32004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Camada API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Chip EX-A4-04"/>
          <p:cNvSpPr/>
          <p:nvPr/>
        </p:nvSpPr>
        <p:spPr>
          <a:xfrm>
            <a:off x="457200" y="71316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2194560" y="64008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Cartão Gherkin"/>
          <p:cNvSpPr/>
          <p:nvPr/>
        </p:nvSpPr>
        <p:spPr>
          <a:xfrm>
            <a:off x="3148560" y="1440000"/>
            <a:ext cx="5851080" cy="466236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5"/>
          <p:cNvSpPr/>
          <p:nvPr/>
        </p:nvSpPr>
        <p:spPr>
          <a:xfrm>
            <a:off x="3377160" y="1577160"/>
            <a:ext cx="5393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CENÁRIO (GHERKIN)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6"/>
          <p:cNvSpPr/>
          <p:nvPr/>
        </p:nvSpPr>
        <p:spPr>
          <a:xfrm>
            <a:off x="3377160" y="1851480"/>
            <a:ext cx="53938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6"/>
                </a:solidFill>
                <a:latin typeface="Calibri"/>
              </a:rPr>
              <a:t>Funcionalidade: </a:t>
            </a:r>
            <a:r>
              <a:rPr b="0" lang="en-US" sz="1300" spc="-1" strike="noStrike">
                <a:solidFill>
                  <a:schemeClr val="accent6"/>
                </a:solidFill>
                <a:latin typeface="Calibri"/>
              </a:rPr>
              <a:t>Cálculo e pedido (API)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7"/>
          <p:cNvSpPr/>
          <p:nvPr/>
        </p:nvSpPr>
        <p:spPr>
          <a:xfrm>
            <a:off x="3377160" y="2217240"/>
            <a:ext cx="5393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alibri"/>
              </a:rPr>
              <a:t>Passo 4 de 4: Subtotal = soma do catálogo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herkin"/>
          <p:cNvSpPr/>
          <p:nvPr/>
        </p:nvSpPr>
        <p:spPr>
          <a:xfrm>
            <a:off x="3377160" y="2628720"/>
            <a:ext cx="539388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Dado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que conheço os preços de P002 e P004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Quando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calculo P002×1 + P004×2 sem cupom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Então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 o subtotal é a soma dos preços do catálogo (239,70)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 type="sldNum" idx="56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1DF67D-58FE-48A9-94CC-F0008AA9E53B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 14"/>
          <p:cNvSpPr/>
          <p:nvPr/>
        </p:nvSpPr>
        <p:spPr>
          <a:xfrm>
            <a:off x="470880" y="74880"/>
            <a:ext cx="9600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2"/>
                </a:solidFill>
                <a:latin typeface="Calibri"/>
              </a:rPr>
              <a:t>API · EXPLORATÓRIO · FLUXOS · PASSO 4 DE 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Camada API 26"/>
          <p:cNvSpPr/>
          <p:nvPr/>
        </p:nvSpPr>
        <p:spPr>
          <a:xfrm>
            <a:off x="10744200" y="274320"/>
            <a:ext cx="959040" cy="383040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</a:rPr>
              <a:t>API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Chip EX-A4- 7"/>
          <p:cNvSpPr/>
          <p:nvPr/>
        </p:nvSpPr>
        <p:spPr>
          <a:xfrm>
            <a:off x="470880" y="468000"/>
            <a:ext cx="1599120" cy="5475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chemeClr val="lt1"/>
                </a:solidFill>
                <a:latin typeface="Calibri"/>
              </a:rPr>
              <a:t>EX-A4-04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2208240" y="394920"/>
            <a:ext cx="8411400" cy="68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2"/>
                </a:solidFill>
                <a:latin typeface="Calibri"/>
              </a:rPr>
              <a:t>Consistência entre endpoints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ldNum" idx="57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C2ABEE-2C88-4143-9198-A21A25D5EFFF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05" name="" descr=""/>
          <p:cNvPicPr/>
          <p:nvPr/>
        </p:nvPicPr>
        <p:blipFill>
          <a:blip r:embed="rId1"/>
          <a:stretch/>
        </p:blipFill>
        <p:spPr>
          <a:xfrm>
            <a:off x="1308240" y="1080000"/>
            <a:ext cx="9920160" cy="50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46040" cy="73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Calibri"/>
              </a:rPr>
              <a:t>Fechamento da execução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Checklist"/>
          <p:cNvSpPr/>
          <p:nvPr/>
        </p:nvSpPr>
        <p:spPr>
          <a:xfrm>
            <a:off x="457200" y="1600200"/>
            <a:ext cx="6308280" cy="457092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rgbClr val="ee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2"/>
          <p:cNvSpPr/>
          <p:nvPr/>
        </p:nvSpPr>
        <p:spPr>
          <a:xfrm>
            <a:off x="685800" y="1737360"/>
            <a:ext cx="58510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chemeClr val="accent1"/>
                </a:solidFill>
                <a:latin typeface="Calibri"/>
              </a:rPr>
              <a:t>CHECKLIST DE ENTREGA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3"/>
          <p:cNvSpPr/>
          <p:nvPr/>
        </p:nvSpPr>
        <p:spPr>
          <a:xfrm>
            <a:off x="685800" y="2103120"/>
            <a:ext cx="585108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0b1b33"/>
              </a:buClr>
              <a:buFont typeface="OpenSymbol"/>
              <a:buChar char="☐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Os 56 cartões têm print em docs/evidencias/screenshots/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0b1b33"/>
              </a:buClr>
              <a:buFont typeface="OpenSymbol"/>
              <a:buChar char="☐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Observações registradas em docs/CENARIOS.xlsx (aba Exploratórias)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0b1b33"/>
              </a:buClr>
              <a:buFont typeface="OpenSymbol"/>
              <a:buChar char="☐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Cada divergência está em docs/BUGS.md com passos e print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0b1b33"/>
              </a:buClr>
              <a:buFont typeface="OpenSymbol"/>
              <a:buChar char="☐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Ambiguidades registradas em docs/AMBIGUIDADES.md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0b1b33"/>
              </a:buClr>
              <a:buFont typeface="OpenSymbol"/>
              <a:buChar char="☐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Repositório público no GitHub e formulário enviado (prazo: 5 dias corridos)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0b1b33"/>
              </a:buClr>
              <a:buFont typeface="OpenSymbol"/>
              <a:buChar char="☐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Campo "Uso de IA" do formulário preenchido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0" name="Tabela de contagem"/>
          <p:cNvGraphicFramePr/>
          <p:nvPr/>
        </p:nvGraphicFramePr>
        <p:xfrm>
          <a:off x="7132320" y="1600200"/>
          <a:ext cx="4571640" cy="28332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</a:tblGrid>
              <a:tr h="56664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Contagem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Total</a:t>
                      </a:r>
                      <a:endParaRPr b="0" lang="pt-BR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56664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Evidências de UI (de 33)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endParaRPr b="0" lang="en-US" sz="15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6664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Evidências de API (de 23)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endParaRPr b="0" lang="en-US" sz="15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6664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Sem achados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endParaRPr b="0" lang="en-US" sz="15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66640">
                <a:tc>
                  <a:txBody>
                    <a:bodyPr lIns="109440" rIns="1094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Bugs registrados</a:t>
                      </a:r>
                      <a:endParaRPr b="0" lang="pt-B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lIns="109440" rIns="109440" anchor="ctr">
                      <a:noAutofit/>
                    </a:bodyPr>
                    <a:p>
                      <a:endParaRPr b="0" lang="en-US" sz="15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ctr" marL="109440" marR="109440">
                    <a:lnL w="6480">
                      <a:solidFill>
                        <a:srgbClr val="eef1f7"/>
                      </a:solidFill>
                      <a:prstDash val="solid"/>
                    </a:lnL>
                    <a:lnR w="6480">
                      <a:solidFill>
                        <a:srgbClr val="eef1f7"/>
                      </a:solidFill>
                      <a:prstDash val="solid"/>
                    </a:lnR>
                    <a:lnT w="6480">
                      <a:solidFill>
                        <a:srgbClr val="eef1f7"/>
                      </a:solidFill>
                      <a:prstDash val="solid"/>
                    </a:lnT>
                    <a:lnB w="6480">
                      <a:solidFill>
                        <a:srgbClr val="eef1f7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11" name="PlaceHolder 2"/>
          <p:cNvSpPr>
            <a:spLocks noGrp="1"/>
          </p:cNvSpPr>
          <p:nvPr>
            <p:ph type="sldNum" idx="58"/>
          </p:nvPr>
        </p:nvSpPr>
        <p:spPr>
          <a:xfrm>
            <a:off x="11137320" y="6446520"/>
            <a:ext cx="5932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6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18C657-F022-416E-A9B3-78604A0FF56E}" type="slidenum">
              <a:rPr b="0" lang="en-US" sz="1000" spc="-1" strike="noStrike">
                <a:solidFill>
                  <a:schemeClr val="accent6"/>
                </a:solidFill>
                <a:latin typeface="Calibri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Verzel Q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Verzel Q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Verzel Q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erzel QA">
  <a:themeElements>
    <a:clrScheme name="Verzel QA">
      <a:dk1>
        <a:srgbClr val="0b1b33"/>
      </a:dk1>
      <a:lt1>
        <a:srgbClr val="ffffff"/>
      </a:lt1>
      <a:dk2>
        <a:srgbClr val="021e3f"/>
      </a:dk2>
      <a:lt2>
        <a:srgbClr val="eef1f7"/>
      </a:lt2>
      <a:accent1>
        <a:srgbClr val="5b4fe0"/>
      </a:accent1>
      <a:accent2>
        <a:srgbClr val="0b7285"/>
      </a:accent2>
      <a:accent3>
        <a:srgbClr val="cafa04"/>
      </a:accent3>
      <a:accent4>
        <a:srgbClr val="3f7d14"/>
      </a:accent4>
      <a:accent5>
        <a:srgbClr val="b42318"/>
      </a:accent5>
      <a:accent6>
        <a:srgbClr val="475467"/>
      </a:accent6>
      <a:hlink>
        <a:srgbClr val="5b4fe0"/>
      </a:hlink>
      <a:folHlink>
        <a:srgbClr val="475467"/>
      </a:folHlink>
    </a:clrScheme>
    <a:fontScheme name="Verzel QA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2026-10-08T22:16:19Z</dcterms:created>
  <dc:creator>PptxGenJS</dc:creator>
  <dc:description/>
  <dc:language>pt-BR</dc:language>
  <cp:lastModifiedBy/>
  <dcterms:modified xsi:type="dcterms:W3CDTF">2026-10-09T16:29:53Z</dcterms:modified>
  <cp:revision>8</cp:revision>
  <dc:subject>PptxGenJS Presentation</dc:subject>
  <dc:title>Verzel Store – Execução manual: exploratórios (VZS-142)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61</vt:i4>
  </property>
  <property fmtid="{D5CDD505-2E9C-101B-9397-08002B2CF9AE}" pid="3" name="PresentationFormat">
    <vt:lpwstr>On-screen Show (16:9)</vt:lpwstr>
  </property>
  <property fmtid="{D5CDD505-2E9C-101B-9397-08002B2CF9AE}" pid="4" name="Slides">
    <vt:i4>61</vt:i4>
  </property>
</Properties>
</file>