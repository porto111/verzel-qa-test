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9eb2866-ed90-b633-3f6b-4a4ae260d0b4}">
          <p14:sldIdLst>
            <p14:sldId id="256"/>
            <p14:sldId id="257"/>
            <p14:sldId id="258"/>
            <p14:sldId id="259"/>
          </p14:sldIdLst>
        </p14:section>
        <p14:section name="A · Cupom" id="{92793f70-5519-f12c-3f47-95bd962dc9f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 · Frete e resumo" id="{169070a2-125a-1ebc-0bee-d48d8a51926f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 · Quantidade e itens" id="{41a12a8d-56fe-ae7e-dbcb-9f96e0dfb760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D · Vitrine e ambiente" id="{9861ddcd-9950-237f-729a-897c6fdcad58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 · Checkout" id="{56c6fef2-7d0f-37f8-f472-9cd6c9f73bf3}">
          <p14:sldIdLst>
            <p14:sldId id="293"/>
            <p14:sldId id="294"/>
            <p14:sldId id="295"/>
          </p14:sldIdLst>
        </p14:section>
        <p14:section name="F · Exploratórios" id="{bade40f9-7070-ebb8-cf7d-210cc91e9661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Fechamento" id="{13f2bbce-c5e3-f96b-3cb4-018be2d4a36e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Verzel Store · Execução manual · VZS-142 v2.3.0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RI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Verzel Store · Execução manual · VZS-142 v2.3.0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Execução manual dos cenários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Verzel Store · VZS-142 v2.3.0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Cupom de desconto e frete grátis</a:t>
            </a:r>
            <a:endParaRPr lang="en-US" sz="1800" dirty="0"/>
          </a:p>
        </p:txBody>
      </p:sp>
      <p:sp>
        <p:nvSpPr>
          <p:cNvPr id="4" name="Chip ROTEIRO + EVIDÊNCIAS"/>
          <p:cNvSpPr/>
          <p:nvPr/>
        </p:nvSpPr>
        <p:spPr>
          <a:xfrm>
            <a:off x="640080" y="731520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ROTEIRO + EVIDÊNCIAS</a:t>
            </a:r>
            <a:endParaRPr lang="en-US" sz="1400" dirty="0"/>
          </a:p>
        </p:txBody>
      </p:sp>
      <p:sp>
        <p:nvSpPr>
          <p:cNvPr id="5" name="Card cenários de UI"/>
          <p:cNvSpPr/>
          <p:nvPr/>
        </p:nvSpPr>
        <p:spPr>
          <a:xfrm>
            <a:off x="7955280" y="1188720"/>
            <a:ext cx="374904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2801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36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2801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cenários de UI</a:t>
            </a:r>
            <a:endParaRPr lang="en-US" sz="1800" dirty="0"/>
          </a:p>
        </p:txBody>
      </p:sp>
      <p:sp>
        <p:nvSpPr>
          <p:cNvPr id="8" name="Card roteiros exploratórios"/>
          <p:cNvSpPr/>
          <p:nvPr/>
        </p:nvSpPr>
        <p:spPr>
          <a:xfrm>
            <a:off x="7955280" y="2788920"/>
            <a:ext cx="374904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28803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6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roteiros exploratórios</a:t>
            </a:r>
            <a:endParaRPr lang="en-US" sz="1800" dirty="0"/>
          </a:p>
        </p:txBody>
      </p:sp>
      <p:sp>
        <p:nvSpPr>
          <p:cNvPr id="11" name="Card print por cenário"/>
          <p:cNvSpPr/>
          <p:nvPr/>
        </p:nvSpPr>
        <p:spPr>
          <a:xfrm>
            <a:off x="7955280" y="4389120"/>
            <a:ext cx="374904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4480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4480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print por cenário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Como usar este roteiro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6002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 1"/>
          <p:cNvSpPr/>
          <p:nvPr/>
        </p:nvSpPr>
        <p:spPr>
          <a:xfrm>
            <a:off x="640080" y="17830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Abra a loja em uma aba nova, zoom 100%. Cada aba tem o próprio carrinho; esvazie entre cenários.</a:t>
            </a:r>
            <a:endParaRPr lang="en-US" sz="1400" dirty="0"/>
          </a:p>
        </p:txBody>
      </p:sp>
      <p:sp>
        <p:nvSpPr>
          <p:cNvPr id="7" name="Passo 2"/>
          <p:cNvSpPr/>
          <p:nvPr/>
        </p:nvSpPr>
        <p:spPr>
          <a:xfrm>
            <a:off x="3291840" y="16002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p 2"/>
          <p:cNvSpPr/>
          <p:nvPr/>
        </p:nvSpPr>
        <p:spPr>
          <a:xfrm>
            <a:off x="3474720" y="17830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Execute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880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Siga os passos do slide, um cenário por vez, e compare com o resultado esperado.</a:t>
            </a:r>
            <a:endParaRPr lang="en-US" sz="1400" dirty="0"/>
          </a:p>
        </p:txBody>
      </p:sp>
      <p:sp>
        <p:nvSpPr>
          <p:cNvPr id="11" name="Passo 3"/>
          <p:cNvSpPr/>
          <p:nvPr/>
        </p:nvSpPr>
        <p:spPr>
          <a:xfrm>
            <a:off x="6126480" y="16002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ip 3"/>
          <p:cNvSpPr/>
          <p:nvPr/>
        </p:nvSpPr>
        <p:spPr>
          <a:xfrm>
            <a:off x="6309360" y="17830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Evidencie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80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Print da tela com URL e valores legíveis. Cole no quadro tracejado e salve como CT-xx.png.</a:t>
            </a:r>
            <a:endParaRPr lang="en-US" sz="1400" dirty="0"/>
          </a:p>
        </p:txBody>
      </p:sp>
      <p:sp>
        <p:nvSpPr>
          <p:cNvPr id="15" name="Passo 4"/>
          <p:cNvSpPr/>
          <p:nvPr/>
        </p:nvSpPr>
        <p:spPr>
          <a:xfrm>
            <a:off x="8961120" y="16002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hip 4"/>
          <p:cNvSpPr/>
          <p:nvPr/>
        </p:nvSpPr>
        <p:spPr>
          <a:xfrm>
            <a:off x="9144000" y="178308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Registre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8803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Marque Passou/Falhou, preencha a planilha e, se falhar, abra um bug em docs/BUGS.md.</a:t>
            </a:r>
            <a:endParaRPr lang="en-US" sz="1400" dirty="0"/>
          </a:p>
        </p:txBody>
      </p:sp>
      <p:sp>
        <p:nvSpPr>
          <p:cNvPr id="19" name="Aviso: não é bug"/>
          <p:cNvSpPr/>
          <p:nvPr/>
        </p:nvSpPr>
        <p:spPr>
          <a:xfrm>
            <a:off x="457200" y="4389120"/>
            <a:ext cx="1124712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NÃO REPORTE COMO BUG (seção "Sobre este ambiente")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846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 carrinho fica guardado só na aba do navegador (outra aba ou janela anônima começa vazia).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Pedidos não são armazenados e o número gerado é fictício; nenhum e-mail ou cobrança é feito.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Produtos, preços e cupons são fixos, sem controle de estoque; a API não guarda estado.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Dados de teste e regras-chave</a:t>
            </a:r>
            <a:endParaRPr lang="en-US" sz="3200" dirty="0"/>
          </a:p>
        </p:txBody>
      </p:sp>
      <p:graphicFrame>
        <p:nvGraphicFramePr>
          <p:cNvPr id="4" name="Tabela de produ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Produto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Preço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P001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Camiseta Essencial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R$ 59,90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P002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Calça Jeans Slim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R$ 139,90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P003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Tênis Casual Urbano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R$ 189,90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P004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Boné Aba Curva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R$ 49,90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P005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Mochila Urbana 20L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R$ 100,00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P006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Kit 3 Pares de Meias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P007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Jaqueta Corta-Vento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R$ 229,90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P008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Garrafa Térmica 750ml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R$ 50,00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Regra Cupons"/>
          <p:cNvSpPr/>
          <p:nvPr/>
        </p:nvSpPr>
        <p:spPr>
          <a:xfrm>
            <a:off x="6675120" y="155448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0" y="1600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Cupons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BEMVINDO10 = 10% sobre o subtotal (válido)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VERAO2026 = 15% (expirado em 31/03/2026)</a:t>
            </a:r>
            <a:endParaRPr lang="en-US" sz="1300" dirty="0"/>
          </a:p>
        </p:txBody>
      </p:sp>
      <p:sp>
        <p:nvSpPr>
          <p:cNvPr id="7" name="Regra Frete"/>
          <p:cNvSpPr/>
          <p:nvPr/>
        </p:nvSpPr>
        <p:spPr>
          <a:xfrm>
            <a:off x="6675120" y="2633472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267919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6791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Grátis a partir de R$ 200,00 (inclusive)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Abaixo disso: R$ 19,90 fixo</a:t>
            </a:r>
            <a:endParaRPr lang="en-US" sz="1300" dirty="0"/>
          </a:p>
        </p:txBody>
      </p:sp>
      <p:sp>
        <p:nvSpPr>
          <p:cNvPr id="10" name="Regra Cálculo"/>
          <p:cNvSpPr/>
          <p:nvPr/>
        </p:nvSpPr>
        <p:spPr>
          <a:xfrm>
            <a:off x="6675120" y="3712464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375818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Cálculo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75818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= subtotal − desconto + frete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desconto não incide sobre o frete</a:t>
            </a:r>
            <a:endParaRPr lang="en-US" sz="1300" dirty="0"/>
          </a:p>
        </p:txBody>
      </p:sp>
      <p:sp>
        <p:nvSpPr>
          <p:cNvPr id="13" name="Regra Limite"/>
          <p:cNvSpPr/>
          <p:nvPr/>
        </p:nvSpPr>
        <p:spPr>
          <a:xfrm>
            <a:off x="6675120" y="4791456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483717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83717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máximo 5 unidades por produto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Mapa da execução</a:t>
            </a:r>
            <a:endParaRPr lang="en-US" sz="3200" dirty="0"/>
          </a:p>
        </p:txBody>
      </p:sp>
      <p:sp>
        <p:nvSpPr>
          <p:cNvPr id="3" name="Grupo A"/>
          <p:cNvSpPr/>
          <p:nvPr/>
        </p:nvSpPr>
        <p:spPr>
          <a:xfrm>
            <a:off x="457200" y="160020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 A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Cupom de desconto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01  ·  02  ·  03  ·  04  ·  05  ·  U03  ·  U22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7 cenários</a:t>
            </a:r>
            <a:endParaRPr lang="en-US" sz="1200" dirty="0"/>
          </a:p>
        </p:txBody>
      </p:sp>
      <p:sp>
        <p:nvSpPr>
          <p:cNvPr id="8" name="Grupo B"/>
          <p:cNvSpPr/>
          <p:nvPr/>
        </p:nvSpPr>
        <p:spPr>
          <a:xfrm>
            <a:off x="4251960" y="160020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ip B"/>
          <p:cNvSpPr/>
          <p:nvPr/>
        </p:nvSpPr>
        <p:spPr>
          <a:xfrm>
            <a:off x="443484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Frete grátis e resumo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468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06  ·  07  ·  08  ·  10  ·  11  ·  U05  ·  U21  ·  U23  ·  U24  ·  U15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10 cenários</a:t>
            </a:r>
            <a:endParaRPr lang="en-US" sz="1200" dirty="0"/>
          </a:p>
        </p:txBody>
      </p:sp>
      <p:sp>
        <p:nvSpPr>
          <p:cNvPr id="13" name="Grupo C"/>
          <p:cNvSpPr/>
          <p:nvPr/>
        </p:nvSpPr>
        <p:spPr>
          <a:xfrm>
            <a:off x="8046720" y="160020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ip C"/>
          <p:cNvSpPr/>
          <p:nvPr/>
        </p:nvSpPr>
        <p:spPr>
          <a:xfrm>
            <a:off x="822960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Quantidade e itens do carrinho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468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13  ·  14  ·  U11  ·  U06  ·  U17  ·  U16  ·  U18  ·  U19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8 cenários</a:t>
            </a:r>
            <a:endParaRPr lang="en-US" sz="1200" dirty="0"/>
          </a:p>
        </p:txBody>
      </p:sp>
      <p:sp>
        <p:nvSpPr>
          <p:cNvPr id="18" name="Grupo D"/>
          <p:cNvSpPr/>
          <p:nvPr/>
        </p:nvSpPr>
        <p:spPr>
          <a:xfrm>
            <a:off x="457200" y="397764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hip D"/>
          <p:cNvSpPr/>
          <p:nvPr/>
        </p:nvSpPr>
        <p:spPr>
          <a:xfrm>
            <a:off x="64008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Vitrine, navegação e ambiente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U07  ·  U08  ·  U09  ·  U10  ·  U12  ·  U13  ·  U25  ·  U14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8 cenários</a:t>
            </a:r>
            <a:endParaRPr lang="en-US" sz="1200" dirty="0"/>
          </a:p>
        </p:txBody>
      </p:sp>
      <p:sp>
        <p:nvSpPr>
          <p:cNvPr id="23" name="Grupo E"/>
          <p:cNvSpPr/>
          <p:nvPr/>
        </p:nvSpPr>
        <p:spPr>
          <a:xfrm>
            <a:off x="4251960" y="397764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hip E"/>
          <p:cNvSpPr/>
          <p:nvPr/>
        </p:nvSpPr>
        <p:spPr>
          <a:xfrm>
            <a:off x="443484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Checkout e dados do cliente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25  ·  26  ·  U20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3 cenários</a:t>
            </a:r>
            <a:endParaRPr lang="en-US" sz="1200" dirty="0"/>
          </a:p>
        </p:txBody>
      </p:sp>
      <p:sp>
        <p:nvSpPr>
          <p:cNvPr id="28" name="Grupo X"/>
          <p:cNvSpPr/>
          <p:nvPr/>
        </p:nvSpPr>
        <p:spPr>
          <a:xfrm>
            <a:off x="8046720" y="397764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hip F"/>
          <p:cNvSpPr/>
          <p:nvPr/>
        </p:nvSpPr>
        <p:spPr>
          <a:xfrm>
            <a:off x="822960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4114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Exploratórios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X1  ·  X2  ·  X3  ·  X4  ·  X5  ·  X6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6 roteiros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CA01</a:t>
            </a:r>
            <a:endParaRPr lang="en-US" sz="1100" dirty="0"/>
          </a:p>
        </p:txBody>
      </p:sp>
      <p:sp>
        <p:nvSpPr>
          <p:cNvPr id="3" name="Chip CT-01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BEMVINDO10 em P002×1 + P004×2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Na home, adicione 1× Calça Jeans Slim e 2× Boné Aba Curva.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Digite BEMVINDO10 em "Cupom de desconto" e clique em "Aplicar cupom".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R$ 239,70 · Desconto - R$ 23,97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Grátis · Total R$ 215,73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CT-01.png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Carrinho com cupom aplicado e Resumo do pedido visível.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CA02</a:t>
            </a:r>
            <a:endParaRPr lang="en-US" sz="1100" dirty="0"/>
          </a:p>
        </p:txBody>
      </p:sp>
      <p:sp>
        <p:nvSpPr>
          <p:cNvPr id="3" name="Chip CT-02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Cupom em minúsculas e caixa mista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o cupom bemvindo10 (tudo minúsculo).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"Remover cupom" e aplique BemVindo10.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Cupom aplicado nas duas tentativas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Desconto - R$ 10,00 · Total R$ 109,90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CT-02.png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Um print após cada tentativa (CT-02a e CT-02b).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CA02</a:t>
            </a:r>
            <a:endParaRPr lang="en-US" sz="1100" dirty="0"/>
          </a:p>
        </p:txBody>
      </p:sp>
      <p:sp>
        <p:nvSpPr>
          <p:cNvPr id="3" name="Chip CT-0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Espaços no início e no fim do código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Digite 2 espaços + BEMVINDO10 + 2 espaços no campo do cupom.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"Aplicar cupom".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Cupom aplicado (espaços ignorados)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Desconto - R$ 10,00 · Total R$ 109,90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CT-03.png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Campo preenchido (antes) e resumo (depois).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CA03</a:t>
            </a:r>
            <a:endParaRPr lang="en-US" sz="1100" dirty="0"/>
          </a:p>
        </p:txBody>
      </p:sp>
      <p:sp>
        <p:nvSpPr>
          <p:cNvPr id="3" name="Chip CT-04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Cupom inexistente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o cupom XPTO99.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Mensagem "Cupom inválido."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Desconto R$ 0,00 · Total R$ 119,90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CT-04.png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Mensagem de erro e Resumo do pedido sem desconto.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CA04</a:t>
            </a:r>
            <a:endParaRPr lang="en-US" sz="1100" dirty="0"/>
          </a:p>
        </p:txBody>
      </p:sp>
      <p:sp>
        <p:nvSpPr>
          <p:cNvPr id="3" name="Chip CT-0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Cupom expirado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o cupom VERAO2026.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Mensagem "Cupom expirado."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Desconto R$ 0,00 · Total R$ 119,90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CT-05.png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Mensagem de erro e Resumo do pedido sem desconto.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CA05</a:t>
            </a:r>
            <a:endParaRPr lang="en-US" sz="1100" dirty="0"/>
          </a:p>
        </p:txBody>
      </p:sp>
      <p:sp>
        <p:nvSpPr>
          <p:cNvPr id="3" name="Chip CT-U0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Somente um cupom por vez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 1× Mochila no Carrinho, aplique BEMVINDO10.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Procure um campo para digitar um segundo cupom.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"Remover cupom" e confira o desconto.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VERAO2026.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 cupom ativo: sem campo, só "Remover cupom"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Após remover: campo volta, desconto R$ 0,00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VERAO2026 → "Cupom expirado."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CT-U03.png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Três prints: cupom ativo, após remover, após novo cupom.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· CUPOM  ·  REGRA CA02</a:t>
            </a:r>
            <a:endParaRPr lang="en-US" sz="1100" dirty="0"/>
          </a:p>
        </p:txBody>
      </p:sp>
      <p:sp>
        <p:nvSpPr>
          <p:cNvPr id="3" name="Chip CT-U22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Mensagem e rótulo do cupom aplicado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 1× Mochila no Carrinho, digite  bemvindo10  (com espaços).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o cupom.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Leia o aviso do cupom e o rótulo do Desconto no resumo.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Aviso "Cupom BEMVINDO10 aplicado."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Rótulo "Desconto (BEMVINDO10)" – código em maiúsculas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CT-U22.png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Aviso do cupom e rótulo do desconto no mesmo print.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CA07</a:t>
            </a:r>
            <a:endParaRPr lang="en-US" sz="1100" dirty="0"/>
          </a:p>
        </p:txBody>
      </p:sp>
      <p:sp>
        <p:nvSpPr>
          <p:cNvPr id="3" name="Chip CT-06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Abaixo de R$ 200: frete fixo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(R$ 100,00).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Carrinho, sem cupom.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R$ 19,90 · Total R$ 119,90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Aviso "Faltam R$ 100,00 para o frete grátis."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CT-06.png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com o aviso de frete.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CA06</a:t>
            </a:r>
            <a:endParaRPr lang="en-US" sz="1100" dirty="0"/>
          </a:p>
        </p:txBody>
      </p:sp>
      <p:sp>
        <p:nvSpPr>
          <p:cNvPr id="3" name="Chip CT-07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CT-07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Subtotal exato de R$ 200,00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2× Mochila Urbana 20L.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Carrinho, sem cupom.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R$ 200,00 · Frete Grátis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Total R$ 200,00 · sem aviso de faltante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CT-07.png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(limite inclusive).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CA07</a:t>
            </a:r>
            <a:endParaRPr lang="en-US" sz="1100" dirty="0"/>
          </a:p>
        </p:txBody>
      </p:sp>
      <p:sp>
        <p:nvSpPr>
          <p:cNvPr id="3" name="Chip CT-08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CT-08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Subtotal de R$ 189,90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Tênis Casual Urbano.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Carrinho, sem cupom.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R$ 19,90 · Total R$ 209,80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Aviso "Faltam R$ 10,10 para o frete grátis."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CT-08.png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com o aviso de frete.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CA08</a:t>
            </a:r>
            <a:endParaRPr lang="en-US" sz="1100" dirty="0"/>
          </a:p>
        </p:txBody>
      </p:sp>
      <p:sp>
        <p:nvSpPr>
          <p:cNvPr id="3" name="Chip CT-10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CT-10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Frete grátis usa o subtotal antes do cupom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2×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BEMVINDO10.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Confira se o frete continua grátis após o desconto.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R$ 200,00 · Desconto - R$ 20,00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Grátis · Total R$ 180,00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CT-10.png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após aplicar o cupom.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CA09</a:t>
            </a:r>
            <a:endParaRPr lang="en-US" sz="1100" dirty="0"/>
          </a:p>
        </p:txBody>
      </p:sp>
      <p:sp>
        <p:nvSpPr>
          <p:cNvPr id="3" name="Chip CT-11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CT-11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Desconto não incide sobre o frete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Mochila Urbana 20L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Aplique BEMVINDO10.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Desconto - R$ 10,00 (só sobre os produtos)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R$ 19,90 · Total R$ 109,90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CT-11.png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com desconto e frete.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CA07</a:t>
            </a:r>
            <a:endParaRPr lang="en-US" sz="1100" dirty="0"/>
          </a:p>
        </p:txBody>
      </p:sp>
      <p:sp>
        <p:nvSpPr>
          <p:cNvPr id="3" name="Chip CT-U0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Aviso do que falta para o frete grátis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Carrinho com 1× Mochila: anote o valor do aviso.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Esvazie e adicione 1× Boné + 1× Garrafa Térmica.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Anote o valor do aviso novamente.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Mochila: "Faltam R$ 100,00 …"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Boné + Garrafa (R$ 99,90): "Faltam R$ 100,10 …"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CT-U05.png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Um print para cada carrinho (CT-U05a e CT-U05b).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CA06/07</a:t>
            </a:r>
            <a:endParaRPr lang="en-US" sz="1100" dirty="0"/>
          </a:p>
        </p:txBody>
      </p:sp>
      <p:sp>
        <p:nvSpPr>
          <p:cNvPr id="3" name="Chip CT-U21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Aviso some ao atingir R$ 200,00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Carrinho com 1× Mochila (aviso visível).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"+" para ir a 2 unidades.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R$ 200,00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aviso de faltante desaparece e o frete fica Grátis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CT-U21.png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Print antes e depois do clique em "+".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CA01/07/09</a:t>
            </a:r>
            <a:endParaRPr lang="en-US" sz="1100" dirty="0"/>
          </a:p>
        </p:txBody>
      </p:sp>
      <p:sp>
        <p:nvSpPr>
          <p:cNvPr id="3" name="Chip CT-U2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P004 + P008 com cupom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Boné Aba Curva e 1× Garrafa Térmica 750ml.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 e aplique BEMVINDO10.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R$ 99,90 · Desconto - R$ 9,99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R$ 19,90 · Total R$ 109,81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Aviso "Faltam R$ 100,10 …"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CT-U23.png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 completo (já visto no HTML; falta o print).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CA01/06/08</a:t>
            </a:r>
            <a:endParaRPr lang="en-US" sz="1100" dirty="0"/>
          </a:p>
        </p:txBody>
      </p:sp>
      <p:sp>
        <p:nvSpPr>
          <p:cNvPr id="3" name="Chip CT-U24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Os 8 produtos com cupom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 unidade de cada um dos 8 produtos.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 e aplique BEMVINDO10.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R$ 849,40 · Desconto - R$ 84,94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Grátis · Total R$ 764,46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CT-U24.png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Lista de itens e Resumo do pedido (rolar se preciso).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 · FRETE E RESUMO  ·  REGRA CA06/09</a:t>
            </a:r>
            <a:endParaRPr lang="en-US" sz="1100" dirty="0"/>
          </a:p>
        </p:txBody>
      </p:sp>
      <p:sp>
        <p:nvSpPr>
          <p:cNvPr id="3" name="Chip CT-U1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Os 8 produtos sem cupom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 unidade de cada um dos 8 produtos.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Carrinho, sem cupom.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R$ 849,40 · Desconto R$ 0,00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Grátis · Total R$ 849,40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CT-U15.png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do pedido.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REGRA CA10</a:t>
            </a:r>
            <a:endParaRPr lang="en-US" sz="1100" dirty="0"/>
          </a:p>
        </p:txBody>
      </p:sp>
      <p:sp>
        <p:nvSpPr>
          <p:cNvPr id="3" name="Chip CT-1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CT-13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 unidades (limite) é aceito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Boné Aba Curva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"+" 4 vezes (total 5).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Quantidade 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R$ 249,50 · Frete Grátis · Total R$ 249,50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CT-13.png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Linha do Boné (qtd 5) e Resumo do pedido.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REGRA CA10</a:t>
            </a:r>
            <a:endParaRPr lang="en-US" sz="1100" dirty="0"/>
          </a:p>
        </p:txBody>
      </p:sp>
      <p:sp>
        <p:nvSpPr>
          <p:cNvPr id="3" name="Chip CT-14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CT-14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Nunca chega a 6 unidades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Na home, clique 6× em "Adicionar ao carrinho" do Boné Aba Curva.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o card e o contador do cabeçalho.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o Carrinho e confira quantidade e subtotal.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Quantidade final 5 (nunca 6)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R$ 249,50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CT-14.png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Card do Boné após o 6º clique e a linha no Carrinho.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REGRA CA10</a:t>
            </a:r>
            <a:endParaRPr lang="en-US" sz="1100" dirty="0"/>
          </a:p>
        </p:txBody>
      </p:sp>
      <p:sp>
        <p:nvSpPr>
          <p:cNvPr id="3" name="Chip CT-U11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Aviso do limite na vitrine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Na home, clique 5× em "Adicionar ao carrinho" do Boné Aba Curva.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o botão e a área de aviso do card.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Se o botão permitir, clique uma 6ª vez e leia o aviso.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6º clique bloqueado ou com aviso no card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Anotar o texto exato do aviso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CT-U11.png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Card do Boné com o aviso e o estado do botão.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REGRA CA10</a:t>
            </a:r>
            <a:endParaRPr lang="en-US" sz="1100" dirty="0"/>
          </a:p>
        </p:txBody>
      </p:sp>
      <p:sp>
        <p:nvSpPr>
          <p:cNvPr id="3" name="Chip CT-U06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Botão "+" além de 5 no carrinho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Carrinho com 5× Boné.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Tente clicar em "+" mais uma vez.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"+" desabilitado ou aviso exibido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Quantidade permanece 5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CT-U06.png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Linha do Boné com o botão "+" (estado e aviso, se houver).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CA10</a:t>
            </a:r>
            <a:endParaRPr lang="en-US" sz="1100" dirty="0"/>
          </a:p>
        </p:txBody>
      </p:sp>
      <p:sp>
        <p:nvSpPr>
          <p:cNvPr id="3" name="Chip CT-U17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CT-U17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Botão "−" com 1 unidade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Camiseta Essencial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o botão "−" da linha.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Botão "−" desabilitado com 1 unidade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CT-U17.png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Linha da Camiseta mostrando o "−" desabilitado.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CA10</a:t>
            </a:r>
            <a:endParaRPr lang="en-US" sz="1100" dirty="0"/>
          </a:p>
        </p:txBody>
      </p:sp>
      <p:sp>
        <p:nvSpPr>
          <p:cNvPr id="3" name="Chip CT-U16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Remover item recalcula o resumo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1× Tênis e 1× Jaqueta Corta-Vento (subtotal R$ 419,80).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 Carrinho, clique em "Remover" na Jaqueta.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R$ 189,90 · Frete R$ 19,90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Total R$ 209,80 · contador do cabeçalho = 1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CT-U16.png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Print antes e depois de remover.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REGRA CA07/08</a:t>
            </a:r>
            <a:endParaRPr lang="en-US" sz="1100" dirty="0"/>
          </a:p>
        </p:txBody>
      </p:sp>
      <p:sp>
        <p:nvSpPr>
          <p:cNvPr id="3" name="Chip CT-U18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CT-U18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Cupom ativo + reduzir quantidade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2× Mochila no Carrinho e aplique BEMVINDO10 (total R$ 180,00).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"−" na Mochila (1 unidade).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Subtotal R$ 100,00 · Desconto - R$ 10,00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Frete passa a R$ 19,90 · Total R$ 109,90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CT-U18.png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antes e depois do clique em "−".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 · QUANTIDADE E ITENS  ·  CA10</a:t>
            </a:r>
            <a:endParaRPr lang="en-US" sz="1100" dirty="0"/>
          </a:p>
        </p:txBody>
      </p:sp>
      <p:sp>
        <p:nvSpPr>
          <p:cNvPr id="3" name="Chip CT-U19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CT-U19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Esvaziar carrinho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2 produtos quaisquer e abra o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"Esvaziar carrinho".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confirmação, estado vazio e contador.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Carrinho vazio · contador 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se há confirmação ou mensagem de vazio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CT-U19.png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Estado do carrinho após esvaziar.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07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CT-U07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Interface igual ao cálculo da API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Monte P002×1 + P004×2 com BEMVINDO10 e anote o resumo.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 Postman, rode a request "CT-01" (ou o curl do roteiro).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Compare os valores.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UI e API idênticas: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239,70 · 23,97 · 0 (frete grátis) · 215,73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CT-U07.png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Resumo da UI e resposta JSON da API lado a lado.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AMBIENTE</a:t>
            </a:r>
            <a:endParaRPr lang="en-US" sz="1100" dirty="0"/>
          </a:p>
        </p:txBody>
      </p:sp>
      <p:sp>
        <p:nvSpPr>
          <p:cNvPr id="3" name="Chip CT-U08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CT-U08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Carrinho vale só na aba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 produto na aba atual.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a loja em outra aba ou janela anônima.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Outra aba: carrinho vazio, contador 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Comportamento ESPERADO – não reportar como bug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CT-U08.png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Contador da aba original (1) e da nova aba (0).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09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CT-U09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Vitrine com os 8 produtos corretos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a home e role a vitrine inteira.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Confira nome, categoria, descrição e preço de cada card com a tabela de dados.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 cards iguais à tabela de dados de teste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Preços no formato R$ 59,90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CT-U09.png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Vitrine completa (mais de um print, se rolar).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10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CT-U10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Contador do carrinho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 o carrinho vazio, confira o contador (0).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1 produto e depois outro.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o texto acessível do contador (tooltip/leitor): "1 item" ou "1 itens"?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Contador 0 → 1 →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a forma do singular (observação de texto)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CT-U10.png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Cabeçalho com contador em cada etapa.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REGRA CA06/CA01</a:t>
            </a:r>
            <a:endParaRPr lang="en-US" sz="1100" dirty="0"/>
          </a:p>
        </p:txBody>
      </p:sp>
      <p:sp>
        <p:nvSpPr>
          <p:cNvPr id="3" name="Chip CT-U12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Destaque da home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Leia o banner de destaque da home.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Compare com a documentação (frete grátis e cupom).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"Frete grátis a partir de R$ 200,00" e BEMVINDO10 = 10%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Texto cita "na primeira compra" (A11): registrar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CT-U12.png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Banner de destaque da home.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1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Navegação e título da aba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Clique em Produtos, Documentação e Carrinho.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Observe URL e título da aba em cada página.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URLs /, /documentacao e /carrinho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Título da home: "Produtos | Verzel Store"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CT-U13.png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Barra de endereço e aba de cada página.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2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Itens persistem ao navegar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Adicione 2 produtos.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Vá a Carrinho, volte a Produtos e abra o Carrinho de novo.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Itens, contador e resumo mantidos (mesma aba)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CT-U25.png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Carrinho antes e depois de navegar.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 · VITRINE E AMBIENTE  ·  INTERFACE</a:t>
            </a:r>
            <a:endParaRPr lang="en-US" sz="1100" dirty="0"/>
          </a:p>
        </p:txBody>
      </p:sp>
      <p:sp>
        <p:nvSpPr>
          <p:cNvPr id="3" name="Chip CT-U14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CT-U14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Acessibilidade básica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vazio – use uma aba nova em 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Percorra a home só com Tab e Enter.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Confira se o foco é visível.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Note que os botões "Adicionar ao carrinho" se repetem sem citar o produto.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Foco visível e fluxo operável por teclado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observações (severidade baixa)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CT-U14.png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Print do foco no teclado em 2 pontos.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 · CHECKOUT  ·  REGRA EXISTENTE</a:t>
            </a:r>
            <a:endParaRPr lang="en-US" sz="1100" dirty="0"/>
          </a:p>
        </p:txBody>
      </p:sp>
      <p:sp>
        <p:nvSpPr>
          <p:cNvPr id="3" name="Chip CT-2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CT-25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Validação dos dados do cliente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com 1 produto → "Finalizar compra"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Nome "Maria" (sem sobrenome) + e-mail e CEP válidos.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Repita com e-mail maria@ (inválido).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Repita com CEP 0131010 (7 dígitos) e com 0131010A (letras).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Cada caso é bloqueado com erro no campo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Pedido não é confirmado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CT-25.png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Um print por caso (CT-25a a CT-25d) com a mensagem.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 · CHECKOUT  ·  REGRA EXISTENTE</a:t>
            </a:r>
            <a:endParaRPr lang="en-US" sz="1100" dirty="0"/>
          </a:p>
        </p:txBody>
      </p:sp>
      <p:sp>
        <p:nvSpPr>
          <p:cNvPr id="3" name="Chip CT-26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CT-26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CEP com 8 dígitos sem hífen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com 1 produto → "Finalizar compra"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Nome "Maria Silva", e-mail maria@exemplo.com.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CEP 01310100 (sem hífen) e confirme o pedido.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CEP aceito e pedido confirmado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CT-26.png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Formulário preenchido e resultado.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 · CHECKOUT  ·  REGRA EXISTENTE</a:t>
            </a:r>
            <a:endParaRPr lang="en-US" sz="1100" dirty="0"/>
          </a:p>
        </p:txBody>
      </p:sp>
      <p:sp>
        <p:nvSpPr>
          <p:cNvPr id="3" name="Chip CT-U20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CT-U20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Confirmação do pedido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PRÉ-CONDIÇÃO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10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Carrinho com 1 produto → "Finalizar compra"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PASSOS</a:t>
            </a:r>
            <a:endParaRPr lang="en-US" sz="1100" dirty="0"/>
          </a:p>
        </p:txBody>
      </p:sp>
      <p:sp>
        <p:nvSpPr>
          <p:cNvPr id="8" name="Passos"/>
          <p:cNvSpPr txBox="1"/>
          <p:nvPr/>
        </p:nvSpPr>
        <p:spPr>
          <a:xfrm>
            <a:off x="457200" y="2560320"/>
            <a:ext cx="5852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Preencha nome, e-mail e CEP 01310-100 válidos.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Confirme o pedido.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Leia número do pedido e resumo.</a:t>
            </a:r>
            <a:endParaRPr lang="en-US" sz="1500" dirty="0"/>
          </a:p>
        </p:txBody>
      </p:sp>
      <p:sp>
        <p:nvSpPr>
          <p:cNvPr id="9" name="Cartão do resultado esperado"/>
          <p:cNvSpPr/>
          <p:nvPr/>
        </p:nvSpPr>
        <p:spPr>
          <a:xfrm>
            <a:off x="457200" y="4846320"/>
            <a:ext cx="5852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937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Resultado esperado"/>
          <p:cNvSpPr txBox="1"/>
          <p:nvPr/>
        </p:nvSpPr>
        <p:spPr>
          <a:xfrm>
            <a:off x="64008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Número no formato VZ-000000 (6 dígitos)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Valores iguais aos do carrinho · sem cobrança</a:t>
            </a:r>
            <a:endParaRPr lang="en-US" sz="1500" dirty="0"/>
          </a:p>
        </p:txBody>
      </p:sp>
      <p:sp>
        <p:nvSpPr>
          <p:cNvPr id="12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EVIDÊNCIA</a:t>
            </a:r>
            <a:endParaRPr lang="en-US" sz="1100" dirty="0"/>
          </a:p>
        </p:txBody>
      </p:sp>
      <p:sp>
        <p:nvSpPr>
          <p:cNvPr id="14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CT-U20.png</a:t>
            </a:r>
            <a:endParaRPr lang="en-US" sz="2000" dirty="0"/>
          </a:p>
        </p:txBody>
      </p:sp>
      <p:sp>
        <p:nvSpPr>
          <p:cNvPr id="15" name="O que capturar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Capturar: Tela de confirmação com número e valores.</a:t>
            </a:r>
            <a:endParaRPr lang="en-US" sz="1200" dirty="0"/>
          </a:p>
        </p:txBody>
      </p:sp>
      <p:sp>
        <p:nvSpPr>
          <p:cNvPr id="16" name="Cartão de resultado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mpos de resultado"/>
          <p:cNvSpPr txBox="1"/>
          <p:nvPr/>
        </p:nvSpPr>
        <p:spPr>
          <a:xfrm>
            <a:off x="6858000" y="542239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Obtido: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☐ Passou     ☐ Falhou          Bug: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1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Cupom (exploratório)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Espaço no meio do código (BEM VINDO10)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Campo vazio ou só com espaços e clique em Aplicar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Caracteres especiais (BEMVINDO10!)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Código muito longo (centenas de caracteres)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Código com acento (BEMVÍNDO10)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Aplicar o mesmo cupom duas vezes seguidas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Pressionar Enter no campo aplica o cupom?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Registre o comportamento observado, mesmo sem erro.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X1-01.png, X1-02.png…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2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Quantidade (exploratório)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Cliques muito rápidos em "+" e "Adicionar ao carrinho"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Chegar a 5 e recarregar a página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Alterar a quantidade depois de aplicar cupom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Quantidade 5 em vários produtos ao mesmo tempo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Remover o item com cupom ativo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Não existe campo de digitação: só os botões + e −.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X2-01.png, X2-02.png…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3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Carrinho (exploratório)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Adicionar e remover itens com cupom ativo: recalcula?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Remover todos os itens: o que acontece com o cupom?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Recarregar a página com itens no carrinho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Botões Voltar/Avançar do navegador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Abrir /carrinho direto pela barra de endereço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carrinho fica guardado só na aba (esperado).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X3-01.png, X3-02.png…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4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Fronteira do frete (exploratório)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R$ 199,80 (Camiseta + Calça): frete R$ 19,90, faltam R$ 0,20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R$ 199,90 (Boné + Garrafa + Mochila): faltam R$ 0,10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R$ 200,00 (4× Garrafa ou 2× Mochila): frete Grátis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R$ 199,90 com BEMVINDO10: desconto 19,99, total 199,81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Passar de 199,90 para 200,00 com "+" e "−": recalcula?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Compare subtotal, frete e aviso em cada caso.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X4-01.png, X4-02.png…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5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Checkout (exploratório)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Nome com espaços extras ("Maria  ") e só espaços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E-mail com espaço no meio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CEP 0131-0100 e CEP com espaços (01310 100)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Enviar com todos os campos vazios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Pedido sem cupom e com cupom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Voltar ao carrinho depois de confirmar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Tela ainda não analisada: descreva o que encontrar.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X5-01.png, X5-02.png…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 · EXPLORATÓRIOS  ·  USE TEMPO DEFINIDO (15 A 20 MIN)</a:t>
            </a:r>
            <a:endParaRPr lang="en-US" sz="1100" dirty="0"/>
          </a:p>
        </p:txBody>
      </p:sp>
      <p:sp>
        <p:nvSpPr>
          <p:cNvPr id="3" name="Chip X6"/>
          <p:cNvSpPr/>
          <p:nvPr/>
        </p:nvSpPr>
        <p:spPr>
          <a:xfrm>
            <a:off x="457200" y="713232"/>
            <a:ext cx="1325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X6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920240" y="640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Interface e acessibilidade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 QUE EXPLORAR</a:t>
            </a:r>
            <a:endParaRPr lang="en-US" sz="1100" dirty="0"/>
          </a:p>
        </p:txBody>
      </p:sp>
      <p:sp>
        <p:nvSpPr>
          <p:cNvPr id="6" name="Ideias"/>
          <p:cNvSpPr txBox="1"/>
          <p:nvPr/>
        </p:nvSpPr>
        <p:spPr>
          <a:xfrm>
            <a:off x="457200" y="18288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Responsividade: 360 px, 768 px e 1366 px de largura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Zoom de 200% na página do carrinho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Mensagens exatas: "Cupom inválido." e "Cupom expirado."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Estados de erro e de carregamento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Contraste e legibilidade dos textos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Navegação completa só com teclado</a:t>
            </a:r>
            <a:endParaRPr lang="en-US" sz="1600" dirty="0"/>
          </a:p>
        </p:txBody>
      </p:sp>
      <p:sp>
        <p:nvSpPr>
          <p:cNvPr id="7" name="Dica"/>
          <p:cNvSpPr/>
          <p:nvPr/>
        </p:nvSpPr>
        <p:spPr>
          <a:xfrm>
            <a:off x="457200" y="498348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DICA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Anote o texto exato das mensagens.</a:t>
            </a:r>
            <a:endParaRPr lang="en-US" sz="1500" dirty="0"/>
          </a:p>
        </p:txBody>
      </p:sp>
      <p:sp>
        <p:nvSpPr>
          <p:cNvPr id="10" name="Área de evidência"/>
          <p:cNvSpPr/>
          <p:nvPr/>
        </p:nvSpPr>
        <p:spPr>
          <a:xfrm>
            <a:off x="6675120" y="1554480"/>
            <a:ext cx="5029200" cy="3154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ACHADOS E EVIDÊNCIAS</a:t>
            </a:r>
            <a:endParaRPr lang="en-US" sz="1100" dirty="0"/>
          </a:p>
        </p:txBody>
      </p:sp>
      <p:sp>
        <p:nvSpPr>
          <p:cNvPr id="12" name="Dica da área de evidência"/>
          <p:cNvSpPr txBox="1"/>
          <p:nvPr/>
        </p:nvSpPr>
        <p:spPr>
          <a:xfrm>
            <a:off x="6675120" y="219456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Cole aqui o print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Salvar como X6-01.png, X6-02.png…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Anote o que observou (inclusive o que está correto). Divergências viram bug.</a:t>
            </a:r>
            <a:endParaRPr lang="en-US" sz="1200" dirty="0"/>
          </a:p>
        </p:txBody>
      </p:sp>
      <p:sp>
        <p:nvSpPr>
          <p:cNvPr id="14" name="Cartão de bugs"/>
          <p:cNvSpPr/>
          <p:nvPr/>
        </p:nvSpPr>
        <p:spPr>
          <a:xfrm>
            <a:off x="6675120" y="5349240"/>
            <a:ext cx="5029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5394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Bugs encontrados: BUG-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Fechamento da execução</a:t>
            </a:r>
            <a:endParaRPr lang="en-US" sz="3200" dirty="0"/>
          </a:p>
        </p:txBody>
      </p:sp>
      <p:sp>
        <p:nvSpPr>
          <p:cNvPr id="3" name="Checklist"/>
          <p:cNvSpPr/>
          <p:nvPr/>
        </p:nvSpPr>
        <p:spPr>
          <a:xfrm>
            <a:off x="457200" y="1600200"/>
            <a:ext cx="630936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7373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 DE ENTREGA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Todos os cenários têm Passou/Falhou na planilha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Cada cenário tem print em docs/evidencias/screenshots/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Cada falha está em docs/BUGS.md com passos e print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Ambiguidades registradas em docs/AMBIGUIDADES.md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Repositório público no GitHub e formulário enviado (prazo: 5 dias corridos)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☐"/>
            </a:pPr>
            <a:r>
              <a:rPr lang="en-US" sz="1600" dirty="0">
                <a:solidFill>
                  <a:schemeClr val="tx1"/>
                </a:solidFill>
              </a:rPr>
              <a:t>Campo "Uso de IA" do formulário preenchido</a:t>
            </a:r>
            <a:endParaRPr lang="en-US" sz="1600" dirty="0"/>
          </a:p>
        </p:txBody>
      </p:sp>
      <p:graphicFrame>
        <p:nvGraphicFramePr>
          <p:cNvPr id="48" name="Tabela de contag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600200"/>
          <a:ext cx="4572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Contagem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Cenários executados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Passou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Falhou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Bugs registrados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Exploratórios concluídos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132320" y="5166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Cenários de UI deste roteiro: 36  ·  Roteiros exploratórios: 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AA6C7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Verzel Q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Verzel Store – Execução manual dos cenários (VZS-142)</dc:title>
  <dc:subject>PptxGenJS Presentation</dc:subject>
  <dc:creator>QA</dc:creator>
  <cp:lastModifiedBy>QA</cp:lastModifiedBy>
  <cp:revision>1</cp:revision>
  <dcterms:created xsi:type="dcterms:W3CDTF">2026-10-08T11:31:07Z</dcterms:created>
  <dcterms:modified xsi:type="dcterms:W3CDTF">2026-10-08T11:31:07Z</dcterms:modified>
</cp:coreProperties>
</file>